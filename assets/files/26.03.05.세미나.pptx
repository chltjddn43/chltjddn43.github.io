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7" r:id="rId2"/>
    <p:sldId id="258" r:id="rId3"/>
    <p:sldId id="259" r:id="rId4"/>
    <p:sldId id="265" r:id="rId5"/>
    <p:sldId id="266" r:id="rId6"/>
    <p:sldId id="267" r:id="rId7"/>
    <p:sldId id="269" r:id="rId8"/>
    <p:sldId id="270" r:id="rId9"/>
    <p:sldId id="271" r:id="rId10"/>
    <p:sldId id="272" r:id="rId11"/>
    <p:sldId id="273" r:id="rId12"/>
    <p:sldId id="274" r:id="rId13"/>
    <p:sldId id="268" r:id="rId14"/>
    <p:sldId id="260" r:id="rId15"/>
    <p:sldId id="275" r:id="rId16"/>
    <p:sldId id="276" r:id="rId17"/>
    <p:sldId id="277" r:id="rId18"/>
    <p:sldId id="278" r:id="rId19"/>
    <p:sldId id="261" r:id="rId20"/>
    <p:sldId id="279" r:id="rId21"/>
    <p:sldId id="281" r:id="rId22"/>
    <p:sldId id="282" r:id="rId23"/>
    <p:sldId id="283" r:id="rId24"/>
    <p:sldId id="262" r:id="rId25"/>
    <p:sldId id="263" r:id="rId26"/>
    <p:sldId id="264" r:id="rId27"/>
    <p:sldId id="280" r:id="rId28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60"/>
  </p:normalViewPr>
  <p:slideViewPr>
    <p:cSldViewPr snapToGrid="0">
      <p:cViewPr varScale="1">
        <p:scale>
          <a:sx n="106" d="100"/>
          <a:sy n="106" d="100"/>
        </p:scale>
        <p:origin x="792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제목 슬라이드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915128" y="1788454"/>
            <a:ext cx="8361229" cy="2098226"/>
          </a:xfrm>
        </p:spPr>
        <p:txBody>
          <a:bodyPr anchor="b">
            <a:noAutofit/>
          </a:bodyPr>
          <a:lstStyle>
            <a:lvl1pPr algn="ctr">
              <a:defRPr sz="7200" cap="all" baseline="0">
                <a:solidFill>
                  <a:schemeClr val="tx2"/>
                </a:solidFill>
              </a:defRPr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679906" y="3956279"/>
            <a:ext cx="6831673" cy="1086237"/>
          </a:xfrm>
        </p:spPr>
        <p:txBody>
          <a:bodyPr>
            <a:normAutofit/>
          </a:bodyPr>
          <a:lstStyle>
            <a:lvl1pPr marL="0" indent="0"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3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52858" y="6453386"/>
            <a:ext cx="1607944" cy="404614"/>
          </a:xfrm>
        </p:spPr>
        <p:txBody>
          <a:bodyPr/>
          <a:lstStyle>
            <a:lvl1pPr>
              <a:defRPr baseline="0">
                <a:solidFill>
                  <a:schemeClr val="tx2"/>
                </a:solidFill>
              </a:defRPr>
            </a:lvl1pPr>
          </a:lstStyle>
          <a:p>
            <a:fld id="{EFFE3BE3-E637-41BB-B5A2-116DFFD46B72}" type="datetimeFigureOut">
              <a:rPr lang="ko-KR" altLang="en-US" smtClean="0"/>
              <a:t>2026-03-03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2584054" y="6453386"/>
            <a:ext cx="7023377" cy="404614"/>
          </a:xfrm>
        </p:spPr>
        <p:txBody>
          <a:bodyPr/>
          <a:lstStyle>
            <a:lvl1pPr algn="ctr">
              <a:defRPr baseline="0">
                <a:solidFill>
                  <a:schemeClr val="tx2"/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9830683" y="6453386"/>
            <a:ext cx="1596292" cy="404614"/>
          </a:xfrm>
        </p:spPr>
        <p:txBody>
          <a:bodyPr/>
          <a:lstStyle>
            <a:lvl1pPr>
              <a:defRPr baseline="0">
                <a:solidFill>
                  <a:schemeClr val="tx2"/>
                </a:solidFill>
              </a:defRPr>
            </a:lvl1pPr>
          </a:lstStyle>
          <a:p>
            <a:fld id="{EA57E27F-C073-475E-A89A-CACCCE07B399}" type="slidenum">
              <a:rPr lang="ko-KR" altLang="en-US" smtClean="0"/>
              <a:t>‹#›</a:t>
            </a:fld>
            <a:endParaRPr lang="ko-KR" altLang="en-US"/>
          </a:p>
        </p:txBody>
      </p:sp>
      <p:grpSp>
        <p:nvGrpSpPr>
          <p:cNvPr id="7" name="Group 6"/>
          <p:cNvGrpSpPr/>
          <p:nvPr/>
        </p:nvGrpSpPr>
        <p:grpSpPr>
          <a:xfrm>
            <a:off x="752858" y="744469"/>
            <a:ext cx="10674117" cy="5349671"/>
            <a:chOff x="752858" y="744469"/>
            <a:chExt cx="10674117" cy="5349671"/>
          </a:xfrm>
        </p:grpSpPr>
        <p:sp>
          <p:nvSpPr>
            <p:cNvPr id="11" name="Freeform 6"/>
            <p:cNvSpPr/>
            <p:nvPr/>
          </p:nvSpPr>
          <p:spPr bwMode="auto">
            <a:xfrm>
              <a:off x="8151962" y="1685652"/>
              <a:ext cx="3275013" cy="4408488"/>
            </a:xfrm>
            <a:custGeom>
              <a:avLst/>
              <a:gdLst/>
              <a:ahLst/>
              <a:cxnLst/>
              <a:rect l="l" t="t" r="r" b="b"/>
              <a:pathLst>
                <a:path w="10000" h="10000">
                  <a:moveTo>
                    <a:pt x="8761" y="0"/>
                  </a:moveTo>
                  <a:lnTo>
                    <a:pt x="10000" y="0"/>
                  </a:lnTo>
                  <a:lnTo>
                    <a:pt x="10000" y="10000"/>
                  </a:lnTo>
                  <a:lnTo>
                    <a:pt x="0" y="10000"/>
                  </a:lnTo>
                  <a:lnTo>
                    <a:pt x="0" y="9126"/>
                  </a:lnTo>
                  <a:lnTo>
                    <a:pt x="8761" y="9127"/>
                  </a:lnTo>
                  <a:lnTo>
                    <a:pt x="8761" y="0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4" name="Freeform 6"/>
            <p:cNvSpPr/>
            <p:nvPr/>
          </p:nvSpPr>
          <p:spPr bwMode="auto">
            <a:xfrm flipH="1" flipV="1">
              <a:off x="752858" y="744469"/>
              <a:ext cx="3275668" cy="4408488"/>
            </a:xfrm>
            <a:custGeom>
              <a:avLst/>
              <a:gdLst/>
              <a:ahLst/>
              <a:cxnLst/>
              <a:rect l="l" t="t" r="r" b="b"/>
              <a:pathLst>
                <a:path w="10002" h="10000">
                  <a:moveTo>
                    <a:pt x="8763" y="0"/>
                  </a:moveTo>
                  <a:lnTo>
                    <a:pt x="10002" y="0"/>
                  </a:lnTo>
                  <a:lnTo>
                    <a:pt x="10002" y="10000"/>
                  </a:lnTo>
                  <a:lnTo>
                    <a:pt x="2" y="10000"/>
                  </a:lnTo>
                  <a:cubicBezTo>
                    <a:pt x="-2" y="9698"/>
                    <a:pt x="4" y="9427"/>
                    <a:pt x="0" y="9125"/>
                  </a:cubicBezTo>
                  <a:lnTo>
                    <a:pt x="8763" y="9128"/>
                  </a:lnTo>
                  <a:lnTo>
                    <a:pt x="8763" y="0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/>
            <a:lstStyle/>
            <a:p>
              <a:endParaRPr lang="ko-KR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3890587319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FE3BE3-E637-41BB-B5A2-116DFFD46B72}" type="datetimeFigureOut">
              <a:rPr lang="ko-KR" altLang="en-US" smtClean="0"/>
              <a:t>2026-03-03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57E27F-C073-475E-A89A-CACCCE07B39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9561266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구역 머리글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65025" y="1301360"/>
            <a:ext cx="9612971" cy="2852737"/>
          </a:xfrm>
        </p:spPr>
        <p:txBody>
          <a:bodyPr anchor="b">
            <a:normAutofit/>
          </a:bodyPr>
          <a:lstStyle>
            <a:lvl1pPr algn="r">
              <a:defRPr sz="7200" cap="all" baseline="0">
                <a:solidFill>
                  <a:schemeClr val="tx2"/>
                </a:solidFill>
              </a:defRPr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65025" y="4216328"/>
            <a:ext cx="9612971" cy="1143324"/>
          </a:xfrm>
        </p:spPr>
        <p:txBody>
          <a:bodyPr/>
          <a:lstStyle>
            <a:lvl1pPr marL="0" indent="0"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400">
                <a:solidFill>
                  <a:schemeClr val="tx2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38908" y="6453386"/>
            <a:ext cx="1622409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EFFE3BE3-E637-41BB-B5A2-116DFFD46B72}" type="datetimeFigureOut">
              <a:rPr lang="ko-KR" altLang="en-US" smtClean="0"/>
              <a:t>2026-03-03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2584312" y="6453386"/>
            <a:ext cx="7023377" cy="404614"/>
          </a:xfrm>
        </p:spPr>
        <p:txBody>
          <a:bodyPr/>
          <a:lstStyle>
            <a:lvl1pPr algn="ctr">
              <a:defRPr>
                <a:solidFill>
                  <a:schemeClr val="tx2"/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9830683" y="6453386"/>
            <a:ext cx="1596292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EA57E27F-C073-475E-A89A-CACCCE07B399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7" name="Freeform 6" title="Crop Mark"/>
          <p:cNvSpPr/>
          <p:nvPr/>
        </p:nvSpPr>
        <p:spPr bwMode="auto">
          <a:xfrm>
            <a:off x="8151962" y="1685652"/>
            <a:ext cx="3275013" cy="4408488"/>
          </a:xfrm>
          <a:custGeom>
            <a:avLst/>
            <a:gdLst/>
            <a:ahLst/>
            <a:cxnLst/>
            <a:rect l="0" t="0" r="r" b="b"/>
            <a:pathLst>
              <a:path w="4125" h="5554">
                <a:moveTo>
                  <a:pt x="3614" y="0"/>
                </a:moveTo>
                <a:lnTo>
                  <a:pt x="4125" y="0"/>
                </a:lnTo>
                <a:lnTo>
                  <a:pt x="4125" y="5554"/>
                </a:lnTo>
                <a:lnTo>
                  <a:pt x="0" y="5554"/>
                </a:lnTo>
                <a:lnTo>
                  <a:pt x="0" y="5074"/>
                </a:lnTo>
                <a:lnTo>
                  <a:pt x="3614" y="5074"/>
                </a:lnTo>
                <a:lnTo>
                  <a:pt x="3614" y="0"/>
                </a:lnTo>
                <a:close/>
              </a:path>
            </a:pathLst>
          </a:custGeom>
          <a:solidFill>
            <a:schemeClr val="tx2"/>
          </a:solidFill>
          <a:ln w="0">
            <a:noFill/>
            <a:prstDash val="solid"/>
            <a:round/>
            <a:headEnd/>
            <a:tailEnd/>
          </a:ln>
        </p:spPr>
      </p:sp>
    </p:spTree>
    <p:extLst>
      <p:ext uri="{BB962C8B-B14F-4D97-AF65-F5344CB8AC3E}">
        <p14:creationId xmlns:p14="http://schemas.microsoft.com/office/powerpoint/2010/main" val="2702749780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371600" y="2285999"/>
            <a:ext cx="4447786" cy="3581401"/>
          </a:xfrm>
        </p:spPr>
        <p:txBody>
          <a:bodyPr/>
          <a:lstStyle>
            <a:lvl1pPr>
              <a:defRPr baseline="0">
                <a:solidFill>
                  <a:schemeClr val="tx2"/>
                </a:solidFill>
              </a:defRPr>
            </a:lvl1pPr>
            <a:lvl2pPr>
              <a:defRPr baseline="0">
                <a:solidFill>
                  <a:schemeClr val="tx2"/>
                </a:solidFill>
              </a:defRPr>
            </a:lvl2pPr>
            <a:lvl3pPr>
              <a:defRPr baseline="0">
                <a:solidFill>
                  <a:schemeClr val="tx2"/>
                </a:solidFill>
              </a:defRPr>
            </a:lvl3pPr>
            <a:lvl4pPr>
              <a:defRPr baseline="0">
                <a:solidFill>
                  <a:schemeClr val="tx2"/>
                </a:solidFill>
              </a:defRPr>
            </a:lvl4pPr>
            <a:lvl5pPr>
              <a:defRPr baseline="0">
                <a:solidFill>
                  <a:schemeClr val="tx2"/>
                </a:solidFill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525403" y="2285999"/>
            <a:ext cx="4447786" cy="3581401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FE3BE3-E637-41BB-B5A2-116DFFD46B72}" type="datetimeFigureOut">
              <a:rPr lang="ko-KR" altLang="en-US" smtClean="0"/>
              <a:t>2026-03-03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57E27F-C073-475E-A89A-CACCCE07B39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5011379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71600" y="685800"/>
            <a:ext cx="9601200" cy="1485900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71600" y="2340864"/>
            <a:ext cx="4443984" cy="823912"/>
          </a:xfrm>
        </p:spPr>
        <p:txBody>
          <a:bodyPr anchor="b">
            <a:noAutofit/>
          </a:bodyPr>
          <a:lstStyle>
            <a:lvl1pPr marL="0" indent="0">
              <a:lnSpc>
                <a:spcPct val="84000"/>
              </a:lnSpc>
              <a:spcBef>
                <a:spcPts val="0"/>
              </a:spcBef>
              <a:spcAft>
                <a:spcPts val="0"/>
              </a:spcAft>
              <a:buNone/>
              <a:defRPr sz="3000" b="0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71600" y="3305207"/>
            <a:ext cx="4443984" cy="2562193"/>
          </a:xfrm>
        </p:spPr>
        <p:txBody>
          <a:bodyPr/>
          <a:lstStyle>
            <a:lvl1pPr>
              <a:defRPr baseline="0">
                <a:solidFill>
                  <a:schemeClr val="tx2"/>
                </a:solidFill>
              </a:defRPr>
            </a:lvl1pPr>
            <a:lvl2pPr>
              <a:defRPr baseline="0">
                <a:solidFill>
                  <a:schemeClr val="tx2"/>
                </a:solidFill>
              </a:defRPr>
            </a:lvl2pPr>
            <a:lvl3pPr>
              <a:defRPr baseline="0">
                <a:solidFill>
                  <a:schemeClr val="tx2"/>
                </a:solidFill>
              </a:defRPr>
            </a:lvl3pPr>
            <a:lvl4pPr>
              <a:defRPr baseline="0">
                <a:solidFill>
                  <a:schemeClr val="tx2"/>
                </a:solidFill>
              </a:defRPr>
            </a:lvl4pPr>
            <a:lvl5pPr>
              <a:defRPr baseline="0">
                <a:solidFill>
                  <a:schemeClr val="tx2"/>
                </a:solidFill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525014" y="2340864"/>
            <a:ext cx="4443984" cy="823912"/>
          </a:xfrm>
        </p:spPr>
        <p:txBody>
          <a:bodyPr anchor="b">
            <a:noAutofit/>
          </a:bodyPr>
          <a:lstStyle>
            <a:lvl1pPr marL="0" indent="0">
              <a:lnSpc>
                <a:spcPct val="84000"/>
              </a:lnSpc>
              <a:spcBef>
                <a:spcPts val="0"/>
              </a:spcBef>
              <a:spcAft>
                <a:spcPts val="0"/>
              </a:spcAft>
              <a:buNone/>
              <a:defRPr sz="3000" b="0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525014" y="3305207"/>
            <a:ext cx="4443984" cy="2562193"/>
          </a:xfrm>
        </p:spPr>
        <p:txBody>
          <a:bodyPr/>
          <a:lstStyle>
            <a:lvl1pPr>
              <a:defRPr baseline="0">
                <a:solidFill>
                  <a:schemeClr val="tx2"/>
                </a:solidFill>
              </a:defRPr>
            </a:lvl1pPr>
            <a:lvl2pPr>
              <a:defRPr baseline="0">
                <a:solidFill>
                  <a:schemeClr val="tx2"/>
                </a:solidFill>
              </a:defRPr>
            </a:lvl2pPr>
            <a:lvl3pPr>
              <a:defRPr baseline="0">
                <a:solidFill>
                  <a:schemeClr val="tx2"/>
                </a:solidFill>
              </a:defRPr>
            </a:lvl3pPr>
            <a:lvl4pPr>
              <a:defRPr baseline="0">
                <a:solidFill>
                  <a:schemeClr val="tx2"/>
                </a:solidFill>
              </a:defRPr>
            </a:lvl4pPr>
            <a:lvl5pPr>
              <a:defRPr baseline="0">
                <a:solidFill>
                  <a:schemeClr val="tx2"/>
                </a:solidFill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FE3BE3-E637-41BB-B5A2-116DFFD46B72}" type="datetimeFigureOut">
              <a:rPr lang="ko-KR" altLang="en-US" smtClean="0"/>
              <a:t>2026-03-03</a:t>
            </a:fld>
            <a:endParaRPr lang="ko-KR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57E27F-C073-475E-A89A-CACCCE07B39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9062590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FE3BE3-E637-41BB-B5A2-116DFFD46B72}" type="datetimeFigureOut">
              <a:rPr lang="ko-KR" altLang="en-US" smtClean="0"/>
              <a:t>2026-03-03</a:t>
            </a:fld>
            <a:endParaRPr lang="ko-KR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57E27F-C073-475E-A89A-CACCCE07B39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7822745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FE3BE3-E637-41BB-B5A2-116DFFD46B72}" type="datetimeFigureOut">
              <a:rPr lang="ko-KR" altLang="en-US" smtClean="0"/>
              <a:t>2026-03-03</a:t>
            </a:fld>
            <a:endParaRPr lang="ko-KR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57E27F-C073-475E-A89A-CACCCE07B39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4070988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 title="Background Shape"/>
          <p:cNvSpPr/>
          <p:nvPr/>
        </p:nvSpPr>
        <p:spPr>
          <a:xfrm>
            <a:off x="0" y="376"/>
            <a:ext cx="5303520" cy="685762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3900" y="685800"/>
            <a:ext cx="3855720" cy="2157884"/>
          </a:xfrm>
        </p:spPr>
        <p:txBody>
          <a:bodyPr anchor="t">
            <a:noAutofit/>
          </a:bodyPr>
          <a:lstStyle>
            <a:lvl1pPr>
              <a:lnSpc>
                <a:spcPct val="84000"/>
              </a:lnSpc>
              <a:defRPr sz="4800" baseline="0">
                <a:solidFill>
                  <a:schemeClr val="tx2"/>
                </a:solidFill>
              </a:defRPr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256020" y="685801"/>
            <a:ext cx="5212080" cy="5175250"/>
          </a:xfrm>
        </p:spPr>
        <p:txBody>
          <a:bodyPr/>
          <a:lstStyle>
            <a:lvl1pPr>
              <a:defRPr sz="2000"/>
            </a:lvl1pPr>
            <a:lvl2pPr>
              <a:defRPr sz="2000"/>
            </a:lvl2pPr>
            <a:lvl3pPr>
              <a:defRPr sz="1800"/>
            </a:lvl3pPr>
            <a:lvl4pPr>
              <a:defRPr sz="18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23900" y="2856344"/>
            <a:ext cx="3855720" cy="3011056"/>
          </a:xfrm>
        </p:spPr>
        <p:txBody>
          <a:bodyPr/>
          <a:lstStyle>
            <a:lvl1pPr marL="0" indent="0">
              <a:lnSpc>
                <a:spcPct val="113000"/>
              </a:lnSpc>
              <a:spcBef>
                <a:spcPts val="0"/>
              </a:spcBef>
              <a:spcAft>
                <a:spcPts val="1500"/>
              </a:spcAft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723900" y="6453386"/>
            <a:ext cx="1204572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EFFE3BE3-E637-41BB-B5A2-116DFFD46B72}" type="datetimeFigureOut">
              <a:rPr lang="ko-KR" altLang="en-US" smtClean="0"/>
              <a:t>2026-03-03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2205945" y="6453386"/>
            <a:ext cx="2373675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9883140" y="6453386"/>
            <a:ext cx="1596292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EA57E27F-C073-475E-A89A-CACCCE07B399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9" name="Rectangle 8" title="Divider Bar"/>
          <p:cNvSpPr/>
          <p:nvPr/>
        </p:nvSpPr>
        <p:spPr>
          <a:xfrm>
            <a:off x="5303520" y="376"/>
            <a:ext cx="228600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  <p:extLst>
      <p:ext uri="{BB962C8B-B14F-4D97-AF65-F5344CB8AC3E}">
        <p14:creationId xmlns:p14="http://schemas.microsoft.com/office/powerpoint/2010/main" val="318946500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 title="Background Shape"/>
          <p:cNvSpPr/>
          <p:nvPr/>
        </p:nvSpPr>
        <p:spPr>
          <a:xfrm>
            <a:off x="0" y="376"/>
            <a:ext cx="5303520" cy="685762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3900" y="685800"/>
            <a:ext cx="3855720" cy="2157884"/>
          </a:xfrm>
        </p:spPr>
        <p:txBody>
          <a:bodyPr anchor="t">
            <a:normAutofit/>
          </a:bodyPr>
          <a:lstStyle>
            <a:lvl1pPr>
              <a:lnSpc>
                <a:spcPct val="84000"/>
              </a:lnSpc>
              <a:defRPr sz="4800" baseline="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532120" y="0"/>
            <a:ext cx="6659880" cy="6857999"/>
          </a:xfrm>
        </p:spPr>
        <p:txBody>
          <a:bodyPr anchor="t">
            <a:normAutofit/>
          </a:bodyPr>
          <a:lstStyle>
            <a:lvl1pPr marL="0" indent="0">
              <a:buNone/>
              <a:defRPr sz="2000"/>
            </a:lvl1pPr>
            <a:lvl2pPr marL="457200" indent="0">
              <a:buNone/>
              <a:defRPr sz="2000"/>
            </a:lvl2pPr>
            <a:lvl3pPr marL="914400" indent="0">
              <a:buNone/>
              <a:defRPr sz="20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23900" y="2855968"/>
            <a:ext cx="3855720" cy="3011432"/>
          </a:xfrm>
        </p:spPr>
        <p:txBody>
          <a:bodyPr/>
          <a:lstStyle>
            <a:lvl1pPr marL="0" indent="0">
              <a:lnSpc>
                <a:spcPct val="113000"/>
              </a:lnSpc>
              <a:spcBef>
                <a:spcPts val="0"/>
              </a:spcBef>
              <a:spcAft>
                <a:spcPts val="1500"/>
              </a:spcAft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723900" y="6453386"/>
            <a:ext cx="1204572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EFFE3BE3-E637-41BB-B5A2-116DFFD46B72}" type="datetimeFigureOut">
              <a:rPr lang="ko-KR" altLang="en-US" smtClean="0"/>
              <a:t>2026-03-03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2205945" y="6453386"/>
            <a:ext cx="2373675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9883140" y="6453386"/>
            <a:ext cx="1596292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EA57E27F-C073-475E-A89A-CACCCE07B399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9" name="Rectangle 8" title="Divider Bar"/>
          <p:cNvSpPr/>
          <p:nvPr/>
        </p:nvSpPr>
        <p:spPr>
          <a:xfrm>
            <a:off x="5303520" y="376"/>
            <a:ext cx="228600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  <p:extLst>
      <p:ext uri="{BB962C8B-B14F-4D97-AF65-F5344CB8AC3E}">
        <p14:creationId xmlns:p14="http://schemas.microsoft.com/office/powerpoint/2010/main" val="289890039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371600" y="2295525"/>
            <a:ext cx="9601200" cy="3571875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FE3BE3-E637-41BB-B5A2-116DFFD46B72}" type="datetimeFigureOut">
              <a:rPr lang="ko-KR" altLang="en-US" smtClean="0"/>
              <a:t>2026-03-03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57E27F-C073-475E-A89A-CACCCE07B39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8167348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596561" y="624156"/>
            <a:ext cx="1565766" cy="5243244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371600" y="624156"/>
            <a:ext cx="8179641" cy="5243244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FE3BE3-E637-41BB-B5A2-116DFFD46B72}" type="datetimeFigureOut">
              <a:rPr lang="ko-KR" altLang="en-US" smtClean="0"/>
              <a:t>2026-03-03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57E27F-C073-475E-A89A-CACCCE07B39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3475746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371600" y="685800"/>
            <a:ext cx="9601200" cy="148590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71600" y="2286000"/>
            <a:ext cx="9601200" cy="35814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390650" y="6453386"/>
            <a:ext cx="1204572" cy="4046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2"/>
                </a:solidFill>
              </a:defRPr>
            </a:lvl1pPr>
          </a:lstStyle>
          <a:p>
            <a:fld id="{EFFE3BE3-E637-41BB-B5A2-116DFFD46B72}" type="datetimeFigureOut">
              <a:rPr lang="ko-KR" altLang="en-US" smtClean="0"/>
              <a:t>2026-03-03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893564" y="6453386"/>
            <a:ext cx="6280830" cy="4046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2"/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472736" y="6453386"/>
            <a:ext cx="1596292" cy="4046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2"/>
                </a:solidFill>
              </a:defRPr>
            </a:lvl1pPr>
          </a:lstStyle>
          <a:p>
            <a:fld id="{EA57E27F-C073-475E-A89A-CACCCE07B399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9" name="Rectangle 8" title="Side bar"/>
          <p:cNvSpPr/>
          <p:nvPr/>
        </p:nvSpPr>
        <p:spPr>
          <a:xfrm>
            <a:off x="478095" y="376"/>
            <a:ext cx="228600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5403493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1" hangingPunct="1">
        <a:lnSpc>
          <a:spcPct val="89000"/>
        </a:lnSpc>
        <a:spcBef>
          <a:spcPct val="0"/>
        </a:spcBef>
        <a:buNone/>
        <a:defRPr sz="4400" kern="1200" baseline="0">
          <a:solidFill>
            <a:schemeClr val="tx2"/>
          </a:solidFill>
          <a:latin typeface="+mj-lt"/>
          <a:ea typeface="+mj-ea"/>
          <a:cs typeface="+mj-cs"/>
        </a:defRPr>
      </a:lvl1pPr>
    </p:titleStyle>
    <p:bodyStyle>
      <a:lvl1pPr marL="384048" indent="-384048" algn="l" defTabSz="914400" rtl="0" eaLnBrk="1" latinLnBrk="1" hangingPunct="1">
        <a:lnSpc>
          <a:spcPct val="94000"/>
        </a:lnSpc>
        <a:spcBef>
          <a:spcPts val="1000"/>
        </a:spcBef>
        <a:spcAft>
          <a:spcPts val="200"/>
        </a:spcAft>
        <a:buFont typeface="Franklin Gothic Book" panose="020B0503020102020204" pitchFamily="34" charset="0"/>
        <a:buChar char="■"/>
        <a:defRPr sz="2000" kern="1200" baseline="0">
          <a:solidFill>
            <a:schemeClr val="tx2"/>
          </a:solidFill>
          <a:latin typeface="+mn-lt"/>
          <a:ea typeface="+mn-ea"/>
          <a:cs typeface="+mn-cs"/>
        </a:defRPr>
      </a:lvl1pPr>
      <a:lvl2pPr marL="914400" indent="-384048" algn="l" defTabSz="914400" rtl="0" eaLnBrk="1" latinLnBrk="1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–"/>
        <a:defRPr sz="2000" i="1" kern="1200" baseline="0">
          <a:solidFill>
            <a:schemeClr val="tx2"/>
          </a:solidFill>
          <a:latin typeface="+mn-lt"/>
          <a:ea typeface="+mn-ea"/>
          <a:cs typeface="+mn-cs"/>
        </a:defRPr>
      </a:lvl2pPr>
      <a:lvl3pPr marL="1371600" indent="-384048" algn="l" defTabSz="914400" rtl="0" eaLnBrk="1" latinLnBrk="1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■"/>
        <a:defRPr sz="1800" kern="1200" baseline="0">
          <a:solidFill>
            <a:schemeClr val="tx2"/>
          </a:solidFill>
          <a:latin typeface="+mn-lt"/>
          <a:ea typeface="+mn-ea"/>
          <a:cs typeface="+mn-cs"/>
        </a:defRPr>
      </a:lvl3pPr>
      <a:lvl4pPr marL="1828800" indent="-384048" algn="l" defTabSz="914400" rtl="0" eaLnBrk="1" latinLnBrk="1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–"/>
        <a:defRPr sz="1800" i="1" kern="1200" baseline="0">
          <a:solidFill>
            <a:schemeClr val="tx2"/>
          </a:solidFill>
          <a:latin typeface="+mn-lt"/>
          <a:ea typeface="+mn-ea"/>
          <a:cs typeface="+mn-cs"/>
        </a:defRPr>
      </a:lvl4pPr>
      <a:lvl5pPr marL="2286000" indent="-384048" algn="l" defTabSz="914400" rtl="0" eaLnBrk="1" latinLnBrk="1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■"/>
        <a:defRPr sz="1600" kern="1200" baseline="0">
          <a:solidFill>
            <a:schemeClr val="tx2"/>
          </a:solidFill>
          <a:latin typeface="+mn-lt"/>
          <a:ea typeface="+mn-ea"/>
          <a:cs typeface="+mn-cs"/>
        </a:defRPr>
      </a:lvl5pPr>
      <a:lvl6pPr marL="2743200" indent="-384048" algn="l" defTabSz="914400" rtl="0" eaLnBrk="1" latinLnBrk="1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–"/>
        <a:defRPr sz="1600" i="1" kern="1200" baseline="0">
          <a:solidFill>
            <a:schemeClr val="tx2"/>
          </a:solidFill>
          <a:latin typeface="+mn-lt"/>
          <a:ea typeface="+mn-ea"/>
          <a:cs typeface="+mn-cs"/>
        </a:defRPr>
      </a:lvl6pPr>
      <a:lvl7pPr marL="3200400" indent="-384048" algn="l" defTabSz="914400" rtl="0" eaLnBrk="1" latinLnBrk="1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■"/>
        <a:defRPr sz="1400" kern="1200" baseline="0">
          <a:solidFill>
            <a:schemeClr val="tx2"/>
          </a:solidFill>
          <a:latin typeface="+mn-lt"/>
          <a:ea typeface="+mn-ea"/>
          <a:cs typeface="+mn-cs"/>
        </a:defRPr>
      </a:lvl7pPr>
      <a:lvl8pPr marL="3657600" indent="-384048" algn="l" defTabSz="914400" rtl="0" eaLnBrk="1" latinLnBrk="1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–"/>
        <a:defRPr sz="1400" i="1" kern="1200" baseline="0">
          <a:solidFill>
            <a:schemeClr val="tx2"/>
          </a:solidFill>
          <a:latin typeface="+mn-lt"/>
          <a:ea typeface="+mn-ea"/>
          <a:cs typeface="+mn-cs"/>
        </a:defRPr>
      </a:lvl8pPr>
      <a:lvl9pPr marL="4114800" indent="-384048" algn="l" defTabSz="914400" rtl="0" eaLnBrk="1" latinLnBrk="1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■"/>
        <a:defRPr sz="1400" kern="1200" baseline="0">
          <a:solidFill>
            <a:schemeClr val="tx2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3" orient="horz" pos="1368">
          <p15:clr>
            <a:srgbClr val="F26B43"/>
          </p15:clr>
        </p15:guide>
        <p15:guide id="4" orient="horz" pos="1440">
          <p15:clr>
            <a:srgbClr val="F26B43"/>
          </p15:clr>
        </p15:guide>
        <p15:guide id="6" orient="horz" pos="3696">
          <p15:clr>
            <a:srgbClr val="F26B43"/>
          </p15:clr>
        </p15:guide>
        <p15:guide id="7" orient="horz" pos="432">
          <p15:clr>
            <a:srgbClr val="F26B43"/>
          </p15:clr>
        </p15:guide>
        <p15:guide id="8" orient="horz" pos="1512">
          <p15:clr>
            <a:srgbClr val="F26B43"/>
          </p15:clr>
        </p15:guide>
        <p15:guide id="9" pos="6912">
          <p15:clr>
            <a:srgbClr val="F26B43"/>
          </p15:clr>
        </p15:guide>
        <p15:guide id="10" pos="936">
          <p15:clr>
            <a:srgbClr val="F26B43"/>
          </p15:clr>
        </p15:guide>
        <p15:guide id="11" pos="864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39EC387-777F-15BD-C1A9-44BD066BBF5D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altLang="ko-KR" sz="4000" dirty="0"/>
              <a:t>BBS: Bi-directional Bit-level Sparsity for Deep Learning Acceleration </a:t>
            </a:r>
            <a:r>
              <a:rPr lang="ko-KR" altLang="en-US" sz="4000" dirty="0"/>
              <a:t>논문 리뷰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30EB2FD9-9788-7FA6-F8A9-48CFEE6E33FF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altLang="ko-KR"/>
              <a:t>26.02.27.</a:t>
            </a:r>
            <a:r>
              <a:rPr lang="ko-KR" altLang="en-US" dirty="0"/>
              <a:t>세미나</a:t>
            </a:r>
          </a:p>
        </p:txBody>
      </p:sp>
    </p:spTree>
    <p:extLst>
      <p:ext uri="{BB962C8B-B14F-4D97-AF65-F5344CB8AC3E}">
        <p14:creationId xmlns:p14="http://schemas.microsoft.com/office/powerpoint/2010/main" val="369870211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3362DFFC-4DCC-48EE-B781-94D04B95F1E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376"/>
            <a:ext cx="5303520" cy="6857624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D81A29F1-EDA8-147E-B533-46AC0D8444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81" y="791570"/>
            <a:ext cx="4018839" cy="5262390"/>
          </a:xfrm>
        </p:spPr>
        <p:txBody>
          <a:bodyPr anchor="ctr">
            <a:normAutofit/>
          </a:bodyPr>
          <a:lstStyle/>
          <a:p>
            <a:pPr algn="r"/>
            <a:r>
              <a:rPr lang="ko-KR" altLang="en-US" sz="5400" dirty="0">
                <a:solidFill>
                  <a:schemeClr val="bg2"/>
                </a:solidFill>
              </a:rPr>
              <a:t>목차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18B8B265-E68C-4B64-9238-781F0102C57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303520" y="376"/>
            <a:ext cx="228600" cy="6858000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ko-KR" altLang="en-US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3CA4C7F6-04B8-5678-520B-EFA0A63537C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76720" y="791570"/>
            <a:ext cx="4892308" cy="5262390"/>
          </a:xfrm>
        </p:spPr>
        <p:txBody>
          <a:bodyPr anchor="ctr">
            <a:normAutofit/>
          </a:bodyPr>
          <a:lstStyle/>
          <a:p>
            <a:r>
              <a:rPr lang="en-US" altLang="ko-KR" sz="1800" dirty="0"/>
              <a:t>1. Abstract</a:t>
            </a:r>
          </a:p>
          <a:p>
            <a:r>
              <a:rPr lang="en-US" altLang="ko-KR" sz="1800" dirty="0"/>
              <a:t>2. Introduction</a:t>
            </a:r>
          </a:p>
          <a:p>
            <a:r>
              <a:rPr lang="en-US" altLang="ko-KR" sz="1800" dirty="0"/>
              <a:t>3. Background</a:t>
            </a:r>
          </a:p>
          <a:p>
            <a:r>
              <a:rPr lang="en-US" altLang="ko-KR" sz="1800" dirty="0"/>
              <a:t>4. BBS: Bi-Directional Bit-Level Sparsity</a:t>
            </a:r>
          </a:p>
          <a:p>
            <a:r>
              <a:rPr lang="en-US" altLang="ko-KR" sz="1800" dirty="0"/>
              <a:t>5. </a:t>
            </a:r>
            <a:r>
              <a:rPr lang="en-US" altLang="ko-KR" sz="1800"/>
              <a:t>Bitvert</a:t>
            </a:r>
            <a:r>
              <a:rPr lang="en-US" altLang="ko-KR" sz="1800" dirty="0"/>
              <a:t> Hardware Architecture</a:t>
            </a:r>
          </a:p>
          <a:p>
            <a:r>
              <a:rPr lang="en-US" altLang="ko-KR" sz="1800" dirty="0"/>
              <a:t>6. Evaluation/Conclusion</a:t>
            </a:r>
            <a:endParaRPr lang="ko-KR" altLang="en-US" sz="1800" dirty="0"/>
          </a:p>
        </p:txBody>
      </p:sp>
    </p:spTree>
    <p:extLst>
      <p:ext uri="{BB962C8B-B14F-4D97-AF65-F5344CB8AC3E}">
        <p14:creationId xmlns:p14="http://schemas.microsoft.com/office/powerpoint/2010/main" val="207873517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3362DFFC-4DCC-48EE-B781-94D04B95F1E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376"/>
            <a:ext cx="5303520" cy="6857624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D7A5A146-9100-30B6-2AA3-0B9C35D776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81" y="791570"/>
            <a:ext cx="4018839" cy="5262390"/>
          </a:xfrm>
        </p:spPr>
        <p:txBody>
          <a:bodyPr anchor="ctr">
            <a:normAutofit/>
          </a:bodyPr>
          <a:lstStyle/>
          <a:p>
            <a:pPr algn="r"/>
            <a:r>
              <a:rPr lang="en-US" altLang="ko-KR" sz="5400" dirty="0">
                <a:solidFill>
                  <a:schemeClr val="bg2"/>
                </a:solidFill>
              </a:rPr>
              <a:t>Abstract</a:t>
            </a:r>
            <a:endParaRPr lang="ko-KR" altLang="en-US" sz="5400" dirty="0">
              <a:solidFill>
                <a:schemeClr val="bg2"/>
              </a:solidFill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18B8B265-E68C-4B64-9238-781F0102C57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303520" y="376"/>
            <a:ext cx="228600" cy="6858000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ko-KR" altLang="en-US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6372F1A9-B0F3-DB7D-4719-935DFD9FFE6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76720" y="791570"/>
            <a:ext cx="4892308" cy="5262390"/>
          </a:xfrm>
        </p:spPr>
        <p:txBody>
          <a:bodyPr anchor="ctr">
            <a:normAutofit/>
          </a:bodyPr>
          <a:lstStyle/>
          <a:p>
            <a:endParaRPr lang="ko-KR" altLang="en-US" sz="1800"/>
          </a:p>
        </p:txBody>
      </p:sp>
    </p:spTree>
    <p:extLst>
      <p:ext uri="{BB962C8B-B14F-4D97-AF65-F5344CB8AC3E}">
        <p14:creationId xmlns:p14="http://schemas.microsoft.com/office/powerpoint/2010/main" val="221466052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91F4DD9-9861-7A0C-25C9-4A1A9EE323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600" y="685800"/>
            <a:ext cx="9601200" cy="710921"/>
          </a:xfrm>
        </p:spPr>
        <p:txBody>
          <a:bodyPr/>
          <a:lstStyle/>
          <a:p>
            <a:r>
              <a:rPr lang="en-US" altLang="ko-KR" dirty="0"/>
              <a:t>Abstract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051475F4-936E-8E90-C29C-2B7B5CEA6A7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71599" y="1396721"/>
            <a:ext cx="10387263" cy="4470679"/>
          </a:xfrm>
        </p:spPr>
        <p:txBody>
          <a:bodyPr/>
          <a:lstStyle/>
          <a:p>
            <a:r>
              <a:rPr lang="ko-KR" altLang="en-US" dirty="0"/>
              <a:t>비트 수준 희소성</a:t>
            </a:r>
            <a:r>
              <a:rPr lang="en-US" altLang="ko-KR" dirty="0"/>
              <a:t>(Bit-level sparsity) </a:t>
            </a:r>
            <a:r>
              <a:rPr lang="ko-KR" altLang="en-US" dirty="0"/>
              <a:t>방법</a:t>
            </a:r>
            <a:r>
              <a:rPr lang="en-US" altLang="ko-KR" dirty="0"/>
              <a:t>: </a:t>
            </a:r>
            <a:r>
              <a:rPr lang="ko-KR" altLang="en-US" dirty="0"/>
              <a:t>효과가 없는 </a:t>
            </a:r>
            <a:r>
              <a:rPr lang="en-US" altLang="ko-KR" dirty="0"/>
              <a:t>0</a:t>
            </a:r>
            <a:r>
              <a:rPr lang="ko-KR" altLang="en-US" dirty="0"/>
              <a:t>비트 연산을 건너뛰는 연산 방식</a:t>
            </a:r>
            <a:br>
              <a:rPr lang="en-US" altLang="ko-KR" dirty="0"/>
            </a:br>
            <a:r>
              <a:rPr lang="en-US" altLang="ko-KR" dirty="0"/>
              <a:t>-&gt; </a:t>
            </a:r>
            <a:r>
              <a:rPr lang="ko-KR" altLang="en-US" dirty="0"/>
              <a:t>일반적으로 비트 직렬 딥러닝 가속기 내에서 적용 가능</a:t>
            </a:r>
            <a:r>
              <a:rPr lang="en-US" altLang="ko-KR" dirty="0"/>
              <a:t>-&gt; </a:t>
            </a:r>
            <a:r>
              <a:rPr lang="ko-KR" altLang="en-US" dirty="0"/>
              <a:t>여러 이유로 실용성 부족</a:t>
            </a:r>
            <a:endParaRPr lang="en-US" altLang="ko-KR" dirty="0"/>
          </a:p>
          <a:p>
            <a:r>
              <a:rPr lang="ko-KR" altLang="en-US" dirty="0"/>
              <a:t>실용성 부족한 이유</a:t>
            </a:r>
            <a:br>
              <a:rPr lang="en-US" altLang="ko-KR" dirty="0"/>
            </a:br>
            <a:r>
              <a:rPr lang="en-US" altLang="ko-KR" dirty="0"/>
              <a:t>1) </a:t>
            </a:r>
            <a:r>
              <a:rPr lang="ko-KR" altLang="en-US" dirty="0"/>
              <a:t>부하 불균형</a:t>
            </a:r>
            <a:r>
              <a:rPr lang="en-US" altLang="ko-KR" dirty="0"/>
              <a:t>(0</a:t>
            </a:r>
            <a:r>
              <a:rPr lang="ko-KR" altLang="en-US" dirty="0"/>
              <a:t>비트의 무작위 분포</a:t>
            </a:r>
            <a:r>
              <a:rPr lang="en-US" altLang="ko-KR" dirty="0"/>
              <a:t>)</a:t>
            </a:r>
            <a:br>
              <a:rPr lang="en-US" altLang="ko-KR" dirty="0"/>
            </a:br>
            <a:r>
              <a:rPr lang="en-US" altLang="ko-KR" dirty="0"/>
              <a:t>2) </a:t>
            </a:r>
            <a:r>
              <a:rPr lang="ko-KR" altLang="en-US" dirty="0"/>
              <a:t>모든 비트가 </a:t>
            </a:r>
            <a:r>
              <a:rPr lang="ko-KR" altLang="en-US" dirty="0" err="1"/>
              <a:t>오프칩</a:t>
            </a:r>
            <a:r>
              <a:rPr lang="ko-KR" altLang="en-US" dirty="0"/>
              <a:t> 메모리에서 호출 </a:t>
            </a:r>
            <a:r>
              <a:rPr lang="en-US" altLang="ko-KR" dirty="0"/>
              <a:t>-&gt; </a:t>
            </a:r>
            <a:r>
              <a:rPr lang="ko-KR" altLang="en-US" dirty="0"/>
              <a:t>최적화되지 않은 외부 메모리 </a:t>
            </a:r>
            <a:r>
              <a:rPr lang="ko-KR" altLang="en-US" dirty="0" err="1"/>
              <a:t>엑세스</a:t>
            </a:r>
            <a:br>
              <a:rPr lang="en-US" altLang="ko-KR" dirty="0"/>
            </a:br>
            <a:r>
              <a:rPr lang="en-US" altLang="ko-KR" dirty="0"/>
              <a:t>3) </a:t>
            </a:r>
            <a:r>
              <a:rPr lang="ko-KR" altLang="en-US" dirty="0"/>
              <a:t>희소성을 지원하기 위한 대형 </a:t>
            </a:r>
            <a:r>
              <a:rPr lang="ko-KR" altLang="en-US" dirty="0" err="1"/>
              <a:t>멀티플렉서와</a:t>
            </a:r>
            <a:r>
              <a:rPr lang="ko-KR" altLang="en-US" dirty="0"/>
              <a:t> 같은 높은 하드웨어 구현 오버헤드</a:t>
            </a:r>
          </a:p>
        </p:txBody>
      </p:sp>
    </p:spTree>
    <p:extLst>
      <p:ext uri="{BB962C8B-B14F-4D97-AF65-F5344CB8AC3E}">
        <p14:creationId xmlns:p14="http://schemas.microsoft.com/office/powerpoint/2010/main" val="323529087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AC5A53-A0EF-DFD5-CD92-883695E931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ECD1FE3-C804-BDAB-EE89-5D6637F7198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600" y="685800"/>
            <a:ext cx="9601200" cy="710921"/>
          </a:xfrm>
        </p:spPr>
        <p:txBody>
          <a:bodyPr/>
          <a:lstStyle/>
          <a:p>
            <a:r>
              <a:rPr lang="en-US" altLang="ko-KR" dirty="0"/>
              <a:t>Abstract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E669024B-34C9-4426-9225-3581D235C92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71599" y="1396721"/>
            <a:ext cx="10387263" cy="4470679"/>
          </a:xfrm>
        </p:spPr>
        <p:txBody>
          <a:bodyPr/>
          <a:lstStyle/>
          <a:p>
            <a:r>
              <a:rPr lang="ko-KR" altLang="en-US" dirty="0"/>
              <a:t>본 연구에서 새로운 방식 제안</a:t>
            </a:r>
            <a:endParaRPr lang="en-US" altLang="ko-KR" dirty="0"/>
          </a:p>
          <a:p>
            <a:r>
              <a:rPr lang="en-US" altLang="ko-KR" dirty="0"/>
              <a:t>1) </a:t>
            </a:r>
            <a:r>
              <a:rPr lang="ko-KR" altLang="en-US" dirty="0"/>
              <a:t>알고리즘 측면 </a:t>
            </a:r>
            <a:r>
              <a:rPr lang="en-US" altLang="ko-KR" dirty="0"/>
              <a:t>-&gt; “</a:t>
            </a:r>
            <a:r>
              <a:rPr lang="ko-KR" altLang="en-US" dirty="0"/>
              <a:t>양방향 비트 희소성</a:t>
            </a:r>
            <a:r>
              <a:rPr lang="en-US" altLang="ko-KR" dirty="0"/>
              <a:t>“(BBS)</a:t>
            </a:r>
          </a:p>
          <a:p>
            <a:r>
              <a:rPr lang="en-US" altLang="ko-KR" dirty="0"/>
              <a:t>2) </a:t>
            </a:r>
            <a:r>
              <a:rPr lang="ko-KR" altLang="en-US" dirty="0"/>
              <a:t>하드웨어 측면 </a:t>
            </a:r>
            <a:r>
              <a:rPr lang="en-US" altLang="ko-KR" dirty="0"/>
              <a:t>-&gt; Bivert</a:t>
            </a:r>
          </a:p>
          <a:p>
            <a:endParaRPr lang="en-US" altLang="ko-KR" dirty="0"/>
          </a:p>
          <a:p>
            <a:r>
              <a:rPr lang="ko-KR" altLang="en-US" dirty="0"/>
              <a:t>실험 결과</a:t>
            </a:r>
            <a:r>
              <a:rPr lang="en-US" altLang="ko-KR" dirty="0"/>
              <a:t>: </a:t>
            </a:r>
            <a:r>
              <a:rPr lang="ko-KR" altLang="en-US" dirty="0"/>
              <a:t>모델 크기 평균 </a:t>
            </a:r>
            <a:r>
              <a:rPr lang="en-US" altLang="ko-KR" dirty="0"/>
              <a:t>1.66</a:t>
            </a:r>
            <a:r>
              <a:rPr lang="ko-KR" altLang="en-US" dirty="0"/>
              <a:t>배 감소</a:t>
            </a:r>
            <a:r>
              <a:rPr lang="en-US" altLang="ko-KR" dirty="0"/>
              <a:t>, </a:t>
            </a:r>
            <a:r>
              <a:rPr lang="ko-KR" altLang="en-US" dirty="0"/>
              <a:t>이전 </a:t>
            </a:r>
            <a:r>
              <a:rPr lang="en-US" altLang="ko-KR" dirty="0"/>
              <a:t>DNN </a:t>
            </a:r>
            <a:r>
              <a:rPr lang="ko-KR" altLang="en-US" dirty="0"/>
              <a:t>가속기 대비 최대 </a:t>
            </a:r>
            <a:r>
              <a:rPr lang="en-US" altLang="ko-KR" dirty="0"/>
              <a:t>3.03</a:t>
            </a:r>
            <a:r>
              <a:rPr lang="ko-KR" altLang="en-US" dirty="0"/>
              <a:t>배의 속도 향상</a:t>
            </a:r>
            <a:br>
              <a:rPr lang="en-US" altLang="ko-KR" dirty="0"/>
            </a:br>
            <a:r>
              <a:rPr lang="en-US" altLang="ko-KR" dirty="0"/>
              <a:t>+ 2,44</a:t>
            </a:r>
            <a:r>
              <a:rPr lang="ko-KR" altLang="en-US" dirty="0"/>
              <a:t>배 에너지 절감</a:t>
            </a:r>
          </a:p>
        </p:txBody>
      </p:sp>
    </p:spTree>
    <p:extLst>
      <p:ext uri="{BB962C8B-B14F-4D97-AF65-F5344CB8AC3E}">
        <p14:creationId xmlns:p14="http://schemas.microsoft.com/office/powerpoint/2010/main" val="37895069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3362DFFC-4DCC-48EE-B781-94D04B95F1E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376"/>
            <a:ext cx="5303520" cy="6857624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E34071EC-D424-A29D-95BB-4007B08FC3E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81" y="791570"/>
            <a:ext cx="4018839" cy="5262390"/>
          </a:xfrm>
        </p:spPr>
        <p:txBody>
          <a:bodyPr anchor="ctr">
            <a:normAutofit/>
          </a:bodyPr>
          <a:lstStyle/>
          <a:p>
            <a:pPr algn="r"/>
            <a:r>
              <a:rPr lang="en-US" altLang="ko-KR" sz="5400">
                <a:solidFill>
                  <a:schemeClr val="bg2"/>
                </a:solidFill>
              </a:rPr>
              <a:t>Introduction</a:t>
            </a:r>
            <a:endParaRPr lang="ko-KR" altLang="en-US" sz="5400">
              <a:solidFill>
                <a:schemeClr val="bg2"/>
              </a:solidFill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18B8B265-E68C-4B64-9238-781F0102C57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303520" y="376"/>
            <a:ext cx="228600" cy="6858000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ko-KR" altLang="en-US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3D9C5EEF-ACF9-1DF0-E59C-5C6A61128F9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76720" y="791570"/>
            <a:ext cx="4892308" cy="5262390"/>
          </a:xfrm>
        </p:spPr>
        <p:txBody>
          <a:bodyPr anchor="ctr">
            <a:normAutofit/>
          </a:bodyPr>
          <a:lstStyle/>
          <a:p>
            <a:endParaRPr lang="ko-KR" altLang="en-US" sz="1800"/>
          </a:p>
        </p:txBody>
      </p:sp>
    </p:spTree>
    <p:extLst>
      <p:ext uri="{BB962C8B-B14F-4D97-AF65-F5344CB8AC3E}">
        <p14:creationId xmlns:p14="http://schemas.microsoft.com/office/powerpoint/2010/main" val="324183208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882503F-6856-728D-C520-A1CF3C96BD1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600" y="685800"/>
            <a:ext cx="9601200" cy="790074"/>
          </a:xfrm>
        </p:spPr>
        <p:txBody>
          <a:bodyPr/>
          <a:lstStyle/>
          <a:p>
            <a:r>
              <a:rPr lang="en-US" altLang="ko-KR" dirty="0"/>
              <a:t>Introduction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0FC4E7C-99BE-C94A-E45E-963C385826D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71600" y="1347537"/>
            <a:ext cx="9601200" cy="4519863"/>
          </a:xfrm>
        </p:spPr>
        <p:txBody>
          <a:bodyPr/>
          <a:lstStyle/>
          <a:p>
            <a:r>
              <a:rPr lang="en-US" altLang="ko-KR" dirty="0"/>
              <a:t>DNN</a:t>
            </a:r>
            <a:r>
              <a:rPr lang="ko-KR" altLang="en-US" dirty="0"/>
              <a:t>은 많고 중요한 분야에서 놀라운 성과를 입증하고 있음</a:t>
            </a:r>
            <a:br>
              <a:rPr lang="en-US" altLang="ko-KR" dirty="0"/>
            </a:br>
            <a:r>
              <a:rPr lang="en-US" altLang="ko-KR" dirty="0"/>
              <a:t>but DNN </a:t>
            </a:r>
            <a:r>
              <a:rPr lang="ko-KR" altLang="en-US" dirty="0"/>
              <a:t>모델 크기와 복잡성의 성장은 기존 하드웨어 플랫폼의 컴퓨팅 성능 향상 속도를 앞지름 </a:t>
            </a:r>
            <a:r>
              <a:rPr lang="en-US" altLang="ko-KR" dirty="0"/>
              <a:t>-&gt; </a:t>
            </a:r>
            <a:r>
              <a:rPr lang="ko-KR" altLang="en-US" dirty="0"/>
              <a:t>격차를 줄이기 위해 고성능과 에너지 효율 모두 필요</a:t>
            </a:r>
            <a:endParaRPr lang="en-US" altLang="ko-KR" dirty="0"/>
          </a:p>
          <a:p>
            <a:endParaRPr lang="en-US" altLang="ko-KR" dirty="0"/>
          </a:p>
          <a:p>
            <a:r>
              <a:rPr lang="en-US" altLang="ko-KR" dirty="0"/>
              <a:t>1) </a:t>
            </a:r>
            <a:r>
              <a:rPr lang="ko-KR" altLang="en-US" dirty="0"/>
              <a:t>압축된 모델을 효율적으로 배포하기 위한 가속기</a:t>
            </a:r>
            <a:endParaRPr lang="en-US" altLang="ko-KR" dirty="0"/>
          </a:p>
          <a:p>
            <a:r>
              <a:rPr lang="en-US" altLang="ko-KR" dirty="0"/>
              <a:t>2) </a:t>
            </a:r>
            <a:r>
              <a:rPr lang="ko-KR" altLang="en-US" dirty="0"/>
              <a:t>새로운 </a:t>
            </a:r>
            <a:r>
              <a:rPr lang="en-US" altLang="ko-KR" dirty="0"/>
              <a:t>DNN </a:t>
            </a:r>
            <a:r>
              <a:rPr lang="ko-KR" altLang="en-US" dirty="0"/>
              <a:t>압축 알고리즘 </a:t>
            </a:r>
            <a:br>
              <a:rPr lang="en-US" altLang="ko-KR" dirty="0"/>
            </a:br>
            <a:br>
              <a:rPr lang="en-US" altLang="ko-KR" dirty="0"/>
            </a:br>
            <a:r>
              <a:rPr lang="en-US" altLang="ko-KR" dirty="0"/>
              <a:t>=&gt; </a:t>
            </a:r>
            <a:r>
              <a:rPr lang="ko-KR" altLang="en-US" dirty="0"/>
              <a:t>공동 설계</a:t>
            </a:r>
          </a:p>
        </p:txBody>
      </p:sp>
    </p:spTree>
    <p:extLst>
      <p:ext uri="{BB962C8B-B14F-4D97-AF65-F5344CB8AC3E}">
        <p14:creationId xmlns:p14="http://schemas.microsoft.com/office/powerpoint/2010/main" val="264453881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3480AF-E3F7-99C1-20BD-D099FE7EFD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E805531-1CC3-A4EA-B2A4-3F2FA8AF8B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600" y="685800"/>
            <a:ext cx="9601200" cy="790074"/>
          </a:xfrm>
        </p:spPr>
        <p:txBody>
          <a:bodyPr/>
          <a:lstStyle/>
          <a:p>
            <a:r>
              <a:rPr lang="en-US" altLang="ko-KR" dirty="0"/>
              <a:t>Introduction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811E4CD-9511-3745-A11C-24566D4EE84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71599" y="1347537"/>
            <a:ext cx="9809747" cy="4519863"/>
          </a:xfrm>
        </p:spPr>
        <p:txBody>
          <a:bodyPr/>
          <a:lstStyle/>
          <a:p>
            <a:r>
              <a:rPr lang="ko-KR" altLang="en-US" dirty="0"/>
              <a:t>수많은 효율성 알고리즘 </a:t>
            </a:r>
            <a:r>
              <a:rPr lang="en-US" altLang="ko-KR" dirty="0"/>
              <a:t>+ </a:t>
            </a:r>
            <a:r>
              <a:rPr lang="ko-KR" altLang="en-US" dirty="0"/>
              <a:t>하드웨어 프로토타입 제안됨</a:t>
            </a:r>
            <a:br>
              <a:rPr lang="en-US" altLang="ko-KR" dirty="0"/>
            </a:br>
            <a:r>
              <a:rPr lang="en-US" altLang="ko-KR" dirty="0"/>
              <a:t>but </a:t>
            </a:r>
            <a:r>
              <a:rPr lang="ko-KR" altLang="en-US" dirty="0"/>
              <a:t>희소성의 정도는 결과적인 하드웨어 성능을 강력하게 제안함</a:t>
            </a:r>
            <a:endParaRPr lang="en-US" altLang="ko-KR" dirty="0"/>
          </a:p>
          <a:p>
            <a:r>
              <a:rPr lang="ko-KR" altLang="en-US" dirty="0"/>
              <a:t>이러한 문제는 </a:t>
            </a:r>
            <a:r>
              <a:rPr lang="en-US" altLang="ko-KR" dirty="0"/>
              <a:t>LLM</a:t>
            </a:r>
            <a:r>
              <a:rPr lang="ko-KR" altLang="en-US" dirty="0"/>
              <a:t>에서 두드러짐 </a:t>
            </a:r>
            <a:r>
              <a:rPr lang="en-US" altLang="ko-KR" dirty="0"/>
              <a:t>-&gt; </a:t>
            </a:r>
            <a:r>
              <a:rPr lang="ko-KR" altLang="en-US" dirty="0"/>
              <a:t>재학습을 더욱 자원 및 데이터 집약적으로 </a:t>
            </a:r>
            <a:r>
              <a:rPr lang="ko-KR" altLang="en-US" dirty="0" err="1"/>
              <a:t>만듬</a:t>
            </a:r>
            <a:endParaRPr lang="en-US" altLang="ko-KR" dirty="0"/>
          </a:p>
          <a:p>
            <a:r>
              <a:rPr lang="ko-KR" altLang="en-US" dirty="0"/>
              <a:t>재학습을 강요하지 않으면서 가속기의 효율성을 향상시켜야 함</a:t>
            </a:r>
          </a:p>
        </p:txBody>
      </p:sp>
    </p:spTree>
    <p:extLst>
      <p:ext uri="{BB962C8B-B14F-4D97-AF65-F5344CB8AC3E}">
        <p14:creationId xmlns:p14="http://schemas.microsoft.com/office/powerpoint/2010/main" val="209133474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2A8A26-844F-FB62-3B00-F024A52EF1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3D0524E-6408-447E-70D0-F9E651C583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600" y="685800"/>
            <a:ext cx="9601200" cy="790074"/>
          </a:xfrm>
        </p:spPr>
        <p:txBody>
          <a:bodyPr/>
          <a:lstStyle/>
          <a:p>
            <a:r>
              <a:rPr lang="en-US" altLang="ko-KR" dirty="0"/>
              <a:t>Introduction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366B7DF1-3573-1B8D-9236-344BFAB3CF1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71600" y="1347537"/>
            <a:ext cx="9601200" cy="4519863"/>
          </a:xfrm>
        </p:spPr>
        <p:txBody>
          <a:bodyPr/>
          <a:lstStyle/>
          <a:p>
            <a:r>
              <a:rPr lang="ko-KR" altLang="en-US" dirty="0"/>
              <a:t>또다른 흐름은 모델 </a:t>
            </a:r>
            <a:r>
              <a:rPr lang="ko-KR" altLang="en-US" dirty="0" err="1"/>
              <a:t>재학습</a:t>
            </a:r>
            <a:r>
              <a:rPr lang="ko-KR" altLang="en-US" dirty="0"/>
              <a:t> </a:t>
            </a:r>
            <a:r>
              <a:rPr lang="en-US" altLang="ko-KR" dirty="0"/>
              <a:t>x -&gt; </a:t>
            </a:r>
            <a:r>
              <a:rPr lang="ko-KR" altLang="en-US" dirty="0"/>
              <a:t>피연산자를 더 낮은 정밀도로 표현하는 사후 학습 양자화</a:t>
            </a:r>
            <a:r>
              <a:rPr lang="en-US" altLang="ko-KR" dirty="0"/>
              <a:t>(PTQ)</a:t>
            </a:r>
            <a:r>
              <a:rPr lang="ko-KR" altLang="en-US" dirty="0"/>
              <a:t>에 초점 맞춤</a:t>
            </a:r>
            <a:r>
              <a:rPr lang="en-US" altLang="ko-KR" dirty="0"/>
              <a:t>(ex: 32</a:t>
            </a:r>
            <a:r>
              <a:rPr lang="ko-KR" altLang="en-US" dirty="0"/>
              <a:t>비트 </a:t>
            </a:r>
            <a:r>
              <a:rPr lang="en-US" altLang="ko-KR" dirty="0"/>
              <a:t>-&gt; 8</a:t>
            </a:r>
            <a:r>
              <a:rPr lang="ko-KR" altLang="en-US" dirty="0"/>
              <a:t>비트로 줄임</a:t>
            </a:r>
            <a:r>
              <a:rPr lang="en-US" altLang="ko-KR" dirty="0"/>
              <a:t>)</a:t>
            </a:r>
          </a:p>
          <a:p>
            <a:r>
              <a:rPr lang="ko-KR" altLang="en-US" dirty="0"/>
              <a:t>그러나 이는 정수 양자화보다 더 높은 하드웨어 비용 초래</a:t>
            </a:r>
            <a:endParaRPr lang="en-US" altLang="ko-KR" dirty="0"/>
          </a:p>
          <a:p>
            <a:r>
              <a:rPr lang="ko-KR" altLang="en-US" dirty="0"/>
              <a:t>최신 </a:t>
            </a:r>
            <a:r>
              <a:rPr lang="en-US" altLang="ko-KR" dirty="0"/>
              <a:t>PTQ </a:t>
            </a:r>
            <a:r>
              <a:rPr lang="ko-KR" altLang="en-US" dirty="0"/>
              <a:t>알고리즘은 무시 가능 정확도 손실로 피연산자 정밀도를 </a:t>
            </a:r>
            <a:r>
              <a:rPr lang="en-US" altLang="ko-KR" dirty="0"/>
              <a:t>8</a:t>
            </a:r>
            <a:r>
              <a:rPr lang="ko-KR" altLang="en-US" dirty="0"/>
              <a:t>비트 정수</a:t>
            </a:r>
            <a:r>
              <a:rPr lang="en-US" altLang="ko-KR" dirty="0"/>
              <a:t>(INT8)</a:t>
            </a:r>
            <a:r>
              <a:rPr lang="ko-KR" altLang="en-US" dirty="0"/>
              <a:t>로 줄일 수 있음 </a:t>
            </a:r>
            <a:r>
              <a:rPr lang="en-US" altLang="ko-KR" dirty="0"/>
              <a:t>-&gt; </a:t>
            </a:r>
            <a:r>
              <a:rPr lang="ko-KR" altLang="en-US" dirty="0"/>
              <a:t>희소성 매우 낮음</a:t>
            </a:r>
            <a:endParaRPr lang="en-US" altLang="ko-KR" dirty="0"/>
          </a:p>
          <a:p>
            <a:r>
              <a:rPr lang="ko-KR" altLang="en-US" dirty="0"/>
              <a:t>양자화</a:t>
            </a:r>
            <a:r>
              <a:rPr lang="en-US" altLang="ko-KR" dirty="0"/>
              <a:t>-</a:t>
            </a:r>
            <a:r>
              <a:rPr lang="ko-KR" altLang="en-US" dirty="0"/>
              <a:t>희소성 간의 긴장 </a:t>
            </a:r>
            <a:r>
              <a:rPr lang="en-US" altLang="ko-KR" dirty="0"/>
              <a:t>-&gt; </a:t>
            </a:r>
            <a:r>
              <a:rPr lang="ko-KR" altLang="en-US" dirty="0"/>
              <a:t>성능 병목 현상 발생</a:t>
            </a:r>
          </a:p>
        </p:txBody>
      </p:sp>
    </p:spTree>
    <p:extLst>
      <p:ext uri="{BB962C8B-B14F-4D97-AF65-F5344CB8AC3E}">
        <p14:creationId xmlns:p14="http://schemas.microsoft.com/office/powerpoint/2010/main" val="97969359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82DB24-AF3D-7F87-A434-A9C3330BFF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837C3C9-C83D-DAD3-2C4F-B74F0F5A7C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600" y="685800"/>
            <a:ext cx="9601200" cy="790074"/>
          </a:xfrm>
        </p:spPr>
        <p:txBody>
          <a:bodyPr/>
          <a:lstStyle/>
          <a:p>
            <a:r>
              <a:rPr lang="en-US" altLang="ko-KR" dirty="0"/>
              <a:t>Introduction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DCE78D80-34F8-FCE0-8044-9804A554745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71600" y="1347537"/>
            <a:ext cx="9601200" cy="4519863"/>
          </a:xfrm>
        </p:spPr>
        <p:txBody>
          <a:bodyPr/>
          <a:lstStyle/>
          <a:p>
            <a:r>
              <a:rPr lang="ko-KR" altLang="en-US" dirty="0"/>
              <a:t>양자화와 희소성의 효율성을 동시에 달성하기 위해 비트 수준 희소성 활용</a:t>
            </a:r>
            <a:br>
              <a:rPr lang="en-US" altLang="ko-KR" dirty="0"/>
            </a:br>
            <a:r>
              <a:rPr lang="en-US" altLang="ko-KR" dirty="0"/>
              <a:t>-&gt; 0</a:t>
            </a:r>
            <a:r>
              <a:rPr lang="ko-KR" altLang="en-US" dirty="0"/>
              <a:t>비트 연산을 건너뛰는 것을 제안함</a:t>
            </a:r>
            <a:endParaRPr lang="en-US" altLang="ko-KR" dirty="0"/>
          </a:p>
          <a:p>
            <a:r>
              <a:rPr lang="en-US" altLang="ko-KR" dirty="0"/>
              <a:t>But</a:t>
            </a:r>
            <a:r>
              <a:rPr lang="ko-KR" altLang="en-US" dirty="0"/>
              <a:t> </a:t>
            </a:r>
            <a:r>
              <a:rPr lang="en-US" altLang="ko-KR" dirty="0"/>
              <a:t>0</a:t>
            </a:r>
            <a:r>
              <a:rPr lang="ko-KR" altLang="en-US" dirty="0"/>
              <a:t>비트의 분포는 무작위 </a:t>
            </a:r>
            <a:r>
              <a:rPr lang="en-US" altLang="ko-KR" dirty="0"/>
              <a:t>-&gt; </a:t>
            </a:r>
            <a:r>
              <a:rPr lang="ko-KR" altLang="en-US" dirty="0"/>
              <a:t>상당한 작업 부하 불균형 초래 </a:t>
            </a:r>
            <a:br>
              <a:rPr lang="en-US" altLang="ko-KR" dirty="0"/>
            </a:br>
            <a:r>
              <a:rPr lang="en-US" altLang="ko-KR" dirty="0"/>
              <a:t>+ </a:t>
            </a:r>
            <a:r>
              <a:rPr lang="ko-KR" altLang="en-US" dirty="0"/>
              <a:t>모든 데이터 비트를 </a:t>
            </a:r>
            <a:r>
              <a:rPr lang="ko-KR" altLang="en-US" dirty="0" err="1"/>
              <a:t>오프칩</a:t>
            </a:r>
            <a:r>
              <a:rPr lang="ko-KR" altLang="en-US" dirty="0"/>
              <a:t> 메모리에서 </a:t>
            </a:r>
            <a:r>
              <a:rPr lang="ko-KR" altLang="en-US" dirty="0" err="1"/>
              <a:t>가져와야함</a:t>
            </a:r>
            <a:br>
              <a:rPr lang="en-US" altLang="ko-KR" dirty="0"/>
            </a:br>
            <a:r>
              <a:rPr lang="en-US" altLang="ko-KR" dirty="0"/>
              <a:t>+ </a:t>
            </a:r>
            <a:r>
              <a:rPr lang="ko-KR" altLang="en-US" dirty="0"/>
              <a:t>하드웨어 오버헤드 발생</a:t>
            </a:r>
          </a:p>
        </p:txBody>
      </p:sp>
    </p:spTree>
    <p:extLst>
      <p:ext uri="{BB962C8B-B14F-4D97-AF65-F5344CB8AC3E}">
        <p14:creationId xmlns:p14="http://schemas.microsoft.com/office/powerpoint/2010/main" val="237890111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401DAE-7144-F174-8C72-B530C2836A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E9A3E53-CE41-ECF8-4D6D-D4C085BE77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600" y="685800"/>
            <a:ext cx="9601200" cy="790074"/>
          </a:xfrm>
        </p:spPr>
        <p:txBody>
          <a:bodyPr/>
          <a:lstStyle/>
          <a:p>
            <a:r>
              <a:rPr lang="en-US" altLang="ko-KR" dirty="0"/>
              <a:t>Introduction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D8A35921-96AF-2FA8-46EC-109B8699CC8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71600" y="1347537"/>
            <a:ext cx="9601200" cy="4519863"/>
          </a:xfrm>
        </p:spPr>
        <p:txBody>
          <a:bodyPr/>
          <a:lstStyle/>
          <a:p>
            <a:r>
              <a:rPr lang="en-US" altLang="ko-KR" dirty="0" err="1"/>
              <a:t>BitWave</a:t>
            </a:r>
            <a:r>
              <a:rPr lang="ko-KR" altLang="en-US" dirty="0"/>
              <a:t>는 동일한 비트 중요도와 희소성을 조사하는 비트 열 직렬 방식 채택</a:t>
            </a:r>
            <a:endParaRPr lang="en-US" altLang="ko-KR" dirty="0"/>
          </a:p>
          <a:p>
            <a:r>
              <a:rPr lang="ko-KR" altLang="en-US" dirty="0"/>
              <a:t>비트 열이 모두 </a:t>
            </a:r>
            <a:r>
              <a:rPr lang="en-US" altLang="ko-KR" dirty="0"/>
              <a:t>0</a:t>
            </a:r>
            <a:r>
              <a:rPr lang="ko-KR" altLang="en-US" dirty="0"/>
              <a:t>비트 </a:t>
            </a:r>
            <a:r>
              <a:rPr lang="en-US" altLang="ko-KR" dirty="0"/>
              <a:t>-&gt; </a:t>
            </a:r>
            <a:r>
              <a:rPr lang="ko-KR" altLang="en-US" dirty="0"/>
              <a:t>메모리 저장 </a:t>
            </a:r>
            <a:r>
              <a:rPr lang="en-US" altLang="ko-KR" dirty="0"/>
              <a:t>x </a:t>
            </a:r>
            <a:br>
              <a:rPr lang="en-US" altLang="ko-KR" dirty="0"/>
            </a:br>
            <a:r>
              <a:rPr lang="en-US" altLang="ko-KR" dirty="0"/>
              <a:t>+ </a:t>
            </a:r>
            <a:r>
              <a:rPr lang="ko-KR" altLang="en-US" dirty="0"/>
              <a:t>부호</a:t>
            </a:r>
            <a:r>
              <a:rPr lang="en-US" altLang="ko-KR" dirty="0"/>
              <a:t>-</a:t>
            </a:r>
            <a:r>
              <a:rPr lang="ko-KR" altLang="en-US" dirty="0"/>
              <a:t>크기 형식의 가중치 기반으로 비트 선택적으로 </a:t>
            </a:r>
            <a:r>
              <a:rPr lang="en-US" altLang="ko-KR" dirty="0"/>
              <a:t>0</a:t>
            </a:r>
            <a:r>
              <a:rPr lang="ko-KR" altLang="en-US" dirty="0"/>
              <a:t>으로 뒤집는 비트 희소성 강화 기술 </a:t>
            </a:r>
            <a:endParaRPr lang="en-US" altLang="ko-KR" dirty="0"/>
          </a:p>
          <a:p>
            <a:r>
              <a:rPr lang="ko-KR" altLang="en-US" dirty="0"/>
              <a:t>결과적으로 더 높은 성능 달성 가능성 보여줌</a:t>
            </a:r>
            <a:endParaRPr lang="en-US" altLang="ko-KR" dirty="0"/>
          </a:p>
          <a:p>
            <a:r>
              <a:rPr lang="en-US" altLang="ko-KR" dirty="0"/>
              <a:t>But </a:t>
            </a:r>
            <a:r>
              <a:rPr lang="ko-KR" altLang="en-US" dirty="0"/>
              <a:t>비트 희소성이 </a:t>
            </a:r>
            <a:r>
              <a:rPr lang="en-US" altLang="ko-KR" dirty="0"/>
              <a:t>“0</a:t>
            </a:r>
            <a:r>
              <a:rPr lang="ko-KR" altLang="en-US" dirty="0"/>
              <a:t>비트</a:t>
            </a:r>
            <a:r>
              <a:rPr lang="en-US" altLang="ko-KR" dirty="0"/>
              <a:t>＂</a:t>
            </a:r>
            <a:r>
              <a:rPr lang="ko-KR" altLang="en-US" dirty="0"/>
              <a:t>에만 국한됨</a:t>
            </a:r>
          </a:p>
        </p:txBody>
      </p:sp>
    </p:spTree>
    <p:extLst>
      <p:ext uri="{BB962C8B-B14F-4D97-AF65-F5344CB8AC3E}">
        <p14:creationId xmlns:p14="http://schemas.microsoft.com/office/powerpoint/2010/main" val="36880371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F5983E2-23C2-61C0-C992-8325E0DCFD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23562" y="685800"/>
            <a:ext cx="10493524" cy="1485900"/>
          </a:xfrm>
        </p:spPr>
        <p:txBody>
          <a:bodyPr>
            <a:normAutofit/>
          </a:bodyPr>
          <a:lstStyle/>
          <a:p>
            <a:r>
              <a:rPr lang="en-US" altLang="ko-KR" dirty="0"/>
              <a:t>Introduction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1D101750-6EDE-A391-236C-A038BA18DE1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23562" y="1604211"/>
            <a:ext cx="5521617" cy="4263189"/>
          </a:xfrm>
        </p:spPr>
        <p:txBody>
          <a:bodyPr>
            <a:normAutofit/>
          </a:bodyPr>
          <a:lstStyle/>
          <a:p>
            <a:r>
              <a:rPr lang="en-US" altLang="ko-KR" sz="1800" dirty="0"/>
              <a:t>(a): </a:t>
            </a:r>
            <a:r>
              <a:rPr lang="ko-KR" altLang="en-US" sz="1800" dirty="0"/>
              <a:t>일반적인 </a:t>
            </a:r>
            <a:r>
              <a:rPr lang="en-US" altLang="ko-KR" sz="1800" dirty="0"/>
              <a:t>PTQ</a:t>
            </a:r>
            <a:br>
              <a:rPr lang="en-US" altLang="ko-KR" sz="1800" dirty="0"/>
            </a:br>
            <a:r>
              <a:rPr lang="ko-KR" altLang="en-US" sz="1800" dirty="0"/>
              <a:t>전체 </a:t>
            </a:r>
            <a:r>
              <a:rPr lang="ko-KR" altLang="en-US" sz="1800" dirty="0" err="1"/>
              <a:t>번위를</a:t>
            </a:r>
            <a:r>
              <a:rPr lang="ko-KR" altLang="en-US" sz="1800" dirty="0"/>
              <a:t> </a:t>
            </a:r>
            <a:r>
              <a:rPr lang="en-US" altLang="ko-KR" sz="1800" dirty="0"/>
              <a:t>32</a:t>
            </a:r>
            <a:r>
              <a:rPr lang="ko-KR" altLang="en-US" sz="1800" dirty="0"/>
              <a:t>개 칸으로 나눔</a:t>
            </a:r>
            <a:br>
              <a:rPr lang="en-US" altLang="ko-KR" sz="1800" dirty="0"/>
            </a:br>
            <a:r>
              <a:rPr lang="ko-KR" altLang="en-US" sz="1800" dirty="0"/>
              <a:t>큰 값들은 잘리고</a:t>
            </a:r>
            <a:r>
              <a:rPr lang="en-US" altLang="ko-KR" sz="1800" dirty="0"/>
              <a:t>, </a:t>
            </a:r>
            <a:r>
              <a:rPr lang="ko-KR" altLang="en-US" sz="1800" dirty="0"/>
              <a:t>작은 값들은 </a:t>
            </a:r>
            <a:r>
              <a:rPr lang="ko-KR" altLang="en-US" sz="1800" dirty="0" err="1"/>
              <a:t>뭉뚱그래짐</a:t>
            </a:r>
            <a:br>
              <a:rPr lang="en-US" altLang="ko-KR" sz="1800" dirty="0"/>
            </a:br>
            <a:r>
              <a:rPr lang="en-US" altLang="ko-KR" sz="1800" dirty="0"/>
              <a:t>-&gt; </a:t>
            </a:r>
            <a:r>
              <a:rPr lang="ko-KR" altLang="en-US" sz="1800" dirty="0"/>
              <a:t>원래 데이터 분포와의 차이 커짐</a:t>
            </a:r>
            <a:endParaRPr lang="en-US" altLang="ko-KR" sz="1800" dirty="0"/>
          </a:p>
          <a:p>
            <a:r>
              <a:rPr lang="en-US" altLang="ko-KR" sz="1800" dirty="0"/>
              <a:t>(b): </a:t>
            </a:r>
            <a:r>
              <a:rPr lang="ko-KR" altLang="en-US" sz="1800" dirty="0"/>
              <a:t>비트 수준 </a:t>
            </a:r>
            <a:r>
              <a:rPr lang="ko-KR" altLang="en-US" sz="1800" dirty="0" err="1"/>
              <a:t>프루닝</a:t>
            </a:r>
            <a:br>
              <a:rPr lang="en-US" altLang="ko-KR" sz="1800" dirty="0"/>
            </a:br>
            <a:r>
              <a:rPr lang="ko-KR" altLang="en-US" sz="1800" dirty="0"/>
              <a:t>비트 열단위로 접근</a:t>
            </a:r>
            <a:br>
              <a:rPr lang="en-US" altLang="ko-KR" sz="1800" dirty="0"/>
            </a:br>
            <a:r>
              <a:rPr lang="en-US" altLang="ko-KR" sz="1800" dirty="0"/>
              <a:t>(ex: 8</a:t>
            </a:r>
            <a:r>
              <a:rPr lang="ko-KR" altLang="en-US" sz="1800" dirty="0"/>
              <a:t>개중 </a:t>
            </a:r>
            <a:r>
              <a:rPr lang="en-US" altLang="ko-KR" sz="1800" dirty="0"/>
              <a:t>3</a:t>
            </a:r>
            <a:r>
              <a:rPr lang="ko-KR" altLang="en-US" sz="1800" dirty="0"/>
              <a:t>개 열 </a:t>
            </a:r>
            <a:r>
              <a:rPr lang="en-US" altLang="ko-KR" sz="1800" dirty="0"/>
              <a:t>‘0’</a:t>
            </a:r>
            <a:r>
              <a:rPr lang="ko-KR" altLang="en-US" sz="1800" dirty="0"/>
              <a:t>으로 </a:t>
            </a:r>
            <a:r>
              <a:rPr lang="ko-KR" altLang="en-US" sz="1800" dirty="0" err="1"/>
              <a:t>프루닝</a:t>
            </a:r>
            <a:r>
              <a:rPr lang="ko-KR" altLang="en-US" sz="1800" dirty="0"/>
              <a:t> </a:t>
            </a:r>
            <a:r>
              <a:rPr lang="en-US" altLang="ko-KR" sz="1800" dirty="0"/>
              <a:t>-&gt; </a:t>
            </a:r>
            <a:r>
              <a:rPr lang="ko-KR" altLang="en-US" sz="1800" dirty="0"/>
              <a:t>남은 비트 숫자로 표현</a:t>
            </a:r>
            <a:br>
              <a:rPr lang="en-US" altLang="ko-KR" sz="1800" dirty="0"/>
            </a:br>
            <a:r>
              <a:rPr lang="ko-KR" altLang="en-US" sz="1800" dirty="0"/>
              <a:t>숫자가 작을 때 매우 유리 </a:t>
            </a:r>
            <a:r>
              <a:rPr lang="en-US" altLang="ko-KR" sz="1800" dirty="0"/>
              <a:t>+ PTQ</a:t>
            </a:r>
            <a:r>
              <a:rPr lang="ko-KR" altLang="en-US" sz="1800" dirty="0"/>
              <a:t>보다 정밀하게 원래 값 보존 가능</a:t>
            </a:r>
            <a:br>
              <a:rPr lang="en-US" altLang="ko-KR" sz="1800" dirty="0"/>
            </a:br>
            <a:r>
              <a:rPr lang="en-US" altLang="ko-KR" sz="1800" dirty="0"/>
              <a:t>but </a:t>
            </a:r>
            <a:r>
              <a:rPr lang="ko-KR" altLang="en-US" sz="1800" dirty="0"/>
              <a:t>고유한 희소 비트 열</a:t>
            </a:r>
            <a:r>
              <a:rPr lang="en-US" altLang="ko-KR" sz="1800" dirty="0"/>
              <a:t>x -&gt; </a:t>
            </a:r>
            <a:r>
              <a:rPr lang="ko-KR" altLang="en-US" sz="1800" dirty="0"/>
              <a:t>모든 하위 비트 열 </a:t>
            </a:r>
            <a:r>
              <a:rPr lang="en-US" altLang="ko-KR" sz="1800" dirty="0"/>
              <a:t>0</a:t>
            </a:r>
            <a:r>
              <a:rPr lang="ko-KR" altLang="en-US" sz="1800" dirty="0"/>
              <a:t>으로 </a:t>
            </a:r>
            <a:r>
              <a:rPr lang="ko-KR" altLang="en-US" sz="1800" dirty="0" err="1"/>
              <a:t>뒤집어야됨</a:t>
            </a:r>
            <a:r>
              <a:rPr lang="ko-KR" altLang="en-US" sz="1800" dirty="0"/>
              <a:t> </a:t>
            </a:r>
            <a:r>
              <a:rPr lang="en-US" altLang="ko-KR" sz="1800" dirty="0"/>
              <a:t>-&gt; </a:t>
            </a:r>
            <a:r>
              <a:rPr lang="ko-KR" altLang="en-US" sz="1800" dirty="0"/>
              <a:t>양자화 레벨 감소 </a:t>
            </a:r>
            <a:endParaRPr lang="en-US" altLang="ko-KR" sz="1800" dirty="0"/>
          </a:p>
          <a:p>
            <a:endParaRPr lang="ko-KR" altLang="en-US" sz="1800" dirty="0"/>
          </a:p>
        </p:txBody>
      </p:sp>
      <p:pic>
        <p:nvPicPr>
          <p:cNvPr id="5" name="그림 4" descr="텍스트, 스크린샷, 도표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D01E3BD9-7ED1-5AAB-EFB2-B6DF2E4ADBCC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32234"/>
          <a:stretch>
            <a:fillRect/>
          </a:stretch>
        </p:blipFill>
        <p:spPr>
          <a:xfrm>
            <a:off x="7042706" y="1058083"/>
            <a:ext cx="4474380" cy="48694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3329232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D6EDF5-BCA0-43C8-B10D-F08D8D2D75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0431460-CD07-866E-8678-01686A2E8C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23562" y="685800"/>
            <a:ext cx="10493524" cy="1485900"/>
          </a:xfrm>
        </p:spPr>
        <p:txBody>
          <a:bodyPr>
            <a:normAutofit/>
          </a:bodyPr>
          <a:lstStyle/>
          <a:p>
            <a:r>
              <a:rPr lang="en-US" altLang="ko-KR" dirty="0"/>
              <a:t>Introduction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D8D4B44D-8176-0237-E40E-C7FB37BD1CC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23562" y="1604211"/>
            <a:ext cx="6885196" cy="4263189"/>
          </a:xfrm>
        </p:spPr>
        <p:txBody>
          <a:bodyPr>
            <a:normAutofit/>
          </a:bodyPr>
          <a:lstStyle/>
          <a:p>
            <a:r>
              <a:rPr lang="en-US" altLang="ko-KR" sz="1800" dirty="0"/>
              <a:t>(c): BBS</a:t>
            </a:r>
            <a:br>
              <a:rPr lang="en-US" altLang="ko-KR" sz="1800" dirty="0"/>
            </a:br>
            <a:r>
              <a:rPr lang="ko-KR" altLang="en-US" sz="1800" dirty="0"/>
              <a:t>모든 비트 벡터가 적어도 </a:t>
            </a:r>
            <a:r>
              <a:rPr lang="en-US" altLang="ko-KR" sz="1800" dirty="0"/>
              <a:t>50%</a:t>
            </a:r>
            <a:r>
              <a:rPr lang="ko-KR" altLang="en-US" sz="1800" dirty="0"/>
              <a:t>의 </a:t>
            </a:r>
            <a:r>
              <a:rPr lang="en-US" altLang="ko-KR" sz="1800" dirty="0"/>
              <a:t>BBS</a:t>
            </a:r>
            <a:r>
              <a:rPr lang="ko-KR" altLang="en-US" sz="1800" dirty="0"/>
              <a:t>를 보일 수 있도록 보장함</a:t>
            </a:r>
            <a:r>
              <a:rPr lang="en-US" altLang="ko-KR" sz="1800" dirty="0"/>
              <a:t>-&gt; </a:t>
            </a:r>
            <a:r>
              <a:rPr lang="ko-KR" altLang="en-US" sz="1800" dirty="0"/>
              <a:t>부하 균형 개선 </a:t>
            </a:r>
            <a:r>
              <a:rPr lang="en-US" altLang="ko-KR" sz="1800" dirty="0"/>
              <a:t>+ </a:t>
            </a:r>
            <a:r>
              <a:rPr lang="ko-KR" altLang="en-US" sz="1800" dirty="0"/>
              <a:t>불필요한 비트 연산 횟수 최소화</a:t>
            </a:r>
            <a:endParaRPr lang="en-US" altLang="ko-KR" sz="1800" dirty="0"/>
          </a:p>
          <a:p>
            <a:endParaRPr lang="en-US" altLang="ko-KR" sz="1800" dirty="0"/>
          </a:p>
          <a:p>
            <a:r>
              <a:rPr lang="ko-KR" altLang="en-US" sz="1800" dirty="0"/>
              <a:t>이 연구의 주요 기여</a:t>
            </a:r>
            <a:br>
              <a:rPr lang="en-US" altLang="ko-KR" sz="1800" dirty="0"/>
            </a:br>
            <a:r>
              <a:rPr lang="en-US" altLang="ko-KR" sz="1800" dirty="0"/>
              <a:t>1) </a:t>
            </a:r>
            <a:r>
              <a:rPr lang="ko-KR" altLang="en-US" sz="1800" dirty="0"/>
              <a:t>새로운 </a:t>
            </a:r>
            <a:r>
              <a:rPr lang="en-US" altLang="ko-KR" sz="1800" dirty="0"/>
              <a:t>BBS </a:t>
            </a:r>
            <a:r>
              <a:rPr lang="ko-KR" altLang="en-US" sz="1800" dirty="0"/>
              <a:t>개념 도입 </a:t>
            </a:r>
            <a:r>
              <a:rPr lang="en-US" altLang="ko-KR" sz="1800" dirty="0"/>
              <a:t>-&gt; </a:t>
            </a:r>
            <a:r>
              <a:rPr lang="ko-KR" altLang="en-US" sz="1800" dirty="0"/>
              <a:t>비트 직렬 가속기의 부하 균형 개선</a:t>
            </a:r>
            <a:br>
              <a:rPr lang="en-US" altLang="ko-KR" sz="1800" dirty="0"/>
            </a:br>
            <a:r>
              <a:rPr lang="en-US" altLang="ko-KR" sz="1800" dirty="0"/>
              <a:t>2) </a:t>
            </a:r>
            <a:r>
              <a:rPr lang="ko-KR" altLang="en-US" sz="1800" dirty="0"/>
              <a:t>두 가지 비트 수준 바이너리 </a:t>
            </a:r>
            <a:r>
              <a:rPr lang="ko-KR" altLang="en-US" sz="1800" dirty="0" err="1"/>
              <a:t>프루닝</a:t>
            </a:r>
            <a:r>
              <a:rPr lang="ko-KR" altLang="en-US" sz="1800" dirty="0"/>
              <a:t> 전략 제안</a:t>
            </a:r>
            <a:br>
              <a:rPr lang="en-US" altLang="ko-KR" sz="1800" dirty="0"/>
            </a:br>
            <a:r>
              <a:rPr lang="en-US" altLang="ko-KR" sz="1800" dirty="0"/>
              <a:t>3) BBS </a:t>
            </a:r>
            <a:r>
              <a:rPr lang="ko-KR" altLang="en-US" sz="1800" dirty="0"/>
              <a:t>활용 비트 직렬 가속기인 </a:t>
            </a:r>
            <a:r>
              <a:rPr lang="en-US" altLang="ko-KR" sz="1800" dirty="0" err="1"/>
              <a:t>BitVert</a:t>
            </a:r>
            <a:r>
              <a:rPr lang="en-US" altLang="ko-KR" sz="1800" dirty="0"/>
              <a:t> </a:t>
            </a:r>
            <a:r>
              <a:rPr lang="ko-KR" altLang="en-US" sz="1800" dirty="0"/>
              <a:t>설계</a:t>
            </a:r>
          </a:p>
        </p:txBody>
      </p:sp>
      <p:pic>
        <p:nvPicPr>
          <p:cNvPr id="5" name="그림 4" descr="텍스트, 스크린샷, 도표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5C001A46-4F1C-8CA1-122A-02181DE191D1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68434"/>
          <a:stretch>
            <a:fillRect/>
          </a:stretch>
        </p:blipFill>
        <p:spPr>
          <a:xfrm>
            <a:off x="8534400" y="685800"/>
            <a:ext cx="2222137" cy="51917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9884147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3362DFFC-4DCC-48EE-B781-94D04B95F1E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376"/>
            <a:ext cx="5303520" cy="6857624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BE42844E-0F19-8263-D9C5-C2708FB761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81" y="791570"/>
            <a:ext cx="4018839" cy="5262390"/>
          </a:xfrm>
        </p:spPr>
        <p:txBody>
          <a:bodyPr anchor="ctr">
            <a:normAutofit/>
          </a:bodyPr>
          <a:lstStyle/>
          <a:p>
            <a:pPr algn="r"/>
            <a:r>
              <a:rPr lang="en-US" altLang="ko-KR" sz="5400" dirty="0">
                <a:solidFill>
                  <a:schemeClr val="bg2"/>
                </a:solidFill>
              </a:rPr>
              <a:t>Background</a:t>
            </a:r>
            <a:br>
              <a:rPr lang="en-US" altLang="ko-KR" sz="5400" dirty="0">
                <a:solidFill>
                  <a:schemeClr val="bg2"/>
                </a:solidFill>
              </a:rPr>
            </a:br>
            <a:endParaRPr lang="ko-KR" altLang="en-US" sz="5400" dirty="0">
              <a:solidFill>
                <a:schemeClr val="bg2"/>
              </a:solidFill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18B8B265-E68C-4B64-9238-781F0102C57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303520" y="376"/>
            <a:ext cx="228600" cy="6858000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ko-KR" altLang="en-US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A1DE9091-C379-AA33-1074-C22AA400729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76720" y="791570"/>
            <a:ext cx="4892308" cy="5262390"/>
          </a:xfrm>
        </p:spPr>
        <p:txBody>
          <a:bodyPr anchor="ctr">
            <a:normAutofit/>
          </a:bodyPr>
          <a:lstStyle/>
          <a:p>
            <a:endParaRPr lang="ko-KR" altLang="en-US" sz="1800"/>
          </a:p>
        </p:txBody>
      </p:sp>
    </p:spTree>
    <p:extLst>
      <p:ext uri="{BB962C8B-B14F-4D97-AF65-F5344CB8AC3E}">
        <p14:creationId xmlns:p14="http://schemas.microsoft.com/office/powerpoint/2010/main" val="299994801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B57410C-25D8-9B3C-F686-0873328CDE3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81744" y="631372"/>
            <a:ext cx="3135086" cy="5606142"/>
          </a:xfrm>
        </p:spPr>
        <p:txBody>
          <a:bodyPr>
            <a:normAutofit/>
          </a:bodyPr>
          <a:lstStyle/>
          <a:p>
            <a:r>
              <a:rPr lang="en-US" altLang="ko-KR" dirty="0"/>
              <a:t>Background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36CDB7A3-D752-BD34-0DEF-2ED9A1CCC2D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741594" y="631371"/>
            <a:ext cx="7145605" cy="3744685"/>
          </a:xfrm>
        </p:spPr>
        <p:txBody>
          <a:bodyPr>
            <a:normAutofit/>
          </a:bodyPr>
          <a:lstStyle/>
          <a:p>
            <a:r>
              <a:rPr lang="en-US" altLang="ko-KR" dirty="0"/>
              <a:t>(a): </a:t>
            </a:r>
            <a:r>
              <a:rPr lang="ko-KR" altLang="en-US" dirty="0"/>
              <a:t>비트 병렬 </a:t>
            </a:r>
            <a:r>
              <a:rPr lang="en-US" altLang="ko-KR" dirty="0"/>
              <a:t>PE: </a:t>
            </a:r>
            <a:r>
              <a:rPr lang="ko-KR" altLang="en-US" dirty="0"/>
              <a:t>동일한 가중치의 모든 비트 간의 곱셈 수행 </a:t>
            </a:r>
            <a:r>
              <a:rPr lang="en-US" altLang="ko-KR" dirty="0"/>
              <a:t>-&gt; </a:t>
            </a:r>
            <a:r>
              <a:rPr lang="ko-KR" altLang="en-US" dirty="0"/>
              <a:t>의미 없는 비트 연산 초래 </a:t>
            </a:r>
            <a:r>
              <a:rPr lang="en-US" altLang="ko-KR" dirty="0"/>
              <a:t>-&gt; </a:t>
            </a:r>
            <a:r>
              <a:rPr lang="ko-KR" altLang="en-US" dirty="0"/>
              <a:t>성능 저하</a:t>
            </a:r>
            <a:endParaRPr lang="en-US" altLang="ko-KR" dirty="0"/>
          </a:p>
          <a:p>
            <a:r>
              <a:rPr lang="en-US" altLang="ko-KR" dirty="0"/>
              <a:t>(b): Pragmatic:</a:t>
            </a:r>
            <a:r>
              <a:rPr lang="ko-KR" altLang="en-US" dirty="0"/>
              <a:t> 모든 가중치의 비트 중 </a:t>
            </a:r>
            <a:r>
              <a:rPr lang="en-US" altLang="ko-KR" dirty="0"/>
              <a:t>0</a:t>
            </a:r>
            <a:r>
              <a:rPr lang="ko-KR" altLang="en-US" dirty="0"/>
              <a:t>이 아닌 비트만 처리 </a:t>
            </a:r>
            <a:br>
              <a:rPr lang="en-US" altLang="ko-KR" dirty="0"/>
            </a:br>
            <a:r>
              <a:rPr lang="ko-KR" altLang="en-US" dirty="0"/>
              <a:t>서로 다른 비트 가중치가 동시 처리될 수 있음</a:t>
            </a:r>
            <a:br>
              <a:rPr lang="en-US" altLang="ko-KR" dirty="0"/>
            </a:br>
            <a:r>
              <a:rPr lang="en-US" altLang="ko-KR" dirty="0"/>
              <a:t>-&gt; </a:t>
            </a:r>
            <a:r>
              <a:rPr lang="ko-KR" altLang="en-US" dirty="0"/>
              <a:t>가중치 동기화 위해 모든 비트 직렬 </a:t>
            </a:r>
            <a:r>
              <a:rPr lang="ko-KR" altLang="en-US" dirty="0" err="1"/>
              <a:t>곱셈기</a:t>
            </a:r>
            <a:r>
              <a:rPr lang="ko-KR" altLang="en-US" dirty="0"/>
              <a:t> 뒤에 가변 </a:t>
            </a:r>
            <a:r>
              <a:rPr lang="ko-KR" altLang="en-US" dirty="0" err="1"/>
              <a:t>시프터</a:t>
            </a:r>
            <a:r>
              <a:rPr lang="ko-KR" altLang="en-US" dirty="0"/>
              <a:t> 필요</a:t>
            </a:r>
            <a:endParaRPr lang="en-US" altLang="ko-KR" dirty="0"/>
          </a:p>
          <a:p>
            <a:r>
              <a:rPr lang="en-US" altLang="ko-KR" dirty="0" err="1"/>
              <a:t>Pragmetic</a:t>
            </a:r>
            <a:r>
              <a:rPr lang="ko-KR" altLang="en-US" dirty="0"/>
              <a:t>은 부하 불균형 문제 발생</a:t>
            </a:r>
            <a:r>
              <a:rPr lang="en-US" altLang="ko-KR" dirty="0"/>
              <a:t>(</a:t>
            </a:r>
            <a:r>
              <a:rPr lang="ko-KR" altLang="en-US" dirty="0"/>
              <a:t>지연 시간이 </a:t>
            </a:r>
            <a:r>
              <a:rPr lang="en-US" altLang="ko-KR" dirty="0"/>
              <a:t>1</a:t>
            </a:r>
            <a:r>
              <a:rPr lang="ko-KR" altLang="en-US" dirty="0"/>
              <a:t>비트 개수가 가장 많은 가중치에 의해 결정됨</a:t>
            </a:r>
            <a:r>
              <a:rPr lang="en-US" altLang="ko-KR" dirty="0"/>
              <a:t>)</a:t>
            </a:r>
            <a:endParaRPr lang="ko-KR" altLang="en-US" dirty="0"/>
          </a:p>
        </p:txBody>
      </p:sp>
      <p:pic>
        <p:nvPicPr>
          <p:cNvPr id="5" name="그림 4" descr="텍스트, 도표, 폰트, 라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CC1FFCDD-CEBE-110C-C7A4-DA56BE76FE4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54442" y="4595192"/>
            <a:ext cx="9084415" cy="21348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2059388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09A8FA-51AA-396E-D60E-EB06779037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8EB8B79-D849-B660-60F5-0972CCFDCB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81744" y="631372"/>
            <a:ext cx="3135086" cy="5606142"/>
          </a:xfrm>
        </p:spPr>
        <p:txBody>
          <a:bodyPr>
            <a:normAutofit/>
          </a:bodyPr>
          <a:lstStyle/>
          <a:p>
            <a:r>
              <a:rPr lang="en-US" altLang="ko-KR" dirty="0"/>
              <a:t>Background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1C5E6880-FB8B-590A-DCC0-96B1C9DAF35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741594" y="631371"/>
            <a:ext cx="7145605" cy="3744685"/>
          </a:xfrm>
        </p:spPr>
        <p:txBody>
          <a:bodyPr>
            <a:normAutofit/>
          </a:bodyPr>
          <a:lstStyle/>
          <a:p>
            <a:r>
              <a:rPr lang="en-US" altLang="ko-KR" dirty="0"/>
              <a:t>(c): </a:t>
            </a:r>
            <a:r>
              <a:rPr lang="en-US" altLang="ko-KR" dirty="0" err="1"/>
              <a:t>Bitlet</a:t>
            </a:r>
            <a:r>
              <a:rPr lang="en-US" altLang="ko-KR" dirty="0"/>
              <a:t>: </a:t>
            </a:r>
            <a:r>
              <a:rPr lang="ko-KR" altLang="en-US" dirty="0"/>
              <a:t>여러 가중치와 활성화 소화 </a:t>
            </a:r>
            <a:r>
              <a:rPr lang="en-US" altLang="ko-KR" dirty="0"/>
              <a:t>-&gt; </a:t>
            </a:r>
            <a:r>
              <a:rPr lang="ko-KR" altLang="en-US" dirty="0"/>
              <a:t>각 비트 가중치 독립적으로 계산 </a:t>
            </a:r>
            <a:br>
              <a:rPr lang="en-US" altLang="ko-KR" dirty="0"/>
            </a:br>
            <a:r>
              <a:rPr lang="en-US" altLang="ko-KR" dirty="0"/>
              <a:t>but </a:t>
            </a:r>
            <a:r>
              <a:rPr lang="ko-KR" altLang="en-US" dirty="0"/>
              <a:t>모든 비틀</a:t>
            </a:r>
            <a:r>
              <a:rPr lang="en-US" altLang="ko-KR" dirty="0"/>
              <a:t> lane</a:t>
            </a:r>
            <a:r>
              <a:rPr lang="ko-KR" altLang="en-US" dirty="0"/>
              <a:t>이 임의의 가중치로부터 유효 비트 흡수할 수 있음 </a:t>
            </a:r>
            <a:r>
              <a:rPr lang="en-US" altLang="ko-KR" dirty="0"/>
              <a:t>-&gt; </a:t>
            </a:r>
            <a:r>
              <a:rPr lang="ko-KR" altLang="en-US" dirty="0"/>
              <a:t>올바른 활성화 선택을 위한 대형 </a:t>
            </a:r>
            <a:r>
              <a:rPr lang="ko-KR" altLang="en-US" dirty="0" err="1"/>
              <a:t>멀티플렉서</a:t>
            </a:r>
            <a:r>
              <a:rPr lang="ko-KR" altLang="en-US" dirty="0"/>
              <a:t> 필요 </a:t>
            </a:r>
            <a:r>
              <a:rPr lang="en-US" altLang="ko-KR" dirty="0"/>
              <a:t>-&gt; </a:t>
            </a:r>
            <a:r>
              <a:rPr lang="ko-KR" altLang="en-US" dirty="0"/>
              <a:t>하드웨어 오버헤드 초래</a:t>
            </a:r>
            <a:br>
              <a:rPr lang="en-US" altLang="ko-KR" dirty="0"/>
            </a:br>
            <a:r>
              <a:rPr lang="en-US" altLang="ko-KR" dirty="0"/>
              <a:t>+ </a:t>
            </a:r>
            <a:r>
              <a:rPr lang="ko-KR" altLang="en-US" dirty="0"/>
              <a:t>부하 불균형 분제</a:t>
            </a:r>
          </a:p>
        </p:txBody>
      </p:sp>
      <p:pic>
        <p:nvPicPr>
          <p:cNvPr id="5" name="그림 4" descr="텍스트, 도표, 폰트, 라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88994F03-389F-CE87-B777-FD63F934263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54442" y="4595192"/>
            <a:ext cx="9084415" cy="21348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2656206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29653C-348D-917E-003F-6E1D88B60C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3261EC9-0CB4-0362-5938-0F65E25687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81744" y="631372"/>
            <a:ext cx="3135086" cy="5606142"/>
          </a:xfrm>
        </p:spPr>
        <p:txBody>
          <a:bodyPr>
            <a:normAutofit/>
          </a:bodyPr>
          <a:lstStyle/>
          <a:p>
            <a:r>
              <a:rPr lang="en-US" altLang="ko-KR" dirty="0"/>
              <a:t>Background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E9252CA0-5650-FE1E-F172-A1024A2A2E4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741594" y="631371"/>
            <a:ext cx="7145605" cy="3744685"/>
          </a:xfrm>
        </p:spPr>
        <p:txBody>
          <a:bodyPr>
            <a:normAutofit/>
          </a:bodyPr>
          <a:lstStyle/>
          <a:p>
            <a:r>
              <a:rPr lang="en-US" altLang="ko-KR" dirty="0"/>
              <a:t>(d): </a:t>
            </a:r>
            <a:r>
              <a:rPr lang="en-US" altLang="ko-KR" dirty="0" err="1"/>
              <a:t>BitWave</a:t>
            </a:r>
            <a:r>
              <a:rPr lang="en-US" altLang="ko-KR" dirty="0"/>
              <a:t>: </a:t>
            </a:r>
            <a:r>
              <a:rPr lang="ko-KR" altLang="en-US" dirty="0"/>
              <a:t>열 단위로 </a:t>
            </a:r>
            <a:r>
              <a:rPr lang="en-US" altLang="ko-KR" dirty="0"/>
              <a:t>0</a:t>
            </a:r>
            <a:r>
              <a:rPr lang="ko-KR" altLang="en-US" dirty="0"/>
              <a:t>비트를 건너뜀</a:t>
            </a:r>
            <a:endParaRPr lang="en-US" altLang="ko-KR" dirty="0"/>
          </a:p>
          <a:p>
            <a:endParaRPr lang="en-US" altLang="ko-KR" dirty="0"/>
          </a:p>
          <a:p>
            <a:r>
              <a:rPr lang="en-US" altLang="ko-KR" dirty="0" err="1"/>
              <a:t>BirVert</a:t>
            </a:r>
            <a:r>
              <a:rPr lang="en-US" altLang="ko-KR" dirty="0"/>
              <a:t>: </a:t>
            </a:r>
            <a:r>
              <a:rPr lang="ko-KR" altLang="en-US" dirty="0"/>
              <a:t>가능한 많은 희소 비트 건너뜀 </a:t>
            </a:r>
            <a:r>
              <a:rPr lang="en-US" altLang="ko-KR" dirty="0"/>
              <a:t>+ </a:t>
            </a:r>
            <a:r>
              <a:rPr lang="ko-KR" altLang="en-US" dirty="0"/>
              <a:t>비트 직렬 작업 부하의 균형 맞추기 위해 노력 </a:t>
            </a:r>
            <a:endParaRPr lang="en-US" altLang="ko-KR" dirty="0"/>
          </a:p>
          <a:p>
            <a:r>
              <a:rPr lang="en-US" altLang="ko-KR" dirty="0"/>
              <a:t>If</a:t>
            </a:r>
            <a:r>
              <a:rPr lang="ko-KR" altLang="en-US" dirty="0"/>
              <a:t> 비트 열에 </a:t>
            </a:r>
            <a:r>
              <a:rPr lang="en-US" altLang="ko-KR" dirty="0"/>
              <a:t>0</a:t>
            </a:r>
            <a:r>
              <a:rPr lang="ko-KR" altLang="en-US" dirty="0"/>
              <a:t>이 많음 </a:t>
            </a:r>
            <a:r>
              <a:rPr lang="en-US" altLang="ko-KR" dirty="0"/>
              <a:t>-&gt; 0</a:t>
            </a:r>
            <a:r>
              <a:rPr lang="ko-KR" altLang="en-US" dirty="0"/>
              <a:t>비트 건너뜀</a:t>
            </a:r>
            <a:endParaRPr lang="en-US" altLang="ko-KR" dirty="0"/>
          </a:p>
          <a:p>
            <a:r>
              <a:rPr lang="en-US" altLang="ko-KR" dirty="0"/>
              <a:t>If </a:t>
            </a:r>
            <a:r>
              <a:rPr lang="ko-KR" altLang="en-US" dirty="0"/>
              <a:t>비트 열에 </a:t>
            </a:r>
            <a:r>
              <a:rPr lang="en-US" altLang="ko-KR" dirty="0"/>
              <a:t>0</a:t>
            </a:r>
            <a:r>
              <a:rPr lang="ko-KR" altLang="en-US" dirty="0"/>
              <a:t>이 적음 </a:t>
            </a:r>
            <a:r>
              <a:rPr lang="en-US" altLang="ko-KR" dirty="0"/>
              <a:t>-&gt; 1</a:t>
            </a:r>
            <a:r>
              <a:rPr lang="ko-KR" altLang="en-US" dirty="0"/>
              <a:t>비트를 건너뜀</a:t>
            </a:r>
          </a:p>
        </p:txBody>
      </p:sp>
      <p:pic>
        <p:nvPicPr>
          <p:cNvPr id="5" name="그림 4" descr="텍스트, 도표, 폰트, 라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6F182898-1CD3-0986-86AF-C3F21BE0F67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54442" y="4595192"/>
            <a:ext cx="9084415" cy="21348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405655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139B169-DEC9-4999-E242-7AC08AC708F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23562" y="685800"/>
            <a:ext cx="10493524" cy="1485900"/>
          </a:xfrm>
        </p:spPr>
        <p:txBody>
          <a:bodyPr>
            <a:normAutofit/>
          </a:bodyPr>
          <a:lstStyle/>
          <a:p>
            <a:r>
              <a:rPr lang="en-US" altLang="ko-KR" dirty="0"/>
              <a:t>Background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65545839-C3C3-9D3A-6547-E05F0B76AAC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23562" y="2286000"/>
            <a:ext cx="5072437" cy="3745832"/>
          </a:xfrm>
        </p:spPr>
        <p:txBody>
          <a:bodyPr>
            <a:normAutofit/>
          </a:bodyPr>
          <a:lstStyle/>
          <a:p>
            <a:r>
              <a:rPr lang="ko-KR" altLang="en-US" sz="1800" dirty="0"/>
              <a:t>대중적인 </a:t>
            </a:r>
            <a:r>
              <a:rPr lang="en-US" altLang="ko-KR" sz="1800" dirty="0"/>
              <a:t>8</a:t>
            </a:r>
            <a:r>
              <a:rPr lang="ko-KR" altLang="en-US" sz="1800" dirty="0"/>
              <a:t>비트 양자화 </a:t>
            </a:r>
            <a:r>
              <a:rPr lang="en-US" altLang="ko-KR" sz="1800" dirty="0"/>
              <a:t>DNN</a:t>
            </a:r>
            <a:r>
              <a:rPr lang="ko-KR" altLang="en-US" sz="1800" dirty="0"/>
              <a:t>에서 값 기반 가중치 희소성은 </a:t>
            </a:r>
            <a:r>
              <a:rPr lang="en-US" altLang="ko-KR" sz="1800" dirty="0"/>
              <a:t>5% </a:t>
            </a:r>
            <a:r>
              <a:rPr lang="ko-KR" altLang="en-US" sz="1800" dirty="0"/>
              <a:t>미만</a:t>
            </a:r>
            <a:endParaRPr lang="en-US" altLang="ko-KR" sz="1800" dirty="0"/>
          </a:p>
          <a:p>
            <a:r>
              <a:rPr lang="ko-KR" altLang="en-US" sz="1800" dirty="0"/>
              <a:t>비트 수준 희소성은 </a:t>
            </a:r>
            <a:r>
              <a:rPr lang="en-US" altLang="ko-KR" sz="1800" dirty="0"/>
              <a:t>50% </a:t>
            </a:r>
            <a:r>
              <a:rPr lang="ko-KR" altLang="en-US" sz="1800" dirty="0"/>
              <a:t>도달할 수  있음</a:t>
            </a:r>
            <a:endParaRPr lang="en-US" altLang="ko-KR" sz="1800" dirty="0"/>
          </a:p>
          <a:p>
            <a:r>
              <a:rPr lang="ko-KR" altLang="en-US" sz="1800" dirty="0"/>
              <a:t>비트 직렬 컴퓨팅은 부호</a:t>
            </a:r>
            <a:r>
              <a:rPr lang="en-US" altLang="ko-KR" sz="1800" dirty="0"/>
              <a:t>-</a:t>
            </a:r>
            <a:r>
              <a:rPr lang="ko-KR" altLang="en-US" sz="1800" dirty="0"/>
              <a:t>크기 산술 채택에 여전히 문제 있음</a:t>
            </a:r>
            <a:br>
              <a:rPr lang="en-US" altLang="ko-KR" sz="1800" dirty="0"/>
            </a:br>
            <a:r>
              <a:rPr lang="en-US" altLang="ko-KR" sz="1800" dirty="0"/>
              <a:t>1) </a:t>
            </a:r>
            <a:r>
              <a:rPr lang="ko-KR" altLang="en-US" sz="1800" dirty="0"/>
              <a:t>모든 비트 직렬 곱셈기는 부분합 생성을 위해 </a:t>
            </a:r>
            <a:r>
              <a:rPr lang="en-US" altLang="ko-KR" sz="1800" dirty="0"/>
              <a:t>2</a:t>
            </a:r>
            <a:r>
              <a:rPr lang="ko-KR" altLang="en-US" sz="1800" dirty="0"/>
              <a:t>의 보수 변환기 필요</a:t>
            </a:r>
            <a:br>
              <a:rPr lang="en-US" altLang="ko-KR" sz="1800" dirty="0"/>
            </a:br>
            <a:r>
              <a:rPr lang="en-US" altLang="ko-KR" sz="1800" dirty="0"/>
              <a:t>2) </a:t>
            </a:r>
            <a:r>
              <a:rPr lang="ko-KR" altLang="en-US" sz="1800" dirty="0"/>
              <a:t>부하 불균형과 동기화 오버헤드 초래</a:t>
            </a:r>
            <a:endParaRPr lang="en-US" altLang="ko-KR" sz="1800" dirty="0"/>
          </a:p>
          <a:p>
            <a:r>
              <a:rPr lang="en-US" altLang="ko-KR" sz="1800" dirty="0"/>
              <a:t>BBS</a:t>
            </a:r>
            <a:r>
              <a:rPr lang="ko-KR" altLang="en-US" sz="1800" dirty="0"/>
              <a:t>는 </a:t>
            </a:r>
            <a:r>
              <a:rPr lang="en-US" altLang="ko-KR" sz="1800" dirty="0"/>
              <a:t>2</a:t>
            </a:r>
            <a:r>
              <a:rPr lang="ko-KR" altLang="en-US" sz="1800" dirty="0"/>
              <a:t>의 보수 이진 표현 유지 </a:t>
            </a:r>
            <a:r>
              <a:rPr lang="en-US" altLang="ko-KR" sz="1800" dirty="0"/>
              <a:t>+ </a:t>
            </a:r>
            <a:r>
              <a:rPr lang="ko-KR" altLang="en-US" sz="1800" dirty="0"/>
              <a:t>발생 빈도가 더 높은 </a:t>
            </a:r>
            <a:r>
              <a:rPr lang="en-US" altLang="ko-KR" sz="1800" dirty="0"/>
              <a:t>0 </a:t>
            </a:r>
            <a:r>
              <a:rPr lang="ko-KR" altLang="en-US" sz="1800" dirty="0"/>
              <a:t>또는 </a:t>
            </a:r>
            <a:r>
              <a:rPr lang="en-US" altLang="ko-KR" sz="1800" dirty="0"/>
              <a:t>1</a:t>
            </a:r>
            <a:r>
              <a:rPr lang="ko-KR" altLang="en-US" sz="1800" dirty="0"/>
              <a:t>을 희소 비트로 취급</a:t>
            </a:r>
            <a:br>
              <a:rPr lang="en-US" altLang="ko-KR" sz="1800" dirty="0"/>
            </a:br>
            <a:r>
              <a:rPr lang="en-US" altLang="ko-KR" sz="1800" dirty="0"/>
              <a:t>-&gt; </a:t>
            </a:r>
            <a:r>
              <a:rPr lang="ko-KR" altLang="en-US" sz="1800" dirty="0"/>
              <a:t>모든 비트 벡터가 적어도 </a:t>
            </a:r>
            <a:r>
              <a:rPr lang="en-US" altLang="ko-KR" sz="1800" dirty="0"/>
              <a:t>50% </a:t>
            </a:r>
            <a:r>
              <a:rPr lang="ko-KR" altLang="en-US" sz="1800" dirty="0"/>
              <a:t>비트 희소성 보장</a:t>
            </a:r>
            <a:r>
              <a:rPr lang="en-US" altLang="ko-KR" sz="1800" dirty="0"/>
              <a:t>+ </a:t>
            </a:r>
            <a:r>
              <a:rPr lang="ko-KR" altLang="en-US" sz="1800" dirty="0"/>
              <a:t>서로 다른</a:t>
            </a:r>
            <a:r>
              <a:rPr lang="en-US" altLang="ko-KR" sz="1800" dirty="0"/>
              <a:t> PE </a:t>
            </a:r>
            <a:r>
              <a:rPr lang="ko-KR" altLang="en-US" sz="1800" dirty="0"/>
              <a:t>간에 균형 잡힌 작업 부하</a:t>
            </a:r>
          </a:p>
        </p:txBody>
      </p:sp>
      <p:pic>
        <p:nvPicPr>
          <p:cNvPr id="5" name="그림 4" descr="텍스트, 스크린샷, 라인, 평행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2EBB8C02-DD10-D685-B72C-304EA2AA3F8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11641" y="3136737"/>
            <a:ext cx="5105445" cy="19696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6139860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3362DFFC-4DCC-48EE-B781-94D04B95F1E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376"/>
            <a:ext cx="5303520" cy="6857624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8ED2EAD8-93F6-2245-1035-4B948A8912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81" y="791570"/>
            <a:ext cx="4018839" cy="5262390"/>
          </a:xfrm>
        </p:spPr>
        <p:txBody>
          <a:bodyPr anchor="ctr">
            <a:normAutofit/>
          </a:bodyPr>
          <a:lstStyle/>
          <a:p>
            <a:pPr algn="r"/>
            <a:r>
              <a:rPr lang="en-US" altLang="ko-KR" sz="5400" dirty="0">
                <a:solidFill>
                  <a:schemeClr val="bg2"/>
                </a:solidFill>
              </a:rPr>
              <a:t>BBS: Bi-Directional Bit-Level Sparsity</a:t>
            </a:r>
            <a:br>
              <a:rPr lang="en-US" altLang="ko-KR" sz="5400" dirty="0">
                <a:solidFill>
                  <a:schemeClr val="bg2"/>
                </a:solidFill>
              </a:rPr>
            </a:br>
            <a:endParaRPr lang="ko-KR" altLang="en-US" sz="5400" dirty="0">
              <a:solidFill>
                <a:schemeClr val="bg2"/>
              </a:solidFill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18B8B265-E68C-4B64-9238-781F0102C57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303520" y="376"/>
            <a:ext cx="228600" cy="6858000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ko-KR" altLang="en-US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DA3FC56E-067A-1BCB-AD10-DBF54B1BA29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76720" y="791570"/>
            <a:ext cx="4892308" cy="5262390"/>
          </a:xfrm>
        </p:spPr>
        <p:txBody>
          <a:bodyPr anchor="ctr">
            <a:normAutofit/>
          </a:bodyPr>
          <a:lstStyle/>
          <a:p>
            <a:endParaRPr lang="ko-KR" altLang="en-US" sz="1800" dirty="0"/>
          </a:p>
        </p:txBody>
      </p:sp>
    </p:spTree>
    <p:extLst>
      <p:ext uri="{BB962C8B-B14F-4D97-AF65-F5344CB8AC3E}">
        <p14:creationId xmlns:p14="http://schemas.microsoft.com/office/powerpoint/2010/main" val="36634152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D02424E-C199-95F8-FB5C-EC4E1032C2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90650" y="685800"/>
            <a:ext cx="9886950" cy="1485900"/>
          </a:xfrm>
        </p:spPr>
        <p:txBody>
          <a:bodyPr>
            <a:normAutofit/>
          </a:bodyPr>
          <a:lstStyle/>
          <a:p>
            <a:r>
              <a:rPr lang="en-US" altLang="ko-KR" dirty="0"/>
              <a:t>BBS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F7BF90EF-0953-91BA-1CD7-432DF5BBEA2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90648" y="1540042"/>
            <a:ext cx="6261435" cy="4327358"/>
          </a:xfrm>
        </p:spPr>
        <p:txBody>
          <a:bodyPr>
            <a:normAutofit/>
          </a:bodyPr>
          <a:lstStyle/>
          <a:p>
            <a:r>
              <a:rPr lang="en-US" altLang="ko-KR" dirty="0"/>
              <a:t>N: </a:t>
            </a:r>
            <a:r>
              <a:rPr lang="ko-KR" altLang="en-US" dirty="0"/>
              <a:t>그룹 크기</a:t>
            </a:r>
            <a:r>
              <a:rPr lang="en-US" altLang="ko-KR" dirty="0"/>
              <a:t>(</a:t>
            </a:r>
            <a:r>
              <a:rPr lang="ko-KR" altLang="en-US" dirty="0"/>
              <a:t>그룹</a:t>
            </a:r>
            <a:r>
              <a:rPr lang="en-US" altLang="ko-KR" dirty="0"/>
              <a:t>: </a:t>
            </a:r>
            <a:r>
              <a:rPr lang="ko-KR" altLang="en-US" dirty="0"/>
              <a:t>동일 내적 출력에 기여하는 여러 가중치 또는 활성화</a:t>
            </a:r>
            <a:r>
              <a:rPr lang="en-US" altLang="ko-KR" dirty="0"/>
              <a:t>)</a:t>
            </a:r>
          </a:p>
          <a:p>
            <a:r>
              <a:rPr lang="ko-KR" altLang="en-US" dirty="0"/>
              <a:t>가중치의 모든 비트는 </a:t>
            </a:r>
            <a:r>
              <a:rPr lang="en-US" altLang="ko-KR" dirty="0"/>
              <a:t>0 or 1</a:t>
            </a:r>
          </a:p>
          <a:p>
            <a:r>
              <a:rPr lang="en-US" altLang="ko-KR" dirty="0"/>
              <a:t>If </a:t>
            </a:r>
            <a:r>
              <a:rPr lang="ko-KR" altLang="en-US" dirty="0"/>
              <a:t>비트 벡터에 </a:t>
            </a:r>
            <a:r>
              <a:rPr lang="en-US" altLang="ko-KR" dirty="0"/>
              <a:t>50% </a:t>
            </a:r>
            <a:r>
              <a:rPr lang="ko-KR" altLang="en-US" dirty="0"/>
              <a:t>이상의 </a:t>
            </a:r>
            <a:r>
              <a:rPr lang="en-US" altLang="ko-KR" dirty="0"/>
              <a:t>0</a:t>
            </a:r>
            <a:r>
              <a:rPr lang="ko-KR" altLang="en-US" dirty="0"/>
              <a:t>비트</a:t>
            </a:r>
            <a:r>
              <a:rPr lang="en-US" altLang="ko-KR" dirty="0"/>
              <a:t>: </a:t>
            </a:r>
            <a:r>
              <a:rPr lang="ko-KR" altLang="en-US" dirty="0"/>
              <a:t>연산 중에 건너뜀</a:t>
            </a:r>
            <a:endParaRPr lang="en-US" altLang="ko-KR" dirty="0"/>
          </a:p>
          <a:p>
            <a:r>
              <a:rPr lang="en-US" altLang="ko-KR" dirty="0"/>
              <a:t>Else: </a:t>
            </a:r>
            <a:r>
              <a:rPr lang="ko-KR" altLang="en-US" dirty="0"/>
              <a:t>비트 벡터 반전시킴 </a:t>
            </a:r>
            <a:r>
              <a:rPr lang="en-US" altLang="ko-KR" dirty="0"/>
              <a:t>-&gt; </a:t>
            </a:r>
            <a:r>
              <a:rPr lang="ko-KR" altLang="en-US" dirty="0"/>
              <a:t>전체 합에서 해당 비트 직렬 내적 값 뺌</a:t>
            </a:r>
            <a:endParaRPr lang="en-US" altLang="ko-KR" dirty="0"/>
          </a:p>
          <a:p>
            <a:r>
              <a:rPr lang="ko-KR" altLang="en-US" dirty="0"/>
              <a:t>이 </a:t>
            </a:r>
            <a:r>
              <a:rPr lang="en-US" altLang="ko-KR" dirty="0"/>
              <a:t>BBS </a:t>
            </a:r>
            <a:r>
              <a:rPr lang="ko-KR" altLang="en-US" dirty="0"/>
              <a:t>아이디어는 부하 균형을 개선할 수 있음</a:t>
            </a:r>
          </a:p>
        </p:txBody>
      </p:sp>
      <p:pic>
        <p:nvPicPr>
          <p:cNvPr id="7" name="그림 6" descr="폰트, 도표, 화이트, 종이접기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4210F1E2-B520-5517-E3CF-A0194E18CAA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61435" y="4056646"/>
            <a:ext cx="3211495" cy="1563649"/>
          </a:xfrm>
          <a:prstGeom prst="rect">
            <a:avLst/>
          </a:prstGeom>
        </p:spPr>
      </p:pic>
      <p:pic>
        <p:nvPicPr>
          <p:cNvPr id="5" name="그림 4" descr="폰트, 화이트, 도표, 디자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5D26E12D-CBBF-F214-C07C-7715A1BA48D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61436" y="2286000"/>
            <a:ext cx="3211495" cy="684236"/>
          </a:xfrm>
          <a:prstGeom prst="rect">
            <a:avLst/>
          </a:prstGeom>
        </p:spPr>
      </p:pic>
      <p:pic>
        <p:nvPicPr>
          <p:cNvPr id="9" name="그림 8" descr="텍스트, 스크린샷, 라인, 평행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0D4B2C35-609A-5C48-2A86-53F259E72B4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60833" y="4420145"/>
            <a:ext cx="6191250" cy="24003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0347244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DDD7E26-E0CF-4298-A7B4-495D54B370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600" y="685800"/>
            <a:ext cx="9601200" cy="757989"/>
          </a:xfrm>
        </p:spPr>
        <p:txBody>
          <a:bodyPr/>
          <a:lstStyle/>
          <a:p>
            <a:r>
              <a:rPr lang="en-US" altLang="ko-KR" dirty="0"/>
              <a:t>BBS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341EFFDE-8234-8155-D28D-BBE71E190C0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71600" y="1443789"/>
            <a:ext cx="9873916" cy="4423611"/>
          </a:xfrm>
        </p:spPr>
        <p:txBody>
          <a:bodyPr/>
          <a:lstStyle/>
          <a:p>
            <a:r>
              <a:rPr lang="ko-KR" altLang="en-US" dirty="0"/>
              <a:t>비트 수준 바이너리 </a:t>
            </a:r>
            <a:r>
              <a:rPr lang="ko-KR" altLang="en-US" dirty="0" err="1"/>
              <a:t>프루닝</a:t>
            </a:r>
            <a:r>
              <a:rPr lang="en-US" altLang="ko-KR" dirty="0"/>
              <a:t>: </a:t>
            </a:r>
            <a:r>
              <a:rPr lang="ko-KR" altLang="en-US" dirty="0"/>
              <a:t>가중치 그룹 내에서 모두 </a:t>
            </a:r>
            <a:r>
              <a:rPr lang="en-US" altLang="ko-KR" dirty="0"/>
              <a:t>0</a:t>
            </a:r>
            <a:r>
              <a:rPr lang="ko-KR" altLang="en-US" dirty="0"/>
              <a:t>비트이거나 모두 </a:t>
            </a:r>
            <a:r>
              <a:rPr lang="en-US" altLang="ko-KR" dirty="0"/>
              <a:t>1</a:t>
            </a:r>
            <a:r>
              <a:rPr lang="ko-KR" altLang="en-US" dirty="0"/>
              <a:t>비트인 비트 열 제거하는 기술</a:t>
            </a:r>
            <a:endParaRPr lang="en-US" altLang="ko-KR" dirty="0"/>
          </a:p>
          <a:p>
            <a:r>
              <a:rPr lang="ko-KR" altLang="en-US" dirty="0"/>
              <a:t>반올림 평균화 기반 </a:t>
            </a:r>
            <a:r>
              <a:rPr lang="en-US" altLang="ko-KR" dirty="0"/>
              <a:t>BBS</a:t>
            </a:r>
            <a:br>
              <a:rPr lang="en-US" altLang="ko-KR" dirty="0"/>
            </a:br>
            <a:r>
              <a:rPr lang="en-US" altLang="ko-KR" dirty="0"/>
              <a:t>1) </a:t>
            </a:r>
            <a:r>
              <a:rPr lang="ko-KR" altLang="en-US" dirty="0"/>
              <a:t>최상위 비트 열과 내용이 동일하며 바로 뒤따라오는 중복 비트 열 확인</a:t>
            </a:r>
            <a:br>
              <a:rPr lang="en-US" altLang="ko-KR" dirty="0"/>
            </a:br>
            <a:r>
              <a:rPr lang="en-US" altLang="ko-KR" dirty="0"/>
              <a:t>2) </a:t>
            </a:r>
            <a:r>
              <a:rPr lang="ko-KR" altLang="en-US" dirty="0"/>
              <a:t>원래 가중치의 하위 </a:t>
            </a:r>
            <a:r>
              <a:rPr lang="en-US" altLang="ko-KR" dirty="0"/>
              <a:t>3</a:t>
            </a:r>
            <a:r>
              <a:rPr lang="ko-KR" altLang="en-US" dirty="0"/>
              <a:t>개 비트가 나타내는 값들의 반올림 평균을 계산</a:t>
            </a:r>
            <a:br>
              <a:rPr lang="en-US" altLang="ko-KR" dirty="0"/>
            </a:br>
            <a:r>
              <a:rPr lang="en-US" altLang="ko-KR" dirty="0"/>
              <a:t>3) </a:t>
            </a:r>
            <a:r>
              <a:rPr lang="ko-KR" altLang="en-US" dirty="0"/>
              <a:t>남은 </a:t>
            </a:r>
            <a:r>
              <a:rPr lang="en-US" altLang="ko-KR" dirty="0"/>
              <a:t>4</a:t>
            </a:r>
            <a:r>
              <a:rPr lang="ko-KR" altLang="en-US" dirty="0"/>
              <a:t>개의 비트 열과 </a:t>
            </a:r>
            <a:r>
              <a:rPr lang="en-US" altLang="ko-KR" dirty="0"/>
              <a:t>8</a:t>
            </a:r>
            <a:r>
              <a:rPr lang="ko-KR" altLang="en-US" dirty="0"/>
              <a:t>비트 인코딩 메타데이터 저장하여 원래 가중치 그룹 압축</a:t>
            </a:r>
          </a:p>
        </p:txBody>
      </p:sp>
      <p:pic>
        <p:nvPicPr>
          <p:cNvPr id="5" name="그림 4" descr="텍스트, 스크린샷, 폰트, 번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208A097F-60E1-1EFA-3DD2-1A75CFD0DB0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86225" y="5181600"/>
            <a:ext cx="7762875" cy="1371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2732026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B88CE86-7F54-0552-87F7-D051B26268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600" y="685800"/>
            <a:ext cx="9601200" cy="790074"/>
          </a:xfrm>
        </p:spPr>
        <p:txBody>
          <a:bodyPr/>
          <a:lstStyle/>
          <a:p>
            <a:r>
              <a:rPr lang="en-US" altLang="ko-KR" dirty="0"/>
              <a:t>BBS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60F2BB34-94E2-529C-4D21-19C920B48B4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71599" y="1475874"/>
            <a:ext cx="9825789" cy="4391526"/>
          </a:xfrm>
        </p:spPr>
        <p:txBody>
          <a:bodyPr/>
          <a:lstStyle/>
          <a:p>
            <a:r>
              <a:rPr lang="ko-KR" altLang="en-US" dirty="0"/>
              <a:t>제로 포인트 </a:t>
            </a:r>
            <a:r>
              <a:rPr lang="ko-KR" altLang="en-US" dirty="0" err="1"/>
              <a:t>시프팅</a:t>
            </a:r>
            <a:r>
              <a:rPr lang="ko-KR" altLang="en-US" dirty="0"/>
              <a:t> 기반 </a:t>
            </a:r>
            <a:r>
              <a:rPr lang="en-US" altLang="ko-KR" dirty="0"/>
              <a:t>BBS</a:t>
            </a:r>
          </a:p>
          <a:p>
            <a:r>
              <a:rPr lang="en-US" altLang="ko-KR" dirty="0"/>
              <a:t>1) </a:t>
            </a:r>
            <a:r>
              <a:rPr lang="ko-KR" altLang="en-US" dirty="0"/>
              <a:t>상수를 더한다고 가정 </a:t>
            </a:r>
            <a:r>
              <a:rPr lang="en-US" altLang="ko-KR" dirty="0"/>
              <a:t>=&gt; </a:t>
            </a:r>
            <a:r>
              <a:rPr lang="ko-KR" altLang="en-US" dirty="0"/>
              <a:t>모든 숫자의 이진 내용 변경</a:t>
            </a:r>
            <a:br>
              <a:rPr lang="en-US" altLang="ko-KR" dirty="0"/>
            </a:br>
            <a:r>
              <a:rPr lang="en-US" altLang="ko-KR" dirty="0"/>
              <a:t>2) 4</a:t>
            </a:r>
            <a:r>
              <a:rPr lang="ko-KR" altLang="en-US" dirty="0"/>
              <a:t>개의 하위 비트 열 </a:t>
            </a:r>
            <a:r>
              <a:rPr lang="ko-KR" altLang="en-US" dirty="0" err="1"/>
              <a:t>프루닝</a:t>
            </a:r>
            <a:r>
              <a:rPr lang="en-US" altLang="ko-KR" dirty="0"/>
              <a:t>(</a:t>
            </a:r>
            <a:r>
              <a:rPr lang="ko-KR" altLang="en-US" dirty="0"/>
              <a:t>제거</a:t>
            </a:r>
            <a:r>
              <a:rPr lang="en-US" altLang="ko-KR" dirty="0"/>
              <a:t>)</a:t>
            </a:r>
            <a:r>
              <a:rPr lang="ko-KR" altLang="en-US" dirty="0" err="1"/>
              <a:t>할때</a:t>
            </a:r>
            <a:r>
              <a:rPr lang="ko-KR" altLang="en-US" dirty="0"/>
              <a:t> 숫자의 하위 </a:t>
            </a:r>
            <a:r>
              <a:rPr lang="en-US" altLang="ko-KR" dirty="0"/>
              <a:t>4</a:t>
            </a:r>
            <a:r>
              <a:rPr lang="ko-KR" altLang="en-US" dirty="0"/>
              <a:t>비트 직접 </a:t>
            </a:r>
            <a:r>
              <a:rPr lang="en-US" altLang="ko-KR" dirty="0"/>
              <a:t>0</a:t>
            </a:r>
            <a:r>
              <a:rPr lang="ko-KR" altLang="en-US" dirty="0"/>
              <a:t>으로 </a:t>
            </a:r>
            <a:r>
              <a:rPr lang="ko-KR" altLang="en-US" dirty="0" err="1"/>
              <a:t>만듬</a:t>
            </a:r>
            <a:r>
              <a:rPr lang="ko-KR" altLang="en-US" dirty="0"/>
              <a:t> </a:t>
            </a:r>
            <a:r>
              <a:rPr lang="en-US" altLang="ko-KR" dirty="0"/>
              <a:t>or </a:t>
            </a:r>
            <a:r>
              <a:rPr lang="ko-KR" altLang="en-US" dirty="0"/>
              <a:t>상위 비트로 반올림</a:t>
            </a:r>
            <a:br>
              <a:rPr lang="en-US" altLang="ko-KR" dirty="0"/>
            </a:br>
            <a:r>
              <a:rPr lang="en-US" altLang="ko-KR" dirty="0"/>
              <a:t>3) </a:t>
            </a:r>
            <a:r>
              <a:rPr lang="ko-KR" altLang="en-US" dirty="0"/>
              <a:t>바이너리 </a:t>
            </a:r>
            <a:r>
              <a:rPr lang="ko-KR" altLang="en-US" dirty="0" err="1"/>
              <a:t>프루닝</a:t>
            </a:r>
            <a:r>
              <a:rPr lang="ko-KR" altLang="en-US" dirty="0"/>
              <a:t> 후의 실제 값 보여줌 </a:t>
            </a:r>
            <a:r>
              <a:rPr lang="en-US" altLang="ko-KR" dirty="0"/>
              <a:t>-&gt; </a:t>
            </a:r>
            <a:r>
              <a:rPr lang="ko-KR" altLang="en-US" dirty="0"/>
              <a:t>새로운 제로 포인트 인코딩 메타데이터에 저장</a:t>
            </a:r>
          </a:p>
        </p:txBody>
      </p:sp>
      <p:pic>
        <p:nvPicPr>
          <p:cNvPr id="5" name="그림 4" descr="텍스트, 스크린샷, 폰트, 번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94396AA1-3213-8F1D-9009-2F4EDDBA1D7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07030" y="5253037"/>
            <a:ext cx="7753350" cy="12287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9269960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624456F-7DE0-E953-7631-831C7974CB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BBS</a:t>
            </a:r>
            <a:endParaRPr lang="ko-KR" altLang="en-US" dirty="0"/>
          </a:p>
        </p:txBody>
      </p:sp>
      <p:pic>
        <p:nvPicPr>
          <p:cNvPr id="5" name="내용 개체 틀 4" descr="텍스트, 스크린샷, 폰트, 번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20093B23-8890-0E0C-3C39-96488777346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640573" y="1836821"/>
            <a:ext cx="5063253" cy="44723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78712241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3362DFFC-4DCC-48EE-B781-94D04B95F1E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376"/>
            <a:ext cx="5303520" cy="6857624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4710531D-5D5B-6136-0E19-47F9303C65D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81" y="791570"/>
            <a:ext cx="4018839" cy="5262390"/>
          </a:xfrm>
        </p:spPr>
        <p:txBody>
          <a:bodyPr anchor="ctr">
            <a:normAutofit/>
          </a:bodyPr>
          <a:lstStyle/>
          <a:p>
            <a:pPr algn="r"/>
            <a:r>
              <a:rPr lang="en-US" altLang="ko-KR" sz="5400">
                <a:solidFill>
                  <a:schemeClr val="bg2"/>
                </a:solidFill>
              </a:rPr>
              <a:t>Bitvert</a:t>
            </a:r>
            <a:r>
              <a:rPr lang="en-US" altLang="ko-KR" sz="5400" dirty="0">
                <a:solidFill>
                  <a:schemeClr val="bg2"/>
                </a:solidFill>
              </a:rPr>
              <a:t> Hardware Architecture</a:t>
            </a:r>
            <a:br>
              <a:rPr lang="en-US" altLang="ko-KR" sz="5400" dirty="0">
                <a:solidFill>
                  <a:schemeClr val="bg2"/>
                </a:solidFill>
              </a:rPr>
            </a:br>
            <a:endParaRPr lang="ko-KR" altLang="en-US" sz="5400" dirty="0">
              <a:solidFill>
                <a:schemeClr val="bg2"/>
              </a:solidFill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18B8B265-E68C-4B64-9238-781F0102C57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303520" y="376"/>
            <a:ext cx="228600" cy="6858000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ko-KR" altLang="en-US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E78F30F4-68D6-825A-8731-EC48511E203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76720" y="791570"/>
            <a:ext cx="4892308" cy="5262390"/>
          </a:xfrm>
        </p:spPr>
        <p:txBody>
          <a:bodyPr anchor="ctr">
            <a:normAutofit/>
          </a:bodyPr>
          <a:lstStyle/>
          <a:p>
            <a:endParaRPr lang="ko-KR" altLang="en-US" sz="1800"/>
          </a:p>
        </p:txBody>
      </p:sp>
    </p:spTree>
    <p:extLst>
      <p:ext uri="{BB962C8B-B14F-4D97-AF65-F5344CB8AC3E}">
        <p14:creationId xmlns:p14="http://schemas.microsoft.com/office/powerpoint/2010/main" val="2852563166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3362DFFC-4DCC-48EE-B781-94D04B95F1E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376"/>
            <a:ext cx="5303520" cy="6857624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2BEBB1DD-45F0-BDB8-C3C8-3E477DBFB7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81" y="791570"/>
            <a:ext cx="4018839" cy="5262390"/>
          </a:xfrm>
        </p:spPr>
        <p:txBody>
          <a:bodyPr anchor="ctr">
            <a:normAutofit/>
          </a:bodyPr>
          <a:lstStyle/>
          <a:p>
            <a:pPr algn="r"/>
            <a:r>
              <a:rPr lang="en-US" altLang="ko-KR" sz="3000" dirty="0">
                <a:solidFill>
                  <a:schemeClr val="bg2"/>
                </a:solidFill>
              </a:rPr>
              <a:t>Evaluation/Conclusion</a:t>
            </a:r>
            <a:endParaRPr lang="ko-KR" altLang="en-US" sz="3000" dirty="0">
              <a:solidFill>
                <a:schemeClr val="bg2"/>
              </a:solidFill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18B8B265-E68C-4B64-9238-781F0102C57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303520" y="376"/>
            <a:ext cx="228600" cy="6858000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ko-KR" altLang="en-US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3047FDF5-719C-366E-87C7-691AE3B8854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76720" y="791570"/>
            <a:ext cx="4892308" cy="5262390"/>
          </a:xfrm>
        </p:spPr>
        <p:txBody>
          <a:bodyPr anchor="ctr">
            <a:normAutofit/>
          </a:bodyPr>
          <a:lstStyle/>
          <a:p>
            <a:endParaRPr lang="ko-KR" altLang="en-US" sz="1800"/>
          </a:p>
        </p:txBody>
      </p:sp>
    </p:spTree>
    <p:extLst>
      <p:ext uri="{BB962C8B-B14F-4D97-AF65-F5344CB8AC3E}">
        <p14:creationId xmlns:p14="http://schemas.microsoft.com/office/powerpoint/2010/main" val="2255093605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DC59B6E-DF37-B946-4E7A-8997EA44A2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600" y="685800"/>
            <a:ext cx="9601200" cy="838200"/>
          </a:xfrm>
        </p:spPr>
        <p:txBody>
          <a:bodyPr/>
          <a:lstStyle/>
          <a:p>
            <a:r>
              <a:rPr lang="en-US" altLang="ko-KR" dirty="0"/>
              <a:t>Evaluation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B8C86417-CE1A-F442-85BA-51B9C5595E8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71600" y="1524000"/>
            <a:ext cx="9601200" cy="4343400"/>
          </a:xfrm>
        </p:spPr>
        <p:txBody>
          <a:bodyPr/>
          <a:lstStyle/>
          <a:p>
            <a:r>
              <a:rPr lang="ko-KR" altLang="en-US" dirty="0"/>
              <a:t>보통 모델 양자화 시 실제 이미지 데이터 필요</a:t>
            </a:r>
            <a:br>
              <a:rPr lang="en-US" altLang="ko-KR" dirty="0"/>
            </a:br>
            <a:r>
              <a:rPr lang="en-US" altLang="ko-KR" dirty="0"/>
              <a:t>but BBS</a:t>
            </a:r>
            <a:r>
              <a:rPr lang="ko-KR" altLang="en-US" dirty="0"/>
              <a:t>는 데이터 실제 이미지 데이터 없이도 정확도 유지</a:t>
            </a:r>
            <a:endParaRPr lang="en-US" altLang="ko-KR" dirty="0"/>
          </a:p>
          <a:p>
            <a:r>
              <a:rPr lang="ko-KR" altLang="en-US" dirty="0"/>
              <a:t>속도도 </a:t>
            </a:r>
            <a:r>
              <a:rPr lang="en-US" altLang="ko-KR" dirty="0"/>
              <a:t>3.03</a:t>
            </a:r>
            <a:r>
              <a:rPr lang="ko-KR" altLang="en-US" dirty="0"/>
              <a:t>배 향상 </a:t>
            </a:r>
            <a:r>
              <a:rPr lang="en-US" altLang="ko-KR" dirty="0"/>
              <a:t>+ </a:t>
            </a:r>
            <a:r>
              <a:rPr lang="ko-KR" altLang="en-US" dirty="0"/>
              <a:t>에너지도 </a:t>
            </a:r>
            <a:r>
              <a:rPr lang="en-US" altLang="ko-KR" dirty="0"/>
              <a:t>2.44</a:t>
            </a:r>
            <a:r>
              <a:rPr lang="ko-KR" altLang="en-US" dirty="0"/>
              <a:t>배 절감</a:t>
            </a:r>
            <a:endParaRPr lang="en-US" altLang="ko-KR" dirty="0"/>
          </a:p>
          <a:p>
            <a:r>
              <a:rPr lang="en-US" altLang="ko-KR" dirty="0" err="1"/>
              <a:t>BitVert</a:t>
            </a:r>
            <a:r>
              <a:rPr lang="ko-KR" altLang="en-US" dirty="0"/>
              <a:t>는 </a:t>
            </a:r>
            <a:r>
              <a:rPr lang="en-US" altLang="ko-KR" dirty="0"/>
              <a:t>BBS</a:t>
            </a:r>
            <a:r>
              <a:rPr lang="ko-KR" altLang="en-US" dirty="0"/>
              <a:t>의 이론인 </a:t>
            </a:r>
            <a:r>
              <a:rPr lang="en-US" altLang="ko-KR" dirty="0"/>
              <a:t>50%</a:t>
            </a:r>
            <a:r>
              <a:rPr lang="ko-KR" altLang="en-US" dirty="0"/>
              <a:t>를 보장하는 이론이 적용돼</a:t>
            </a:r>
            <a:r>
              <a:rPr lang="en-US" altLang="ko-KR" dirty="0"/>
              <a:t>0</a:t>
            </a:r>
            <a:r>
              <a:rPr lang="ko-KR" altLang="en-US" dirty="0"/>
              <a:t>서 병렬 처리 효율이 극대화됨</a:t>
            </a:r>
            <a:endParaRPr lang="en-US" altLang="ko-KR" dirty="0"/>
          </a:p>
          <a:p>
            <a:r>
              <a:rPr lang="ko-KR" altLang="en-US" dirty="0"/>
              <a:t>또한</a:t>
            </a:r>
            <a:r>
              <a:rPr lang="en-US" altLang="ko-KR" dirty="0"/>
              <a:t>, </a:t>
            </a:r>
            <a:r>
              <a:rPr lang="ko-KR" altLang="en-US" dirty="0"/>
              <a:t>더 적은 오차로 더 높은 효율을 냄</a:t>
            </a:r>
          </a:p>
        </p:txBody>
      </p:sp>
      <p:pic>
        <p:nvPicPr>
          <p:cNvPr id="5" name="그림 4" descr="텍스트, 스크린샷, 도표, 지도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0BF632BA-099C-378E-094D-E07759E05E1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72425" y="4171950"/>
            <a:ext cx="4219575" cy="2686050"/>
          </a:xfrm>
          <a:prstGeom prst="rect">
            <a:avLst/>
          </a:prstGeom>
        </p:spPr>
      </p:pic>
      <p:pic>
        <p:nvPicPr>
          <p:cNvPr id="7" name="그림 6" descr="텍스트, 스크린샷, 도표, 그래프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A32283A7-6BDB-E65E-728A-639D781EBDE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0601" y="3886920"/>
            <a:ext cx="5442284" cy="29710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36533418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66B6FED-1858-F2FB-D53C-5E7A1F55CD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600" y="685800"/>
            <a:ext cx="9601200" cy="677779"/>
          </a:xfrm>
        </p:spPr>
        <p:txBody>
          <a:bodyPr>
            <a:normAutofit fontScale="90000"/>
          </a:bodyPr>
          <a:lstStyle/>
          <a:p>
            <a:r>
              <a:rPr lang="en-US" altLang="ko-KR" dirty="0"/>
              <a:t>Conclusion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074287B-0AEC-8CC7-1EE3-DBBF26F59EE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71600" y="1363579"/>
            <a:ext cx="9601200" cy="4503821"/>
          </a:xfrm>
        </p:spPr>
        <p:txBody>
          <a:bodyPr/>
          <a:lstStyle/>
          <a:p>
            <a:r>
              <a:rPr lang="en-US" altLang="ko-KR" dirty="0"/>
              <a:t>BBS</a:t>
            </a:r>
            <a:r>
              <a:rPr lang="ko-KR" altLang="en-US" dirty="0"/>
              <a:t>는 압축되지 않은 모델의 통계적 특성 최대한 보존 </a:t>
            </a:r>
            <a:r>
              <a:rPr lang="en-US" altLang="ko-KR" dirty="0"/>
              <a:t>+ </a:t>
            </a:r>
            <a:r>
              <a:rPr lang="ko-KR" altLang="en-US" dirty="0"/>
              <a:t>바이너리 </a:t>
            </a:r>
            <a:r>
              <a:rPr lang="ko-KR" altLang="en-US" dirty="0" err="1"/>
              <a:t>프루닝을</a:t>
            </a:r>
            <a:r>
              <a:rPr lang="ko-KR" altLang="en-US" dirty="0"/>
              <a:t> 통해 사후 학습 </a:t>
            </a:r>
            <a:r>
              <a:rPr lang="en-US" altLang="ko-KR" dirty="0"/>
              <a:t>DNN </a:t>
            </a:r>
            <a:r>
              <a:rPr lang="ko-KR" altLang="en-US" dirty="0"/>
              <a:t>압축의 한계를 최첨단 수준으로 끌어올림</a:t>
            </a:r>
            <a:endParaRPr lang="en-US" altLang="ko-KR" dirty="0"/>
          </a:p>
          <a:p>
            <a:r>
              <a:rPr lang="ko-KR" altLang="en-US" dirty="0"/>
              <a:t>그 결과</a:t>
            </a:r>
            <a:r>
              <a:rPr lang="en-US" altLang="ko-KR" dirty="0"/>
              <a:t>, </a:t>
            </a:r>
            <a:r>
              <a:rPr lang="ko-KR" altLang="en-US" dirty="0"/>
              <a:t>바이너리 </a:t>
            </a:r>
            <a:r>
              <a:rPr lang="ko-KR" altLang="en-US" dirty="0" err="1"/>
              <a:t>프루닝</a:t>
            </a:r>
            <a:r>
              <a:rPr lang="ko-KR" altLang="en-US" dirty="0"/>
              <a:t> 기술 </a:t>
            </a:r>
            <a:r>
              <a:rPr lang="en-US" altLang="ko-KR" dirty="0"/>
              <a:t>-&gt; </a:t>
            </a:r>
            <a:r>
              <a:rPr lang="ko-KR" altLang="en-US" dirty="0"/>
              <a:t>훨씬 더 높은 정확도 달성</a:t>
            </a:r>
            <a:endParaRPr lang="en-US" altLang="ko-KR" dirty="0"/>
          </a:p>
          <a:p>
            <a:r>
              <a:rPr lang="en-US" altLang="ko-KR" dirty="0" err="1"/>
              <a:t>BitVert</a:t>
            </a:r>
            <a:r>
              <a:rPr lang="en-US" altLang="ko-KR" dirty="0"/>
              <a:t> </a:t>
            </a:r>
            <a:r>
              <a:rPr lang="ko-KR" altLang="en-US" dirty="0"/>
              <a:t>가속기 </a:t>
            </a:r>
            <a:r>
              <a:rPr lang="en-US" altLang="ko-KR" dirty="0"/>
              <a:t>-&gt; </a:t>
            </a:r>
            <a:r>
              <a:rPr lang="ko-KR" altLang="en-US" dirty="0"/>
              <a:t>최대 </a:t>
            </a:r>
            <a:r>
              <a:rPr lang="en-US" altLang="ko-KR" dirty="0"/>
              <a:t>3.03</a:t>
            </a:r>
            <a:r>
              <a:rPr lang="ko-KR" altLang="en-US" dirty="0"/>
              <a:t>배의 속도 향상 </a:t>
            </a:r>
            <a:r>
              <a:rPr lang="en-US" altLang="ko-KR" dirty="0"/>
              <a:t>+ 2.44</a:t>
            </a:r>
            <a:r>
              <a:rPr lang="ko-KR" altLang="en-US" dirty="0"/>
              <a:t>배 에너지 절감</a:t>
            </a:r>
          </a:p>
        </p:txBody>
      </p:sp>
    </p:spTree>
    <p:extLst>
      <p:ext uri="{BB962C8B-B14F-4D97-AF65-F5344CB8AC3E}">
        <p14:creationId xmlns:p14="http://schemas.microsoft.com/office/powerpoint/2010/main" val="2733350738"/>
      </p:ext>
    </p:extLst>
  </p:cSld>
  <p:clrMapOvr>
    <a:masterClrMapping/>
  </p:clrMapOvr>
</p:sld>
</file>

<file path=ppt/theme/theme1.xml><?xml version="1.0" encoding="utf-8"?>
<a:theme xmlns:a="http://schemas.openxmlformats.org/drawingml/2006/main" name="자르기">
  <a:themeElements>
    <a:clrScheme name="자르기">
      <a:dk1>
        <a:sysClr val="windowText" lastClr="000000"/>
      </a:dk1>
      <a:lt1>
        <a:sysClr val="window" lastClr="FFFFFF"/>
      </a:lt1>
      <a:dk2>
        <a:srgbClr val="191B0E"/>
      </a:dk2>
      <a:lt2>
        <a:srgbClr val="EFEDE3"/>
      </a:lt2>
      <a:accent1>
        <a:srgbClr val="8C8D86"/>
      </a:accent1>
      <a:accent2>
        <a:srgbClr val="E6C069"/>
      </a:accent2>
      <a:accent3>
        <a:srgbClr val="897B61"/>
      </a:accent3>
      <a:accent4>
        <a:srgbClr val="8DAB8E"/>
      </a:accent4>
      <a:accent5>
        <a:srgbClr val="77A2BB"/>
      </a:accent5>
      <a:accent6>
        <a:srgbClr val="E28394"/>
      </a:accent6>
      <a:hlink>
        <a:srgbClr val="77A2BB"/>
      </a:hlink>
      <a:folHlink>
        <a:srgbClr val="957A99"/>
      </a:folHlink>
    </a:clrScheme>
    <a:fontScheme name="자르기">
      <a:majorFont>
        <a:latin typeface="Franklin Gothic Book" panose="020B0503020102020204"/>
        <a:ea typeface=""/>
        <a:cs typeface=""/>
        <a:font script="Jpan" typeface="メイリオ"/>
        <a:font script="Hang" typeface="돋움"/>
        <a:font script="Hans" typeface="华文楷体"/>
        <a:font script="Hant" typeface="微軟正黑體"/>
        <a:font script="Arab" typeface="Tahoma"/>
        <a:font script="Hebr" typeface="Aharoni"/>
        <a:font script="Thai" typeface="Lily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Franklin Gothic Book" panose="020B0503020102020204"/>
        <a:ea typeface=""/>
        <a:cs typeface=""/>
        <a:font script="Jpan" typeface="メイリオ"/>
        <a:font script="Hang" typeface="돋움"/>
        <a:font script="Hans" typeface="华文楷体"/>
        <a:font script="Hant" typeface="微軟正黑體"/>
        <a:font script="Arab" typeface="Tahoma"/>
        <a:font script="Hebr" typeface="Aharoni"/>
        <a:font script="Thai" typeface="Lily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자르기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satMod val="105000"/>
                <a:lumMod val="110000"/>
              </a:schemeClr>
            </a:gs>
            <a:gs pos="50000">
              <a:schemeClr val="phClr">
                <a:tint val="73000"/>
                <a:satMod val="103000"/>
                <a:lumMod val="105000"/>
              </a:schemeClr>
            </a:gs>
            <a:gs pos="100000">
              <a:schemeClr val="phClr">
                <a:tint val="81000"/>
                <a:satMod val="109000"/>
                <a:lumMod val="105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satMod val="103000"/>
                <a:lumMod val="102000"/>
              </a:schemeClr>
            </a:gs>
            <a:gs pos="50000">
              <a:schemeClr val="phClr">
                <a:shade val="100000"/>
                <a:satMod val="110000"/>
                <a:lumMod val="100000"/>
              </a:schemeClr>
            </a:gs>
            <a:gs pos="100000">
              <a:schemeClr val="phClr">
                <a:shade val="78000"/>
                <a:satMod val="120000"/>
                <a:lumMod val="99000"/>
              </a:schemeClr>
            </a:gs>
          </a:gsLst>
          <a:lin ang="5400000" scaled="0"/>
        </a:gradFill>
      </a:fillStyleLst>
      <a:lnStyleLst>
        <a:ln w="6350" cap="flat" cmpd="sng" algn="in">
          <a:solidFill>
            <a:schemeClr val="phClr"/>
          </a:solidFill>
          <a:prstDash val="solid"/>
        </a:ln>
        <a:ln w="34925" cap="flat" cmpd="sng" algn="in">
          <a:solidFill>
            <a:schemeClr val="phClr"/>
          </a:solidFill>
          <a:prstDash val="solid"/>
        </a:ln>
        <a:ln w="19050" cap="flat" cmpd="sng" algn="in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satMod val="150000"/>
                <a:lumMod val="102000"/>
              </a:schemeClr>
            </a:gs>
            <a:gs pos="50000">
              <a:schemeClr val="phClr">
                <a:tint val="98000"/>
                <a:shade val="90000"/>
                <a:satMod val="13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rop" id="{EC9488ED-E761-4D60-9AC4-764D1FE2C171}" vid="{CE19780C-D67D-4C13-9DE9-A52BC3BA51B4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TM10001105[[fn=자르기]]</Template>
  <TotalTime>35</TotalTime>
  <Words>1153</Words>
  <Application>Microsoft Office PowerPoint</Application>
  <PresentationFormat>와이드스크린</PresentationFormat>
  <Paragraphs>92</Paragraphs>
  <Slides>27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1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27</vt:i4>
      </vt:variant>
    </vt:vector>
  </HeadingPairs>
  <TitlesOfParts>
    <vt:vector size="29" baseType="lpstr">
      <vt:lpstr>Franklin Gothic Book</vt:lpstr>
      <vt:lpstr>자르기</vt:lpstr>
      <vt:lpstr>BBS: Bi-directional Bit-level Sparsity for Deep Learning Acceleration 논문 리뷰</vt:lpstr>
      <vt:lpstr>목차</vt:lpstr>
      <vt:lpstr>Abstract</vt:lpstr>
      <vt:lpstr>Abstract</vt:lpstr>
      <vt:lpstr>Abstract</vt:lpstr>
      <vt:lpstr>Introduction</vt:lpstr>
      <vt:lpstr>Introduction</vt:lpstr>
      <vt:lpstr>Introduction</vt:lpstr>
      <vt:lpstr>Introduction</vt:lpstr>
      <vt:lpstr>Introduction</vt:lpstr>
      <vt:lpstr>Introduction</vt:lpstr>
      <vt:lpstr>Introduction</vt:lpstr>
      <vt:lpstr>Introduction</vt:lpstr>
      <vt:lpstr>Background </vt:lpstr>
      <vt:lpstr>Background</vt:lpstr>
      <vt:lpstr>Background</vt:lpstr>
      <vt:lpstr>Background</vt:lpstr>
      <vt:lpstr>Background</vt:lpstr>
      <vt:lpstr>BBS: Bi-Directional Bit-Level Sparsity </vt:lpstr>
      <vt:lpstr>BBS</vt:lpstr>
      <vt:lpstr>BBS</vt:lpstr>
      <vt:lpstr>BBS</vt:lpstr>
      <vt:lpstr>BBS</vt:lpstr>
      <vt:lpstr>Bitvert Hardware Architecture </vt:lpstr>
      <vt:lpstr>Evaluation/Conclusion</vt:lpstr>
      <vt:lpstr>Evaluation</vt:lpstr>
      <vt:lpstr>Conclusion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최성우</dc:creator>
  <cp:lastModifiedBy>최성우</cp:lastModifiedBy>
  <cp:revision>1</cp:revision>
  <dcterms:created xsi:type="dcterms:W3CDTF">2026-03-03T04:57:15Z</dcterms:created>
  <dcterms:modified xsi:type="dcterms:W3CDTF">2026-03-03T05:33:16Z</dcterms:modified>
</cp:coreProperties>
</file>
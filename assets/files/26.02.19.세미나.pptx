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9" r:id="rId8"/>
    <p:sldId id="270" r:id="rId9"/>
    <p:sldId id="271" r:id="rId10"/>
    <p:sldId id="272" r:id="rId11"/>
    <p:sldId id="273" r:id="rId12"/>
    <p:sldId id="267" r:id="rId13"/>
    <p:sldId id="268" r:id="rId14"/>
    <p:sldId id="260" r:id="rId15"/>
    <p:sldId id="274" r:id="rId16"/>
    <p:sldId id="275" r:id="rId17"/>
    <p:sldId id="276" r:id="rId18"/>
    <p:sldId id="277" r:id="rId19"/>
    <p:sldId id="261" r:id="rId20"/>
    <p:sldId id="278" r:id="rId21"/>
    <p:sldId id="281" r:id="rId22"/>
    <p:sldId id="282" r:id="rId23"/>
    <p:sldId id="283" r:id="rId24"/>
    <p:sldId id="262" r:id="rId25"/>
    <p:sldId id="263" r:id="rId26"/>
    <p:sldId id="264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우 최" userId="b39b9c6800b01a47" providerId="LiveId" clId="{86918D44-C542-442D-8291-F46EC03904AF}"/>
    <pc:docChg chg="modSld">
      <pc:chgData name="성우 최" userId="b39b9c6800b01a47" providerId="LiveId" clId="{86918D44-C542-442D-8291-F46EC03904AF}" dt="2026-05-16T15:53:03.223" v="5" actId="20577"/>
      <pc:docMkLst>
        <pc:docMk/>
      </pc:docMkLst>
      <pc:sldChg chg="modSp mod">
        <pc:chgData name="성우 최" userId="b39b9c6800b01a47" providerId="LiveId" clId="{86918D44-C542-442D-8291-F46EC03904AF}" dt="2026-05-16T15:53:03.223" v="5" actId="20577"/>
        <pc:sldMkLst>
          <pc:docMk/>
          <pc:sldMk cId="3698702118" sldId="256"/>
        </pc:sldMkLst>
        <pc:spChg chg="mod">
          <ac:chgData name="성우 최" userId="b39b9c6800b01a47" providerId="LiveId" clId="{86918D44-C542-442D-8291-F46EC03904AF}" dt="2026-05-16T15:53:03.223" v="5" actId="20577"/>
          <ac:spMkLst>
            <pc:docMk/>
            <pc:sldMk cId="3698702118" sldId="256"/>
            <ac:spMk id="3" creationId="{30EB2FD9-9788-7FA6-F8A9-48CFEE6E33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4285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90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990932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0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32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73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82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5255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7790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089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61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61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EC387-777F-15BD-C1A9-44BD066BBF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000" dirty="0"/>
              <a:t>BBS: Bi-directional Bit-level Sparsity for Deep Learning Acceleration </a:t>
            </a:r>
            <a:r>
              <a:rPr lang="ko-KR" altLang="en-US" sz="4000" dirty="0"/>
              <a:t>논문 리뷰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EB2FD9-9788-7FA6-F8A9-48CFEE6E33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26.02.19.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369870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81A29F1-EDA8-147E-B533-46AC0D84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4C7F6-04B8-5678-520B-EFA0A6353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Abstract</a:t>
            </a:r>
          </a:p>
          <a:p>
            <a:r>
              <a:rPr lang="en-US" altLang="ko-KR" sz="1800" dirty="0"/>
              <a:t>2. Introduction</a:t>
            </a:r>
          </a:p>
          <a:p>
            <a:r>
              <a:rPr lang="en-US" altLang="ko-KR" sz="1800" dirty="0"/>
              <a:t>3. Background</a:t>
            </a:r>
          </a:p>
          <a:p>
            <a:r>
              <a:rPr lang="en-US" altLang="ko-KR" sz="1800" dirty="0"/>
              <a:t>4. BBS: Bi-Directional Bit-Level Sparsity</a:t>
            </a:r>
          </a:p>
          <a:p>
            <a:r>
              <a:rPr lang="en-US" altLang="ko-KR" sz="1800" dirty="0"/>
              <a:t>5. </a:t>
            </a:r>
            <a:r>
              <a:rPr lang="en-US" altLang="ko-KR" sz="1800" dirty="0" err="1"/>
              <a:t>Bitvert</a:t>
            </a:r>
            <a:r>
              <a:rPr lang="en-US" altLang="ko-KR" sz="1800" dirty="0"/>
              <a:t> Hardware Architecture</a:t>
            </a:r>
          </a:p>
          <a:p>
            <a:r>
              <a:rPr lang="en-US" altLang="ko-KR" sz="1800" dirty="0"/>
              <a:t>6. Evaluation/Conclusion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7873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A5A146-9100-30B6-2AA3-0B9C35D7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Abstract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2F1A9-B0F3-DB7D-4719-935DFD9FF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21466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F4DD9-9861-7A0C-25C9-4A1A9EE32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0921"/>
          </a:xfrm>
        </p:spPr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475F4-936E-8E90-C29C-2B7B5CEA6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96721"/>
            <a:ext cx="10387263" cy="4470679"/>
          </a:xfrm>
        </p:spPr>
        <p:txBody>
          <a:bodyPr/>
          <a:lstStyle/>
          <a:p>
            <a:r>
              <a:rPr lang="ko-KR" altLang="en-US" dirty="0"/>
              <a:t>비트 수준 희소성</a:t>
            </a:r>
            <a:r>
              <a:rPr lang="en-US" altLang="ko-KR" dirty="0"/>
              <a:t>(Bit-level sparsity) </a:t>
            </a:r>
            <a:r>
              <a:rPr lang="ko-KR" altLang="en-US" dirty="0"/>
              <a:t>방법</a:t>
            </a:r>
            <a:r>
              <a:rPr lang="en-US" altLang="ko-KR" dirty="0"/>
              <a:t>: </a:t>
            </a:r>
            <a:r>
              <a:rPr lang="ko-KR" altLang="en-US" dirty="0"/>
              <a:t>효과가 없는 </a:t>
            </a:r>
            <a:r>
              <a:rPr lang="en-US" altLang="ko-KR" dirty="0"/>
              <a:t>0</a:t>
            </a:r>
            <a:r>
              <a:rPr lang="ko-KR" altLang="en-US" dirty="0"/>
              <a:t>비트 연산을 건너뛰는 연산 방식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일반적으로 비트 직렬 딥러닝 가속기 내에서 적용 가능</a:t>
            </a:r>
            <a:r>
              <a:rPr lang="en-US" altLang="ko-KR" dirty="0"/>
              <a:t>-&gt; </a:t>
            </a:r>
            <a:r>
              <a:rPr lang="ko-KR" altLang="en-US" dirty="0"/>
              <a:t>여러 이유로 실용성 부족</a:t>
            </a:r>
            <a:endParaRPr lang="en-US" altLang="ko-KR" dirty="0"/>
          </a:p>
          <a:p>
            <a:r>
              <a:rPr lang="ko-KR" altLang="en-US" dirty="0"/>
              <a:t>실용성 부족한 이유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부하 불균형</a:t>
            </a:r>
            <a:r>
              <a:rPr lang="en-US" altLang="ko-KR" dirty="0"/>
              <a:t>(0</a:t>
            </a:r>
            <a:r>
              <a:rPr lang="ko-KR" altLang="en-US" dirty="0"/>
              <a:t>비트의 무작위 분포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모든 비트가 </a:t>
            </a:r>
            <a:r>
              <a:rPr lang="ko-KR" altLang="en-US" dirty="0" err="1"/>
              <a:t>오프칩</a:t>
            </a:r>
            <a:r>
              <a:rPr lang="ko-KR" altLang="en-US" dirty="0"/>
              <a:t> 메모리에서 호출 </a:t>
            </a:r>
            <a:r>
              <a:rPr lang="en-US" altLang="ko-KR" dirty="0"/>
              <a:t>-&gt; </a:t>
            </a:r>
            <a:r>
              <a:rPr lang="ko-KR" altLang="en-US" dirty="0"/>
              <a:t>최적화되지 않은 외부 메모리 </a:t>
            </a:r>
            <a:r>
              <a:rPr lang="ko-KR" altLang="en-US" dirty="0" err="1"/>
              <a:t>엑세스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희소성을 지원하기 위한 대형 </a:t>
            </a:r>
            <a:r>
              <a:rPr lang="ko-KR" altLang="en-US" dirty="0" err="1"/>
              <a:t>멀티플렉서와</a:t>
            </a:r>
            <a:r>
              <a:rPr lang="ko-KR" altLang="en-US" dirty="0"/>
              <a:t> 같은 높은 하드웨어 구현 오버헤드</a:t>
            </a:r>
          </a:p>
        </p:txBody>
      </p:sp>
    </p:spTree>
    <p:extLst>
      <p:ext uri="{BB962C8B-B14F-4D97-AF65-F5344CB8AC3E}">
        <p14:creationId xmlns:p14="http://schemas.microsoft.com/office/powerpoint/2010/main" val="323529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C5A53-A0EF-DFD5-CD92-883695E9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D1FE3-C804-BDAB-EE89-5D6637F7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0921"/>
          </a:xfrm>
        </p:spPr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9024B-34C9-4426-9225-3581D235C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96721"/>
            <a:ext cx="10387263" cy="4470679"/>
          </a:xfrm>
        </p:spPr>
        <p:txBody>
          <a:bodyPr/>
          <a:lstStyle/>
          <a:p>
            <a:r>
              <a:rPr lang="ko-KR" altLang="en-US" dirty="0"/>
              <a:t>본 연구에서 새로운 방식 제안</a:t>
            </a:r>
            <a:endParaRPr lang="en-US" altLang="ko-KR" dirty="0"/>
          </a:p>
          <a:p>
            <a:r>
              <a:rPr lang="en-US" altLang="ko-KR" dirty="0"/>
              <a:t>1) </a:t>
            </a:r>
            <a:r>
              <a:rPr lang="ko-KR" altLang="en-US" dirty="0"/>
              <a:t>알고리즘 측면 </a:t>
            </a:r>
            <a:r>
              <a:rPr lang="en-US" altLang="ko-KR" dirty="0"/>
              <a:t>-&gt; “</a:t>
            </a:r>
            <a:r>
              <a:rPr lang="ko-KR" altLang="en-US" dirty="0"/>
              <a:t>양방향 비트 희소성</a:t>
            </a:r>
            <a:r>
              <a:rPr lang="en-US" altLang="ko-KR" dirty="0"/>
              <a:t>“(BBS)</a:t>
            </a:r>
          </a:p>
          <a:p>
            <a:r>
              <a:rPr lang="en-US" altLang="ko-KR" dirty="0"/>
              <a:t>2) </a:t>
            </a:r>
            <a:r>
              <a:rPr lang="ko-KR" altLang="en-US" dirty="0"/>
              <a:t>하드웨어 측면 </a:t>
            </a:r>
            <a:r>
              <a:rPr lang="en-US" altLang="ko-KR" dirty="0"/>
              <a:t>-&gt; Bivert</a:t>
            </a:r>
          </a:p>
          <a:p>
            <a:endParaRPr lang="en-US" altLang="ko-KR" dirty="0"/>
          </a:p>
          <a:p>
            <a:r>
              <a:rPr lang="ko-KR" altLang="en-US" dirty="0"/>
              <a:t>실험 결과</a:t>
            </a:r>
            <a:r>
              <a:rPr lang="en-US" altLang="ko-KR" dirty="0"/>
              <a:t>: </a:t>
            </a:r>
            <a:r>
              <a:rPr lang="ko-KR" altLang="en-US" dirty="0"/>
              <a:t>모델 크기 평균 </a:t>
            </a:r>
            <a:r>
              <a:rPr lang="en-US" altLang="ko-KR" dirty="0"/>
              <a:t>1.66</a:t>
            </a:r>
            <a:r>
              <a:rPr lang="ko-KR" altLang="en-US" dirty="0"/>
              <a:t>배 감소</a:t>
            </a:r>
            <a:r>
              <a:rPr lang="en-US" altLang="ko-KR" dirty="0"/>
              <a:t>, </a:t>
            </a:r>
            <a:r>
              <a:rPr lang="ko-KR" altLang="en-US" dirty="0"/>
              <a:t>이전 </a:t>
            </a:r>
            <a:r>
              <a:rPr lang="en-US" altLang="ko-KR" dirty="0"/>
              <a:t>DNN </a:t>
            </a:r>
            <a:r>
              <a:rPr lang="ko-KR" altLang="en-US" dirty="0"/>
              <a:t>가속기 대비 최대 </a:t>
            </a:r>
            <a:r>
              <a:rPr lang="en-US" altLang="ko-KR" dirty="0"/>
              <a:t>3.03</a:t>
            </a:r>
            <a:r>
              <a:rPr lang="ko-KR" altLang="en-US" dirty="0"/>
              <a:t>배의 속도 향상</a:t>
            </a:r>
            <a:br>
              <a:rPr lang="en-US" altLang="ko-KR" dirty="0"/>
            </a:br>
            <a:r>
              <a:rPr lang="en-US" altLang="ko-KR" dirty="0"/>
              <a:t>+ 2,44</a:t>
            </a:r>
            <a:r>
              <a:rPr lang="ko-KR" altLang="en-US" dirty="0"/>
              <a:t>배 에너지 절감</a:t>
            </a:r>
          </a:p>
        </p:txBody>
      </p:sp>
    </p:spTree>
    <p:extLst>
      <p:ext uri="{BB962C8B-B14F-4D97-AF65-F5344CB8AC3E}">
        <p14:creationId xmlns:p14="http://schemas.microsoft.com/office/powerpoint/2010/main" val="37895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4071EC-D424-A29D-95BB-4007B08F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Introduction</a:t>
            </a:r>
            <a:endParaRPr lang="ko-KR" altLang="en-US" sz="54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9C5EEF-ACF9-1DF0-E59C-5C6A6112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241832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2503F-6856-728D-C520-A1CF3C96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FC4E7C-99BE-C94A-E45E-963C38582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en-US" altLang="ko-KR" dirty="0"/>
              <a:t>DNN</a:t>
            </a:r>
            <a:r>
              <a:rPr lang="ko-KR" altLang="en-US" dirty="0"/>
              <a:t>은 많고 중요한 분야에서 놀라운 성과를 입증하고 있음</a:t>
            </a:r>
            <a:br>
              <a:rPr lang="en-US" altLang="ko-KR" dirty="0"/>
            </a:br>
            <a:r>
              <a:rPr lang="en-US" altLang="ko-KR" dirty="0"/>
              <a:t>but DNN </a:t>
            </a:r>
            <a:r>
              <a:rPr lang="ko-KR" altLang="en-US" dirty="0"/>
              <a:t>모델 크기와 복잡성의 성장은 기존 하드웨어 플랫폼의 컴퓨팅 성능 향상 속도를 앞지름 </a:t>
            </a:r>
            <a:r>
              <a:rPr lang="en-US" altLang="ko-KR" dirty="0"/>
              <a:t>-&gt; </a:t>
            </a:r>
            <a:r>
              <a:rPr lang="ko-KR" altLang="en-US" dirty="0"/>
              <a:t>격차를 줄이기 위해 고성능과 에너지 효율 모두 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1) </a:t>
            </a:r>
            <a:r>
              <a:rPr lang="ko-KR" altLang="en-US" dirty="0"/>
              <a:t>압축된 모델을 효율적으로 배포하기 위한 가속기</a:t>
            </a:r>
            <a:endParaRPr lang="en-US" altLang="ko-KR" dirty="0"/>
          </a:p>
          <a:p>
            <a:r>
              <a:rPr lang="en-US" altLang="ko-KR" dirty="0"/>
              <a:t>2) </a:t>
            </a:r>
            <a:r>
              <a:rPr lang="ko-KR" altLang="en-US" dirty="0"/>
              <a:t>새로운 </a:t>
            </a:r>
            <a:r>
              <a:rPr lang="en-US" altLang="ko-KR" dirty="0"/>
              <a:t>DNN </a:t>
            </a:r>
            <a:r>
              <a:rPr lang="ko-KR" altLang="en-US" dirty="0"/>
              <a:t>압축 알고리즘 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=&gt; </a:t>
            </a:r>
            <a:r>
              <a:rPr lang="ko-KR" altLang="en-US" dirty="0"/>
              <a:t>공동 설계</a:t>
            </a:r>
          </a:p>
        </p:txBody>
      </p:sp>
    </p:spTree>
    <p:extLst>
      <p:ext uri="{BB962C8B-B14F-4D97-AF65-F5344CB8AC3E}">
        <p14:creationId xmlns:p14="http://schemas.microsoft.com/office/powerpoint/2010/main" val="264453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480AF-E3F7-99C1-20BD-D099FE7E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05531-1CC3-A4EA-B2A4-3F2FA8AF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1E4CD-9511-3745-A11C-24566D4EE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47537"/>
            <a:ext cx="9809747" cy="4519863"/>
          </a:xfrm>
        </p:spPr>
        <p:txBody>
          <a:bodyPr/>
          <a:lstStyle/>
          <a:p>
            <a:r>
              <a:rPr lang="ko-KR" altLang="en-US" dirty="0"/>
              <a:t>수많은 효율성 알고리즘 </a:t>
            </a:r>
            <a:r>
              <a:rPr lang="en-US" altLang="ko-KR" dirty="0"/>
              <a:t>+ </a:t>
            </a:r>
            <a:r>
              <a:rPr lang="ko-KR" altLang="en-US" dirty="0"/>
              <a:t>하드웨어 프로토타입 제안됨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희소성의 정도는 결과적인 하드웨어 성능을 강력하게 제안함</a:t>
            </a:r>
            <a:endParaRPr lang="en-US" altLang="ko-KR" dirty="0"/>
          </a:p>
          <a:p>
            <a:r>
              <a:rPr lang="ko-KR" altLang="en-US" dirty="0"/>
              <a:t>이러한 문제는 </a:t>
            </a:r>
            <a:r>
              <a:rPr lang="en-US" altLang="ko-KR" dirty="0"/>
              <a:t>LLM</a:t>
            </a:r>
            <a:r>
              <a:rPr lang="ko-KR" altLang="en-US" dirty="0"/>
              <a:t>에서 두드러짐 </a:t>
            </a:r>
            <a:r>
              <a:rPr lang="en-US" altLang="ko-KR" dirty="0"/>
              <a:t>-&gt; </a:t>
            </a:r>
            <a:r>
              <a:rPr lang="ko-KR" altLang="en-US" dirty="0"/>
              <a:t>재학습을 더욱 자원 및 데이터 집약적으로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r>
              <a:rPr lang="ko-KR" altLang="en-US" dirty="0"/>
              <a:t>재학습을 강요하지 않으면서 가속기의 효율성을 향상시켜야 함</a:t>
            </a:r>
          </a:p>
        </p:txBody>
      </p:sp>
    </p:spTree>
    <p:extLst>
      <p:ext uri="{BB962C8B-B14F-4D97-AF65-F5344CB8AC3E}">
        <p14:creationId xmlns:p14="http://schemas.microsoft.com/office/powerpoint/2010/main" val="2091334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8A26-844F-FB62-3B00-F024A52E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0524E-6408-447E-70D0-F9E651C5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B7DF1-3573-1B8D-9236-344BFAB3C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ko-KR" altLang="en-US" dirty="0"/>
              <a:t>또다른 흐름은 모델 </a:t>
            </a:r>
            <a:r>
              <a:rPr lang="ko-KR" altLang="en-US" dirty="0" err="1"/>
              <a:t>재학습</a:t>
            </a:r>
            <a:r>
              <a:rPr lang="ko-KR" altLang="en-US" dirty="0"/>
              <a:t> </a:t>
            </a:r>
            <a:r>
              <a:rPr lang="en-US" altLang="ko-KR" dirty="0"/>
              <a:t>x -&gt; </a:t>
            </a:r>
            <a:r>
              <a:rPr lang="ko-KR" altLang="en-US" dirty="0"/>
              <a:t>피연산자를 더 낮은 정밀도로 표현하는 사후 학습 양자화</a:t>
            </a:r>
            <a:r>
              <a:rPr lang="en-US" altLang="ko-KR" dirty="0"/>
              <a:t>(PTQ)</a:t>
            </a:r>
            <a:r>
              <a:rPr lang="ko-KR" altLang="en-US" dirty="0"/>
              <a:t>에 초점 맞춤</a:t>
            </a:r>
            <a:r>
              <a:rPr lang="en-US" altLang="ko-KR" dirty="0"/>
              <a:t>(ex: 32</a:t>
            </a:r>
            <a:r>
              <a:rPr lang="ko-KR" altLang="en-US" dirty="0"/>
              <a:t>비트 </a:t>
            </a:r>
            <a:r>
              <a:rPr lang="en-US" altLang="ko-KR" dirty="0"/>
              <a:t>-&gt; 8</a:t>
            </a:r>
            <a:r>
              <a:rPr lang="ko-KR" altLang="en-US" dirty="0"/>
              <a:t>비트로 줄임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그러나 이는 정수 양자화보다 더 높은 하드웨어 비용 초래</a:t>
            </a:r>
            <a:endParaRPr lang="en-US" altLang="ko-KR" dirty="0"/>
          </a:p>
          <a:p>
            <a:r>
              <a:rPr lang="ko-KR" altLang="en-US" dirty="0"/>
              <a:t>최신 </a:t>
            </a:r>
            <a:r>
              <a:rPr lang="en-US" altLang="ko-KR" dirty="0"/>
              <a:t>PTQ </a:t>
            </a:r>
            <a:r>
              <a:rPr lang="ko-KR" altLang="en-US" dirty="0"/>
              <a:t>알고리즘은 무시 가능 정확도 손실로 피연산자 정밀도를 </a:t>
            </a:r>
            <a:r>
              <a:rPr lang="en-US" altLang="ko-KR" dirty="0"/>
              <a:t>8</a:t>
            </a:r>
            <a:r>
              <a:rPr lang="ko-KR" altLang="en-US" dirty="0"/>
              <a:t>비트 정수</a:t>
            </a:r>
            <a:r>
              <a:rPr lang="en-US" altLang="ko-KR" dirty="0"/>
              <a:t>(INT8)</a:t>
            </a:r>
            <a:r>
              <a:rPr lang="ko-KR" altLang="en-US" dirty="0"/>
              <a:t>로 줄일 수 있음 </a:t>
            </a:r>
            <a:r>
              <a:rPr lang="en-US" altLang="ko-KR" dirty="0"/>
              <a:t>-&gt; </a:t>
            </a:r>
            <a:r>
              <a:rPr lang="ko-KR" altLang="en-US" dirty="0"/>
              <a:t>희소성 매우 낮음</a:t>
            </a:r>
            <a:endParaRPr lang="en-US" altLang="ko-KR" dirty="0"/>
          </a:p>
          <a:p>
            <a:r>
              <a:rPr lang="ko-KR" altLang="en-US" dirty="0"/>
              <a:t>양자화</a:t>
            </a:r>
            <a:r>
              <a:rPr lang="en-US" altLang="ko-KR" dirty="0"/>
              <a:t>-</a:t>
            </a:r>
            <a:r>
              <a:rPr lang="ko-KR" altLang="en-US" dirty="0"/>
              <a:t>희소성 간의 긴장 </a:t>
            </a:r>
            <a:r>
              <a:rPr lang="en-US" altLang="ko-KR" dirty="0"/>
              <a:t>-&gt; </a:t>
            </a:r>
            <a:r>
              <a:rPr lang="ko-KR" altLang="en-US" dirty="0"/>
              <a:t>성능 병목 현상 발생</a:t>
            </a:r>
          </a:p>
        </p:txBody>
      </p:sp>
    </p:spTree>
    <p:extLst>
      <p:ext uri="{BB962C8B-B14F-4D97-AF65-F5344CB8AC3E}">
        <p14:creationId xmlns:p14="http://schemas.microsoft.com/office/powerpoint/2010/main" val="97969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2DB24-AF3D-7F87-A434-A9C3330B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7C3C9-C83D-DAD3-2C4F-B74F0F5A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E78D80-34F8-FCE0-8044-9804A5547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ko-KR" altLang="en-US" dirty="0"/>
              <a:t>양자화와 희소성의 효율성을 동시에 달성하기 위해 비트 수준 희소성 활용</a:t>
            </a:r>
            <a:br>
              <a:rPr lang="en-US" altLang="ko-KR" dirty="0"/>
            </a:br>
            <a:r>
              <a:rPr lang="en-US" altLang="ko-KR" dirty="0"/>
              <a:t>-&gt; 0</a:t>
            </a:r>
            <a:r>
              <a:rPr lang="ko-KR" altLang="en-US" dirty="0"/>
              <a:t>비트 연산을 건너뛰는 것을 제안함</a:t>
            </a:r>
            <a:endParaRPr lang="en-US" altLang="ko-KR" dirty="0"/>
          </a:p>
          <a:p>
            <a:r>
              <a:rPr lang="en-US" altLang="ko-KR" dirty="0"/>
              <a:t>But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비트의 분포는 무작위 </a:t>
            </a:r>
            <a:r>
              <a:rPr lang="en-US" altLang="ko-KR" dirty="0"/>
              <a:t>-&gt; </a:t>
            </a:r>
            <a:r>
              <a:rPr lang="ko-KR" altLang="en-US" dirty="0"/>
              <a:t>상당한 작업 부하 불균형 초래 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모든 데이터 비트를 </a:t>
            </a:r>
            <a:r>
              <a:rPr lang="ko-KR" altLang="en-US" dirty="0" err="1"/>
              <a:t>오프칩</a:t>
            </a:r>
            <a:r>
              <a:rPr lang="ko-KR" altLang="en-US" dirty="0"/>
              <a:t> 메모리에서 </a:t>
            </a:r>
            <a:r>
              <a:rPr lang="ko-KR" altLang="en-US" dirty="0" err="1"/>
              <a:t>가져와야함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하드웨어 오버헤드 발생</a:t>
            </a:r>
          </a:p>
        </p:txBody>
      </p:sp>
    </p:spTree>
    <p:extLst>
      <p:ext uri="{BB962C8B-B14F-4D97-AF65-F5344CB8AC3E}">
        <p14:creationId xmlns:p14="http://schemas.microsoft.com/office/powerpoint/2010/main" val="2378901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1DAE-7144-F174-8C72-B530C2836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A3E53-CE41-ECF8-4D6D-D4C085BE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A35921-96AF-2FA8-46EC-109B8699C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en-US" altLang="ko-KR" dirty="0" err="1"/>
              <a:t>BitWave</a:t>
            </a:r>
            <a:r>
              <a:rPr lang="ko-KR" altLang="en-US" dirty="0"/>
              <a:t>는 동일한 비트 중요도와 희소성을 조사하는 비트 열 직렬 방식 채택</a:t>
            </a:r>
            <a:endParaRPr lang="en-US" altLang="ko-KR" dirty="0"/>
          </a:p>
          <a:p>
            <a:r>
              <a:rPr lang="ko-KR" altLang="en-US" dirty="0"/>
              <a:t>비트 열이 모두 </a:t>
            </a:r>
            <a:r>
              <a:rPr lang="en-US" altLang="ko-KR" dirty="0"/>
              <a:t>0</a:t>
            </a:r>
            <a:r>
              <a:rPr lang="ko-KR" altLang="en-US" dirty="0"/>
              <a:t>비트 </a:t>
            </a:r>
            <a:r>
              <a:rPr lang="en-US" altLang="ko-KR" dirty="0"/>
              <a:t>-&gt; </a:t>
            </a:r>
            <a:r>
              <a:rPr lang="ko-KR" altLang="en-US" dirty="0"/>
              <a:t>메모리 저장 </a:t>
            </a:r>
            <a:r>
              <a:rPr lang="en-US" altLang="ko-KR" dirty="0"/>
              <a:t>x 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부호</a:t>
            </a:r>
            <a:r>
              <a:rPr lang="en-US" altLang="ko-KR" dirty="0"/>
              <a:t>-</a:t>
            </a:r>
            <a:r>
              <a:rPr lang="ko-KR" altLang="en-US" dirty="0"/>
              <a:t>크기 형식의 가중치 기반으로 비트 선택적으로 </a:t>
            </a:r>
            <a:r>
              <a:rPr lang="en-US" altLang="ko-KR" dirty="0"/>
              <a:t>0</a:t>
            </a:r>
            <a:r>
              <a:rPr lang="ko-KR" altLang="en-US" dirty="0"/>
              <a:t>으로 뒤집는 비트 희소성 강화 기술 </a:t>
            </a:r>
            <a:endParaRPr lang="en-US" altLang="ko-KR" dirty="0"/>
          </a:p>
          <a:p>
            <a:r>
              <a:rPr lang="ko-KR" altLang="en-US" dirty="0"/>
              <a:t>결과적으로 더 높은 성능 달성 가능성 보여줌</a:t>
            </a:r>
            <a:endParaRPr lang="en-US" altLang="ko-KR" dirty="0"/>
          </a:p>
          <a:p>
            <a:r>
              <a:rPr lang="en-US" altLang="ko-KR" dirty="0"/>
              <a:t>But </a:t>
            </a:r>
            <a:r>
              <a:rPr lang="ko-KR" altLang="en-US" dirty="0"/>
              <a:t>비트 희소성이 </a:t>
            </a:r>
            <a:r>
              <a:rPr lang="en-US" altLang="ko-KR" dirty="0"/>
              <a:t>“0</a:t>
            </a:r>
            <a:r>
              <a:rPr lang="ko-KR" altLang="en-US" dirty="0"/>
              <a:t>비트</a:t>
            </a:r>
            <a:r>
              <a:rPr lang="en-US" altLang="ko-KR" dirty="0"/>
              <a:t>＂</a:t>
            </a:r>
            <a:r>
              <a:rPr lang="ko-KR" altLang="en-US" dirty="0"/>
              <a:t>에만 국한됨</a:t>
            </a:r>
          </a:p>
        </p:txBody>
      </p:sp>
    </p:spTree>
    <p:extLst>
      <p:ext uri="{BB962C8B-B14F-4D97-AF65-F5344CB8AC3E}">
        <p14:creationId xmlns:p14="http://schemas.microsoft.com/office/powerpoint/2010/main" val="36880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983E2-23C2-61C0-C992-8325E0D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101750-6EDE-A391-236C-A038BA18D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604211"/>
            <a:ext cx="5521617" cy="426318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(a): </a:t>
            </a:r>
            <a:r>
              <a:rPr lang="ko-KR" altLang="en-US" sz="1800" dirty="0"/>
              <a:t>일반적인 </a:t>
            </a:r>
            <a:r>
              <a:rPr lang="en-US" altLang="ko-KR" sz="1800" dirty="0"/>
              <a:t>PTQ</a:t>
            </a:r>
            <a:br>
              <a:rPr lang="en-US" altLang="ko-KR" sz="1800" dirty="0"/>
            </a:br>
            <a:r>
              <a:rPr lang="ko-KR" altLang="en-US" sz="1800" dirty="0"/>
              <a:t>전체 </a:t>
            </a:r>
            <a:r>
              <a:rPr lang="ko-KR" altLang="en-US" sz="1800" dirty="0" err="1"/>
              <a:t>번위를</a:t>
            </a:r>
            <a:r>
              <a:rPr lang="ko-KR" altLang="en-US" sz="1800" dirty="0"/>
              <a:t> </a:t>
            </a:r>
            <a:r>
              <a:rPr lang="en-US" altLang="ko-KR" sz="1800" dirty="0"/>
              <a:t>32</a:t>
            </a:r>
            <a:r>
              <a:rPr lang="ko-KR" altLang="en-US" sz="1800" dirty="0"/>
              <a:t>개 칸으로 나눔</a:t>
            </a:r>
            <a:br>
              <a:rPr lang="en-US" altLang="ko-KR" sz="1800" dirty="0"/>
            </a:br>
            <a:r>
              <a:rPr lang="ko-KR" altLang="en-US" sz="1800" dirty="0"/>
              <a:t>큰 값들은 잘리고</a:t>
            </a:r>
            <a:r>
              <a:rPr lang="en-US" altLang="ko-KR" sz="1800" dirty="0"/>
              <a:t>, </a:t>
            </a:r>
            <a:r>
              <a:rPr lang="ko-KR" altLang="en-US" sz="1800" dirty="0"/>
              <a:t>작은 값들은 </a:t>
            </a:r>
            <a:r>
              <a:rPr lang="ko-KR" altLang="en-US" sz="1800" dirty="0" err="1"/>
              <a:t>뭉뚱그래짐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원래 데이터 분포와의 차이 커짐</a:t>
            </a:r>
            <a:endParaRPr lang="en-US" altLang="ko-KR" sz="1800" dirty="0"/>
          </a:p>
          <a:p>
            <a:r>
              <a:rPr lang="en-US" altLang="ko-KR" sz="1800" dirty="0"/>
              <a:t>(b): </a:t>
            </a:r>
            <a:r>
              <a:rPr lang="ko-KR" altLang="en-US" sz="1800" dirty="0"/>
              <a:t>비트 수준 </a:t>
            </a:r>
            <a:r>
              <a:rPr lang="ko-KR" altLang="en-US" sz="1800" dirty="0" err="1"/>
              <a:t>프루닝</a:t>
            </a:r>
            <a:br>
              <a:rPr lang="en-US" altLang="ko-KR" sz="1800" dirty="0"/>
            </a:br>
            <a:r>
              <a:rPr lang="ko-KR" altLang="en-US" sz="1800" dirty="0"/>
              <a:t>비트 열단위로 접근</a:t>
            </a:r>
            <a:br>
              <a:rPr lang="en-US" altLang="ko-KR" sz="1800" dirty="0"/>
            </a:br>
            <a:r>
              <a:rPr lang="en-US" altLang="ko-KR" sz="1800" dirty="0"/>
              <a:t>(ex: 8</a:t>
            </a:r>
            <a:r>
              <a:rPr lang="ko-KR" altLang="en-US" sz="1800" dirty="0"/>
              <a:t>개중 </a:t>
            </a:r>
            <a:r>
              <a:rPr lang="en-US" altLang="ko-KR" sz="1800" dirty="0"/>
              <a:t>3</a:t>
            </a:r>
            <a:r>
              <a:rPr lang="ko-KR" altLang="en-US" sz="1800" dirty="0"/>
              <a:t>개 열 </a:t>
            </a:r>
            <a:r>
              <a:rPr lang="en-US" altLang="ko-KR" sz="1800" dirty="0"/>
              <a:t>‘0’</a:t>
            </a:r>
            <a:r>
              <a:rPr lang="ko-KR" altLang="en-US" sz="1800" dirty="0"/>
              <a:t>으로 </a:t>
            </a:r>
            <a:r>
              <a:rPr lang="ko-KR" altLang="en-US" sz="1800" dirty="0" err="1"/>
              <a:t>프루닝</a:t>
            </a:r>
            <a:r>
              <a:rPr lang="ko-KR" altLang="en-US" sz="1800" dirty="0"/>
              <a:t> </a:t>
            </a:r>
            <a:r>
              <a:rPr lang="en-US" altLang="ko-KR" sz="1800" dirty="0"/>
              <a:t>-&gt; </a:t>
            </a:r>
            <a:r>
              <a:rPr lang="ko-KR" altLang="en-US" sz="1800" dirty="0"/>
              <a:t>남은 비트 숫자로 표현</a:t>
            </a:r>
            <a:br>
              <a:rPr lang="en-US" altLang="ko-KR" sz="1800" dirty="0"/>
            </a:br>
            <a:r>
              <a:rPr lang="ko-KR" altLang="en-US" sz="1800" dirty="0"/>
              <a:t>숫자가 작을 때 매우 유리 </a:t>
            </a:r>
            <a:r>
              <a:rPr lang="en-US" altLang="ko-KR" sz="1800" dirty="0"/>
              <a:t>+ PTQ</a:t>
            </a:r>
            <a:r>
              <a:rPr lang="ko-KR" altLang="en-US" sz="1800" dirty="0"/>
              <a:t>보다 정밀하게 원래 값 보존 가능</a:t>
            </a:r>
            <a:br>
              <a:rPr lang="en-US" altLang="ko-KR" sz="1800" dirty="0"/>
            </a:br>
            <a:r>
              <a:rPr lang="en-US" altLang="ko-KR" sz="1800" dirty="0"/>
              <a:t>but </a:t>
            </a:r>
            <a:r>
              <a:rPr lang="ko-KR" altLang="en-US" sz="1800" dirty="0"/>
              <a:t>고유한 희소 비트 열</a:t>
            </a:r>
            <a:r>
              <a:rPr lang="en-US" altLang="ko-KR" sz="1800" dirty="0"/>
              <a:t>x -&gt; </a:t>
            </a:r>
            <a:r>
              <a:rPr lang="ko-KR" altLang="en-US" sz="1800" dirty="0"/>
              <a:t>모든 하위 비트 열 </a:t>
            </a:r>
            <a:r>
              <a:rPr lang="en-US" altLang="ko-KR" sz="1800" dirty="0"/>
              <a:t>0</a:t>
            </a:r>
            <a:r>
              <a:rPr lang="ko-KR" altLang="en-US" sz="1800" dirty="0"/>
              <a:t>으로 </a:t>
            </a:r>
            <a:r>
              <a:rPr lang="ko-KR" altLang="en-US" sz="1800" dirty="0" err="1"/>
              <a:t>뒤집어야됨</a:t>
            </a:r>
            <a:r>
              <a:rPr lang="ko-KR" altLang="en-US" sz="1800" dirty="0"/>
              <a:t> </a:t>
            </a:r>
            <a:r>
              <a:rPr lang="en-US" altLang="ko-KR" sz="1800" dirty="0"/>
              <a:t>-&gt; </a:t>
            </a:r>
            <a:r>
              <a:rPr lang="ko-KR" altLang="en-US" sz="1800" dirty="0"/>
              <a:t>양자화 레벨 감소 </a:t>
            </a:r>
            <a:endParaRPr lang="en-US" altLang="ko-KR" sz="1800" dirty="0"/>
          </a:p>
          <a:p>
            <a:endParaRPr lang="ko-KR" altLang="en-US" sz="1800" dirty="0"/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1E3BD9-7ED1-5AAB-EFB2-B6DF2E4A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234"/>
          <a:stretch>
            <a:fillRect/>
          </a:stretch>
        </p:blipFill>
        <p:spPr>
          <a:xfrm>
            <a:off x="7042706" y="1058083"/>
            <a:ext cx="4474380" cy="486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92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EDF5-BCA0-43C8-B10D-F08D8D2D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31460-CD07-866E-8678-01686A2E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4B44D-8176-0237-E40E-C7FB37BD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604211"/>
            <a:ext cx="6885196" cy="426318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(c): BBS</a:t>
            </a:r>
            <a:br>
              <a:rPr lang="en-US" altLang="ko-KR" sz="1800" dirty="0"/>
            </a:br>
            <a:r>
              <a:rPr lang="ko-KR" altLang="en-US" sz="1800" dirty="0"/>
              <a:t>모든 비트 벡터가 적어도 </a:t>
            </a:r>
            <a:r>
              <a:rPr lang="en-US" altLang="ko-KR" sz="1800" dirty="0"/>
              <a:t>50%</a:t>
            </a:r>
            <a:r>
              <a:rPr lang="ko-KR" altLang="en-US" sz="1800" dirty="0"/>
              <a:t>의 </a:t>
            </a:r>
            <a:r>
              <a:rPr lang="en-US" altLang="ko-KR" sz="1800" dirty="0"/>
              <a:t>BBS</a:t>
            </a:r>
            <a:r>
              <a:rPr lang="ko-KR" altLang="en-US" sz="1800" dirty="0"/>
              <a:t>를 보일 수 있도록 보장함</a:t>
            </a:r>
            <a:r>
              <a:rPr lang="en-US" altLang="ko-KR" sz="1800" dirty="0"/>
              <a:t>-&gt; </a:t>
            </a:r>
            <a:r>
              <a:rPr lang="ko-KR" altLang="en-US" sz="1800" dirty="0"/>
              <a:t>부하 균형 개선 </a:t>
            </a:r>
            <a:r>
              <a:rPr lang="en-US" altLang="ko-KR" sz="1800" dirty="0"/>
              <a:t>+ </a:t>
            </a:r>
            <a:r>
              <a:rPr lang="ko-KR" altLang="en-US" sz="1800" dirty="0"/>
              <a:t>불필요한 비트 연산 횟수 최소화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이 연구의 주요 기여</a:t>
            </a:r>
            <a:br>
              <a:rPr lang="en-US" altLang="ko-KR" sz="1800" dirty="0"/>
            </a:br>
            <a:r>
              <a:rPr lang="en-US" altLang="ko-KR" sz="1800" dirty="0"/>
              <a:t>1) </a:t>
            </a:r>
            <a:r>
              <a:rPr lang="ko-KR" altLang="en-US" sz="1800" dirty="0"/>
              <a:t>새로운 </a:t>
            </a:r>
            <a:r>
              <a:rPr lang="en-US" altLang="ko-KR" sz="1800" dirty="0"/>
              <a:t>BBS </a:t>
            </a:r>
            <a:r>
              <a:rPr lang="ko-KR" altLang="en-US" sz="1800" dirty="0"/>
              <a:t>개념 도입 </a:t>
            </a:r>
            <a:r>
              <a:rPr lang="en-US" altLang="ko-KR" sz="1800" dirty="0"/>
              <a:t>-&gt; </a:t>
            </a:r>
            <a:r>
              <a:rPr lang="ko-KR" altLang="en-US" sz="1800" dirty="0"/>
              <a:t>비트 직렬 가속기의 부하 균형 개선</a:t>
            </a:r>
            <a:br>
              <a:rPr lang="en-US" altLang="ko-KR" sz="1800" dirty="0"/>
            </a:br>
            <a:r>
              <a:rPr lang="en-US" altLang="ko-KR" sz="1800" dirty="0"/>
              <a:t>2) </a:t>
            </a:r>
            <a:r>
              <a:rPr lang="ko-KR" altLang="en-US" sz="1800" dirty="0"/>
              <a:t>두 가지 비트 수준 바이너리 </a:t>
            </a:r>
            <a:r>
              <a:rPr lang="ko-KR" altLang="en-US" sz="1800" dirty="0" err="1"/>
              <a:t>프루닝</a:t>
            </a:r>
            <a:r>
              <a:rPr lang="ko-KR" altLang="en-US" sz="1800" dirty="0"/>
              <a:t> 전략 제안</a:t>
            </a:r>
            <a:br>
              <a:rPr lang="en-US" altLang="ko-KR" sz="1800" dirty="0"/>
            </a:br>
            <a:r>
              <a:rPr lang="en-US" altLang="ko-KR" sz="1800" dirty="0"/>
              <a:t>3) BBS </a:t>
            </a:r>
            <a:r>
              <a:rPr lang="ko-KR" altLang="en-US" sz="1800" dirty="0"/>
              <a:t>활용 비트 직렬 가속기인 </a:t>
            </a:r>
            <a:r>
              <a:rPr lang="en-US" altLang="ko-KR" sz="1800" dirty="0" err="1"/>
              <a:t>BitVert</a:t>
            </a:r>
            <a:r>
              <a:rPr lang="en-US" altLang="ko-KR" sz="1800" dirty="0"/>
              <a:t> </a:t>
            </a:r>
            <a:r>
              <a:rPr lang="ko-KR" altLang="en-US" sz="1800" dirty="0"/>
              <a:t>설계</a:t>
            </a:r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001A46-4F1C-8CA1-122A-02181DE191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434"/>
          <a:stretch>
            <a:fillRect/>
          </a:stretch>
        </p:blipFill>
        <p:spPr>
          <a:xfrm>
            <a:off x="8534400" y="685800"/>
            <a:ext cx="2222137" cy="519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841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E42844E-0F19-8263-D9C5-C2708FB7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Background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E9091-C379-AA33-1074-C22AA4007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99994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7410C-25D8-9B3C-F686-0873328C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7649B1-EA54-4416-AAFC-FF408060C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CDB7A3-D752-BD34-0DEF-2ED9A1CC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(a): </a:t>
            </a:r>
            <a:r>
              <a:rPr lang="ko-KR" altLang="en-US" dirty="0"/>
              <a:t>비트 병렬 </a:t>
            </a:r>
            <a:r>
              <a:rPr lang="en-US" altLang="ko-KR" dirty="0"/>
              <a:t>PE: </a:t>
            </a:r>
            <a:r>
              <a:rPr lang="ko-KR" altLang="en-US" dirty="0"/>
              <a:t>동일한 가중치의 모든 비트 간의 곱셈 수행 </a:t>
            </a:r>
            <a:r>
              <a:rPr lang="en-US" altLang="ko-KR" dirty="0"/>
              <a:t>-&gt; </a:t>
            </a:r>
            <a:r>
              <a:rPr lang="ko-KR" altLang="en-US" dirty="0"/>
              <a:t>의미 없는 비트 연산 초래 </a:t>
            </a:r>
            <a:r>
              <a:rPr lang="en-US" altLang="ko-KR" dirty="0"/>
              <a:t>-&gt; </a:t>
            </a:r>
            <a:r>
              <a:rPr lang="ko-KR" altLang="en-US" dirty="0"/>
              <a:t>성능 저하</a:t>
            </a:r>
            <a:endParaRPr lang="en-US" altLang="ko-KR" dirty="0"/>
          </a:p>
          <a:p>
            <a:r>
              <a:rPr lang="en-US" altLang="ko-KR" dirty="0"/>
              <a:t>(b): Pragmatic:</a:t>
            </a:r>
            <a:r>
              <a:rPr lang="ko-KR" altLang="en-US" dirty="0"/>
              <a:t> 모든 가중치의 비트 중 </a:t>
            </a:r>
            <a:r>
              <a:rPr lang="en-US" altLang="ko-KR" dirty="0"/>
              <a:t>0</a:t>
            </a:r>
            <a:r>
              <a:rPr lang="ko-KR" altLang="en-US" dirty="0"/>
              <a:t>이 아닌 비트만 처리 </a:t>
            </a:r>
            <a:br>
              <a:rPr lang="en-US" altLang="ko-KR" dirty="0"/>
            </a:br>
            <a:r>
              <a:rPr lang="ko-KR" altLang="en-US" dirty="0"/>
              <a:t>서로 다른 비트 가중치가 동시 처리될 수 있음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가중치 동기화 위해 모든 비트 직렬 </a:t>
            </a:r>
            <a:r>
              <a:rPr lang="ko-KR" altLang="en-US" dirty="0" err="1"/>
              <a:t>곱셈기</a:t>
            </a:r>
            <a:r>
              <a:rPr lang="ko-KR" altLang="en-US" dirty="0"/>
              <a:t> 뒤에 가변 </a:t>
            </a:r>
            <a:r>
              <a:rPr lang="ko-KR" altLang="en-US" dirty="0" err="1"/>
              <a:t>시프터</a:t>
            </a:r>
            <a:r>
              <a:rPr lang="ko-KR" altLang="en-US" dirty="0"/>
              <a:t> 필요</a:t>
            </a:r>
            <a:endParaRPr lang="en-US" altLang="ko-KR" dirty="0"/>
          </a:p>
          <a:p>
            <a:r>
              <a:rPr lang="en-US" altLang="ko-KR" dirty="0" err="1"/>
              <a:t>Pragmetic</a:t>
            </a:r>
            <a:r>
              <a:rPr lang="ko-KR" altLang="en-US" dirty="0"/>
              <a:t>은 부하 불균형 문제 발생</a:t>
            </a:r>
            <a:r>
              <a:rPr lang="en-US" altLang="ko-KR" dirty="0"/>
              <a:t>(</a:t>
            </a:r>
            <a:r>
              <a:rPr lang="ko-KR" altLang="en-US" dirty="0"/>
              <a:t>지연 시간이 </a:t>
            </a:r>
            <a:r>
              <a:rPr lang="en-US" altLang="ko-KR" dirty="0"/>
              <a:t>1</a:t>
            </a:r>
            <a:r>
              <a:rPr lang="ko-KR" altLang="en-US" dirty="0"/>
              <a:t>비트 개수가 가장 많은 가중치에 의해 결정됨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1FFCDD-CEBE-110C-C7A4-DA56BE76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93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A8FA-51AA-396E-D60E-EB067790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B8B79-D849-B660-60F5-0972CCFD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5E6880-FB8B-590A-DCC0-96B1C9DAF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(c): </a:t>
            </a:r>
            <a:r>
              <a:rPr lang="en-US" altLang="ko-KR" dirty="0" err="1"/>
              <a:t>Bitlet</a:t>
            </a:r>
            <a:r>
              <a:rPr lang="en-US" altLang="ko-KR" dirty="0"/>
              <a:t>: </a:t>
            </a:r>
            <a:r>
              <a:rPr lang="ko-KR" altLang="en-US" dirty="0"/>
              <a:t>여러 가중치와 활성화 소화 </a:t>
            </a:r>
            <a:r>
              <a:rPr lang="en-US" altLang="ko-KR" dirty="0"/>
              <a:t>-&gt; </a:t>
            </a:r>
            <a:r>
              <a:rPr lang="ko-KR" altLang="en-US" dirty="0"/>
              <a:t>각 비트 가중치 독립적으로 계산 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모든 비틀</a:t>
            </a:r>
            <a:r>
              <a:rPr lang="en-US" altLang="ko-KR" dirty="0"/>
              <a:t> lane</a:t>
            </a:r>
            <a:r>
              <a:rPr lang="ko-KR" altLang="en-US" dirty="0"/>
              <a:t>이 임의의 가중치로부터 유효 비트 흡수할 수 있음 </a:t>
            </a:r>
            <a:r>
              <a:rPr lang="en-US" altLang="ko-KR" dirty="0"/>
              <a:t>-&gt; </a:t>
            </a:r>
            <a:r>
              <a:rPr lang="ko-KR" altLang="en-US" dirty="0"/>
              <a:t>올바른 활성화 선택을 위한 대형 </a:t>
            </a:r>
            <a:r>
              <a:rPr lang="ko-KR" altLang="en-US" dirty="0" err="1"/>
              <a:t>멀티플렉서</a:t>
            </a:r>
            <a:r>
              <a:rPr lang="ko-KR" altLang="en-US" dirty="0"/>
              <a:t> 필요 </a:t>
            </a:r>
            <a:r>
              <a:rPr lang="en-US" altLang="ko-KR" dirty="0"/>
              <a:t>-&gt; </a:t>
            </a:r>
            <a:r>
              <a:rPr lang="ko-KR" altLang="en-US" dirty="0"/>
              <a:t>하드웨어 오버헤드 초래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부하 불균형 분제</a:t>
            </a:r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994F03-389F-CE87-B777-FD63F9342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62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653C-348D-917E-003F-6E1D88B60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61EC9-0CB4-0362-5938-0F65E256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52CA0-5650-FE1E-F172-A1024A2A2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(d): </a:t>
            </a:r>
            <a:r>
              <a:rPr lang="en-US" altLang="ko-KR" dirty="0" err="1"/>
              <a:t>BitWave</a:t>
            </a:r>
            <a:r>
              <a:rPr lang="en-US" altLang="ko-KR" dirty="0"/>
              <a:t>: </a:t>
            </a:r>
            <a:r>
              <a:rPr lang="ko-KR" altLang="en-US" dirty="0"/>
              <a:t>열 단위로 </a:t>
            </a:r>
            <a:r>
              <a:rPr lang="en-US" altLang="ko-KR" dirty="0"/>
              <a:t>0</a:t>
            </a:r>
            <a:r>
              <a:rPr lang="ko-KR" altLang="en-US" dirty="0"/>
              <a:t>비트를 건너뜀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BirVert</a:t>
            </a:r>
            <a:r>
              <a:rPr lang="en-US" altLang="ko-KR" dirty="0"/>
              <a:t>: </a:t>
            </a:r>
            <a:r>
              <a:rPr lang="ko-KR" altLang="en-US" dirty="0"/>
              <a:t>가능한 많은 희소 비트 건너뜀 </a:t>
            </a:r>
            <a:r>
              <a:rPr lang="en-US" altLang="ko-KR" dirty="0"/>
              <a:t>+ </a:t>
            </a:r>
            <a:r>
              <a:rPr lang="ko-KR" altLang="en-US" dirty="0"/>
              <a:t>비트 직렬 작업 부하의 균형 맞추기 위해 노력 </a:t>
            </a:r>
            <a:endParaRPr lang="en-US" altLang="ko-KR" dirty="0"/>
          </a:p>
          <a:p>
            <a:r>
              <a:rPr lang="en-US" altLang="ko-KR" dirty="0"/>
              <a:t>If</a:t>
            </a:r>
            <a:r>
              <a:rPr lang="ko-KR" altLang="en-US" dirty="0"/>
              <a:t> 비트 열에 </a:t>
            </a:r>
            <a:r>
              <a:rPr lang="en-US" altLang="ko-KR" dirty="0"/>
              <a:t>0</a:t>
            </a:r>
            <a:r>
              <a:rPr lang="ko-KR" altLang="en-US" dirty="0"/>
              <a:t>이 많음 </a:t>
            </a:r>
            <a:r>
              <a:rPr lang="en-US" altLang="ko-KR" dirty="0"/>
              <a:t>-&gt; 0</a:t>
            </a:r>
            <a:r>
              <a:rPr lang="ko-KR" altLang="en-US" dirty="0"/>
              <a:t>비트 건너뜀</a:t>
            </a:r>
            <a:endParaRPr lang="en-US" altLang="ko-KR" dirty="0"/>
          </a:p>
          <a:p>
            <a:r>
              <a:rPr lang="en-US" altLang="ko-KR" dirty="0"/>
              <a:t>If </a:t>
            </a:r>
            <a:r>
              <a:rPr lang="ko-KR" altLang="en-US" dirty="0"/>
              <a:t>비트 열에 </a:t>
            </a:r>
            <a:r>
              <a:rPr lang="en-US" altLang="ko-KR" dirty="0"/>
              <a:t>0</a:t>
            </a:r>
            <a:r>
              <a:rPr lang="ko-KR" altLang="en-US" dirty="0"/>
              <a:t>이 적음 </a:t>
            </a:r>
            <a:r>
              <a:rPr lang="en-US" altLang="ko-KR" dirty="0"/>
              <a:t>-&gt; 1</a:t>
            </a:r>
            <a:r>
              <a:rPr lang="ko-KR" altLang="en-US" dirty="0"/>
              <a:t>비트를 건너뜀</a:t>
            </a:r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182898-1CD3-0986-86AF-C3F21BE0F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9B169-DEC9-4999-E242-7AC08AC70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45839-C3C3-9D3A-6547-E05F0B76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745832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대중적인 </a:t>
            </a:r>
            <a:r>
              <a:rPr lang="en-US" altLang="ko-KR" sz="1800" dirty="0"/>
              <a:t>8</a:t>
            </a:r>
            <a:r>
              <a:rPr lang="ko-KR" altLang="en-US" sz="1800" dirty="0"/>
              <a:t>비트 양자화 </a:t>
            </a:r>
            <a:r>
              <a:rPr lang="en-US" altLang="ko-KR" sz="1800" dirty="0"/>
              <a:t>DNN</a:t>
            </a:r>
            <a:r>
              <a:rPr lang="ko-KR" altLang="en-US" sz="1800" dirty="0"/>
              <a:t>에서 값 기반 가중치 희소성은 </a:t>
            </a:r>
            <a:r>
              <a:rPr lang="en-US" altLang="ko-KR" sz="1800" dirty="0"/>
              <a:t>5% </a:t>
            </a:r>
            <a:r>
              <a:rPr lang="ko-KR" altLang="en-US" sz="1800" dirty="0"/>
              <a:t>미만</a:t>
            </a:r>
            <a:endParaRPr lang="en-US" altLang="ko-KR" sz="1800" dirty="0"/>
          </a:p>
          <a:p>
            <a:r>
              <a:rPr lang="ko-KR" altLang="en-US" sz="1800" dirty="0"/>
              <a:t>비트 수준 희소성은 </a:t>
            </a:r>
            <a:r>
              <a:rPr lang="en-US" altLang="ko-KR" sz="1800" dirty="0"/>
              <a:t>50% </a:t>
            </a:r>
            <a:r>
              <a:rPr lang="ko-KR" altLang="en-US" sz="1800" dirty="0"/>
              <a:t>도달할 수  있음</a:t>
            </a:r>
            <a:endParaRPr lang="en-US" altLang="ko-KR" sz="1800" dirty="0"/>
          </a:p>
          <a:p>
            <a:r>
              <a:rPr lang="ko-KR" altLang="en-US" sz="1800" dirty="0"/>
              <a:t>비트 직렬 컴퓨팅은 부호</a:t>
            </a:r>
            <a:r>
              <a:rPr lang="en-US" altLang="ko-KR" sz="1800" dirty="0"/>
              <a:t>-</a:t>
            </a:r>
            <a:r>
              <a:rPr lang="ko-KR" altLang="en-US" sz="1800" dirty="0"/>
              <a:t>크기 산술 채택에 여전히 문제 있음</a:t>
            </a:r>
            <a:br>
              <a:rPr lang="en-US" altLang="ko-KR" sz="1800" dirty="0"/>
            </a:br>
            <a:r>
              <a:rPr lang="en-US" altLang="ko-KR" sz="1800" dirty="0"/>
              <a:t>1) </a:t>
            </a:r>
            <a:r>
              <a:rPr lang="ko-KR" altLang="en-US" sz="1800" dirty="0"/>
              <a:t>모든 비트 직렬 곱셈기는 부분합 생성을 위해 </a:t>
            </a:r>
            <a:r>
              <a:rPr lang="en-US" altLang="ko-KR" sz="1800" dirty="0"/>
              <a:t>2</a:t>
            </a:r>
            <a:r>
              <a:rPr lang="ko-KR" altLang="en-US" sz="1800" dirty="0"/>
              <a:t>의 보수 변환기 필요</a:t>
            </a:r>
            <a:br>
              <a:rPr lang="en-US" altLang="ko-KR" sz="1800" dirty="0"/>
            </a:br>
            <a:r>
              <a:rPr lang="en-US" altLang="ko-KR" sz="1800" dirty="0"/>
              <a:t>2) </a:t>
            </a:r>
            <a:r>
              <a:rPr lang="ko-KR" altLang="en-US" sz="1800" dirty="0"/>
              <a:t>부하 불균형과 동기화 오버헤드 초래</a:t>
            </a:r>
            <a:endParaRPr lang="en-US" altLang="ko-KR" sz="1800" dirty="0"/>
          </a:p>
          <a:p>
            <a:r>
              <a:rPr lang="en-US" altLang="ko-KR" sz="1800" dirty="0"/>
              <a:t>BBS</a:t>
            </a:r>
            <a:r>
              <a:rPr lang="ko-KR" altLang="en-US" sz="1800" dirty="0"/>
              <a:t>는 </a:t>
            </a:r>
            <a:r>
              <a:rPr lang="en-US" altLang="ko-KR" sz="1800" dirty="0"/>
              <a:t>2</a:t>
            </a:r>
            <a:r>
              <a:rPr lang="ko-KR" altLang="en-US" sz="1800" dirty="0"/>
              <a:t>의 보수 이진 표현 유지 </a:t>
            </a:r>
            <a:r>
              <a:rPr lang="en-US" altLang="ko-KR" sz="1800" dirty="0"/>
              <a:t>+ </a:t>
            </a:r>
            <a:r>
              <a:rPr lang="ko-KR" altLang="en-US" sz="1800" dirty="0"/>
              <a:t>발생 빈도가 더 높은 </a:t>
            </a:r>
            <a:r>
              <a:rPr lang="en-US" altLang="ko-KR" sz="1800" dirty="0"/>
              <a:t>0 </a:t>
            </a:r>
            <a:r>
              <a:rPr lang="ko-KR" altLang="en-US" sz="1800" dirty="0"/>
              <a:t>또는 </a:t>
            </a:r>
            <a:r>
              <a:rPr lang="en-US" altLang="ko-KR" sz="1800" dirty="0"/>
              <a:t>1</a:t>
            </a:r>
            <a:r>
              <a:rPr lang="ko-KR" altLang="en-US" sz="1800" dirty="0"/>
              <a:t>을 희소 비트로 취급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모든 비트 벡터가 적어도 </a:t>
            </a:r>
            <a:r>
              <a:rPr lang="en-US" altLang="ko-KR" sz="1800" dirty="0"/>
              <a:t>50% </a:t>
            </a:r>
            <a:r>
              <a:rPr lang="ko-KR" altLang="en-US" sz="1800" dirty="0"/>
              <a:t>비트 희소성 보장</a:t>
            </a:r>
            <a:r>
              <a:rPr lang="en-US" altLang="ko-KR" sz="1800" dirty="0"/>
              <a:t>+ </a:t>
            </a:r>
            <a:r>
              <a:rPr lang="ko-KR" altLang="en-US" sz="1800" dirty="0"/>
              <a:t>서로 다른</a:t>
            </a:r>
            <a:r>
              <a:rPr lang="en-US" altLang="ko-KR" sz="1800" dirty="0"/>
              <a:t> PE </a:t>
            </a:r>
            <a:r>
              <a:rPr lang="ko-KR" altLang="en-US" sz="1800" dirty="0"/>
              <a:t>간에 균형 잡힌 작업 부하</a:t>
            </a:r>
          </a:p>
        </p:txBody>
      </p:sp>
      <p:pic>
        <p:nvPicPr>
          <p:cNvPr id="5" name="그림 4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BB8C02-DD10-D685-B72C-304EA2AA3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41" y="3136737"/>
            <a:ext cx="5105445" cy="196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9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D2EAD8-93F6-2245-1035-4B948A891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91570"/>
            <a:ext cx="5303520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BBS: Bi-Directional Bit-Level Sparsity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FC56E-067A-1BCB-AD10-DBF54B1BA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6341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2424E-C199-95F8-FB5C-EC4E1032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F90EF-0953-91BA-1CD7-432DF5BBE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48" y="1540042"/>
            <a:ext cx="6261435" cy="4327358"/>
          </a:xfrm>
        </p:spPr>
        <p:txBody>
          <a:bodyPr>
            <a:normAutofit/>
          </a:bodyPr>
          <a:lstStyle/>
          <a:p>
            <a:r>
              <a:rPr lang="en-US" altLang="ko-KR" dirty="0"/>
              <a:t>N: </a:t>
            </a:r>
            <a:r>
              <a:rPr lang="ko-KR" altLang="en-US" dirty="0"/>
              <a:t>그룹 크기</a:t>
            </a:r>
            <a:r>
              <a:rPr lang="en-US" altLang="ko-KR" dirty="0"/>
              <a:t>(</a:t>
            </a:r>
            <a:r>
              <a:rPr lang="ko-KR" altLang="en-US" dirty="0"/>
              <a:t>그룹</a:t>
            </a:r>
            <a:r>
              <a:rPr lang="en-US" altLang="ko-KR" dirty="0"/>
              <a:t>: </a:t>
            </a:r>
            <a:r>
              <a:rPr lang="ko-KR" altLang="en-US" dirty="0"/>
              <a:t>동일 내적 출력에 기여하는 여러 가중치 또는 활성화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가중치의 모든 비트는 </a:t>
            </a:r>
            <a:r>
              <a:rPr lang="en-US" altLang="ko-KR" dirty="0"/>
              <a:t>0 or 1</a:t>
            </a:r>
          </a:p>
          <a:p>
            <a:r>
              <a:rPr lang="en-US" altLang="ko-KR" dirty="0"/>
              <a:t>If </a:t>
            </a:r>
            <a:r>
              <a:rPr lang="ko-KR" altLang="en-US" dirty="0"/>
              <a:t>비트 벡터에 </a:t>
            </a:r>
            <a:r>
              <a:rPr lang="en-US" altLang="ko-KR" dirty="0"/>
              <a:t>50% </a:t>
            </a:r>
            <a:r>
              <a:rPr lang="ko-KR" altLang="en-US" dirty="0"/>
              <a:t>이상의 </a:t>
            </a:r>
            <a:r>
              <a:rPr lang="en-US" altLang="ko-KR" dirty="0"/>
              <a:t>0</a:t>
            </a:r>
            <a:r>
              <a:rPr lang="ko-KR" altLang="en-US" dirty="0"/>
              <a:t>비트</a:t>
            </a:r>
            <a:r>
              <a:rPr lang="en-US" altLang="ko-KR" dirty="0"/>
              <a:t>: </a:t>
            </a:r>
            <a:r>
              <a:rPr lang="ko-KR" altLang="en-US" dirty="0"/>
              <a:t>연산 중에 건너뜀</a:t>
            </a:r>
            <a:endParaRPr lang="en-US" altLang="ko-KR" dirty="0"/>
          </a:p>
          <a:p>
            <a:r>
              <a:rPr lang="en-US" altLang="ko-KR" dirty="0"/>
              <a:t>Else: </a:t>
            </a:r>
            <a:r>
              <a:rPr lang="ko-KR" altLang="en-US" dirty="0"/>
              <a:t>비트 벡터 반전시킴 </a:t>
            </a:r>
            <a:r>
              <a:rPr lang="en-US" altLang="ko-KR" dirty="0"/>
              <a:t>-&gt; </a:t>
            </a:r>
            <a:r>
              <a:rPr lang="ko-KR" altLang="en-US" dirty="0"/>
              <a:t>전체 합에서 해당 비트 직렬 내적 값 뺌</a:t>
            </a:r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BBS </a:t>
            </a:r>
            <a:r>
              <a:rPr lang="ko-KR" altLang="en-US" dirty="0"/>
              <a:t>아이디어는 부하 균형을 개선할 수 있음</a:t>
            </a:r>
          </a:p>
        </p:txBody>
      </p:sp>
      <p:pic>
        <p:nvPicPr>
          <p:cNvPr id="7" name="그림 6" descr="폰트, 도표, 화이트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10F1E2-B520-5517-E3CF-A0194E18C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435" y="4056646"/>
            <a:ext cx="3211495" cy="1563649"/>
          </a:xfrm>
          <a:prstGeom prst="rect">
            <a:avLst/>
          </a:prstGeom>
        </p:spPr>
      </p:pic>
      <p:pic>
        <p:nvPicPr>
          <p:cNvPr id="5" name="그림 4" descr="폰트, 화이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6E12D-CBBF-F214-C07C-7715A1BA4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436" y="2286000"/>
            <a:ext cx="3211495" cy="684236"/>
          </a:xfrm>
          <a:prstGeom prst="rect">
            <a:avLst/>
          </a:prstGeom>
        </p:spPr>
      </p:pic>
      <p:pic>
        <p:nvPicPr>
          <p:cNvPr id="9" name="그림 8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4B2C35-609A-5C48-2A86-53F259E72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833" y="4420145"/>
            <a:ext cx="61912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72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D7E26-E0CF-4298-A7B4-495D54B3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7989"/>
          </a:xfrm>
        </p:spPr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1EFFDE-8234-8155-D28D-BBE71E190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43789"/>
            <a:ext cx="9873916" cy="4423611"/>
          </a:xfrm>
        </p:spPr>
        <p:txBody>
          <a:bodyPr/>
          <a:lstStyle/>
          <a:p>
            <a:r>
              <a:rPr lang="ko-KR" altLang="en-US" dirty="0"/>
              <a:t>비트 수준 바이너리 </a:t>
            </a:r>
            <a:r>
              <a:rPr lang="ko-KR" altLang="en-US" dirty="0" err="1"/>
              <a:t>프루닝</a:t>
            </a:r>
            <a:r>
              <a:rPr lang="en-US" altLang="ko-KR" dirty="0"/>
              <a:t>: </a:t>
            </a:r>
            <a:r>
              <a:rPr lang="ko-KR" altLang="en-US" dirty="0"/>
              <a:t>가중치 그룹 내에서 모두 </a:t>
            </a:r>
            <a:r>
              <a:rPr lang="en-US" altLang="ko-KR" dirty="0"/>
              <a:t>0</a:t>
            </a:r>
            <a:r>
              <a:rPr lang="ko-KR" altLang="en-US" dirty="0"/>
              <a:t>비트이거나 모두 </a:t>
            </a:r>
            <a:r>
              <a:rPr lang="en-US" altLang="ko-KR" dirty="0"/>
              <a:t>1</a:t>
            </a:r>
            <a:r>
              <a:rPr lang="ko-KR" altLang="en-US" dirty="0"/>
              <a:t>비트인 비트 열 제거하는 기술</a:t>
            </a:r>
            <a:endParaRPr lang="en-US" altLang="ko-KR" dirty="0"/>
          </a:p>
          <a:p>
            <a:r>
              <a:rPr lang="ko-KR" altLang="en-US" dirty="0"/>
              <a:t>반올림 평균화 기반 </a:t>
            </a:r>
            <a:r>
              <a:rPr lang="en-US" altLang="ko-KR" dirty="0"/>
              <a:t>BBS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최상위 비트 열과 내용이 동일하며 바로 뒤따라오는 중복 비트 열 확인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원래 가중치의 하위 </a:t>
            </a:r>
            <a:r>
              <a:rPr lang="en-US" altLang="ko-KR" dirty="0"/>
              <a:t>3</a:t>
            </a:r>
            <a:r>
              <a:rPr lang="ko-KR" altLang="en-US" dirty="0"/>
              <a:t>개 비트가 나타내는 값들의 반올림 평균을 계산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남은 </a:t>
            </a:r>
            <a:r>
              <a:rPr lang="en-US" altLang="ko-KR" dirty="0"/>
              <a:t>4</a:t>
            </a:r>
            <a:r>
              <a:rPr lang="ko-KR" altLang="en-US" dirty="0"/>
              <a:t>개의 비트 열과 </a:t>
            </a:r>
            <a:r>
              <a:rPr lang="en-US" altLang="ko-KR" dirty="0"/>
              <a:t>8</a:t>
            </a:r>
            <a:r>
              <a:rPr lang="ko-KR" altLang="en-US" dirty="0"/>
              <a:t>비트 인코딩 메타데이터 저장하여 원래 가중치 그룹 압축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8A097F-60E1-1EFA-3DD2-1A75CFD0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25" y="5181600"/>
            <a:ext cx="776287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20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8CE86-7F54-0552-87F7-D051B262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F2BB34-94E2-529C-4D21-19C920B48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75874"/>
            <a:ext cx="9825789" cy="4391526"/>
          </a:xfrm>
        </p:spPr>
        <p:txBody>
          <a:bodyPr/>
          <a:lstStyle/>
          <a:p>
            <a:r>
              <a:rPr lang="ko-KR" altLang="en-US" dirty="0"/>
              <a:t>제로 포인트 </a:t>
            </a:r>
            <a:r>
              <a:rPr lang="ko-KR" altLang="en-US" dirty="0" err="1"/>
              <a:t>시프팅</a:t>
            </a:r>
            <a:r>
              <a:rPr lang="ko-KR" altLang="en-US" dirty="0"/>
              <a:t> 기반 </a:t>
            </a:r>
            <a:r>
              <a:rPr lang="en-US" altLang="ko-KR" dirty="0"/>
              <a:t>BBS</a:t>
            </a:r>
          </a:p>
          <a:p>
            <a:r>
              <a:rPr lang="en-US" altLang="ko-KR" dirty="0"/>
              <a:t>1) </a:t>
            </a:r>
            <a:r>
              <a:rPr lang="ko-KR" altLang="en-US" dirty="0"/>
              <a:t>상수를 더한다고 가정 </a:t>
            </a:r>
            <a:r>
              <a:rPr lang="en-US" altLang="ko-KR" dirty="0"/>
              <a:t>=&gt; </a:t>
            </a:r>
            <a:r>
              <a:rPr lang="ko-KR" altLang="en-US" dirty="0"/>
              <a:t>모든 숫자의 이진 내용 변경</a:t>
            </a:r>
            <a:br>
              <a:rPr lang="en-US" altLang="ko-KR" dirty="0"/>
            </a:br>
            <a:r>
              <a:rPr lang="en-US" altLang="ko-KR" dirty="0"/>
              <a:t>2) 4</a:t>
            </a:r>
            <a:r>
              <a:rPr lang="ko-KR" altLang="en-US" dirty="0"/>
              <a:t>개의 하위 비트 열 </a:t>
            </a:r>
            <a:r>
              <a:rPr lang="ko-KR" altLang="en-US" dirty="0" err="1"/>
              <a:t>프루닝</a:t>
            </a:r>
            <a:r>
              <a:rPr lang="en-US" altLang="ko-KR" dirty="0"/>
              <a:t>(</a:t>
            </a:r>
            <a:r>
              <a:rPr lang="ko-KR" altLang="en-US" dirty="0"/>
              <a:t>제거</a:t>
            </a:r>
            <a:r>
              <a:rPr lang="en-US" altLang="ko-KR" dirty="0"/>
              <a:t>)</a:t>
            </a:r>
            <a:r>
              <a:rPr lang="ko-KR" altLang="en-US" dirty="0" err="1"/>
              <a:t>할때</a:t>
            </a:r>
            <a:r>
              <a:rPr lang="ko-KR" altLang="en-US" dirty="0"/>
              <a:t> 숫자의 하위 </a:t>
            </a:r>
            <a:r>
              <a:rPr lang="en-US" altLang="ko-KR" dirty="0"/>
              <a:t>4</a:t>
            </a:r>
            <a:r>
              <a:rPr lang="ko-KR" altLang="en-US" dirty="0"/>
              <a:t>비트 직접 </a:t>
            </a:r>
            <a:r>
              <a:rPr lang="en-US" altLang="ko-KR" dirty="0"/>
              <a:t>0</a:t>
            </a:r>
            <a:r>
              <a:rPr lang="ko-KR" altLang="en-US" dirty="0"/>
              <a:t>으로 </a:t>
            </a:r>
            <a:r>
              <a:rPr lang="ko-KR" altLang="en-US" dirty="0" err="1"/>
              <a:t>만듬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상위 비트로 반올림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</a:t>
            </a:r>
            <a:r>
              <a:rPr lang="ko-KR" altLang="en-US" dirty="0"/>
              <a:t> 후의 실제 값 보여줌 </a:t>
            </a:r>
            <a:r>
              <a:rPr lang="en-US" altLang="ko-KR" dirty="0"/>
              <a:t>-&gt; </a:t>
            </a:r>
            <a:r>
              <a:rPr lang="ko-KR" altLang="en-US" dirty="0"/>
              <a:t>새로운 제로 포인트 인코딩 메타데이터에 저장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396AA1-3213-8F1D-9009-2F4EDDBA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030" y="5253037"/>
            <a:ext cx="77533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99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4456F-7DE0-E953-7631-831C7974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093B23-8890-0E0C-3C39-964887773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0573" y="1836821"/>
            <a:ext cx="5063253" cy="447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12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10531D-5D5B-6136-0E19-47F9303C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 err="1">
                <a:solidFill>
                  <a:schemeClr val="bg2"/>
                </a:solidFill>
              </a:rPr>
              <a:t>Bitvert</a:t>
            </a:r>
            <a:r>
              <a:rPr lang="en-US" altLang="ko-KR" sz="5400" dirty="0">
                <a:solidFill>
                  <a:schemeClr val="bg2"/>
                </a:solidFill>
              </a:rPr>
              <a:t> Hardware Architecture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8F30F4-68D6-825A-8731-EC48511E2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852563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EBB1DD-45F0-BDB8-C3C8-3E477DBF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3000" dirty="0">
                <a:solidFill>
                  <a:schemeClr val="bg2"/>
                </a:solidFill>
              </a:rPr>
              <a:t>Evaluation/Conclusion</a:t>
            </a:r>
            <a:endParaRPr lang="ko-KR" altLang="en-US" sz="30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47FDF5-719C-366E-87C7-691AE3B88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255093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59B6E-DF37-B946-4E7A-8997EA44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C86417-CE1A-F442-85BA-51B9C559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ko-KR" altLang="en-US" dirty="0"/>
              <a:t>보통 모델 양자화 시 실제 이미지 데이터 필요</a:t>
            </a:r>
            <a:br>
              <a:rPr lang="en-US" altLang="ko-KR" dirty="0"/>
            </a:br>
            <a:r>
              <a:rPr lang="en-US" altLang="ko-KR" dirty="0"/>
              <a:t>but BBS</a:t>
            </a:r>
            <a:r>
              <a:rPr lang="ko-KR" altLang="en-US" dirty="0"/>
              <a:t>는 데이터 실제 이미지 데이터 없이도 정확도 유지</a:t>
            </a:r>
            <a:endParaRPr lang="en-US" altLang="ko-KR" dirty="0"/>
          </a:p>
          <a:p>
            <a:r>
              <a:rPr lang="ko-KR" altLang="en-US" dirty="0"/>
              <a:t>속도도 </a:t>
            </a:r>
            <a:r>
              <a:rPr lang="en-US" altLang="ko-KR" dirty="0"/>
              <a:t>3.03</a:t>
            </a:r>
            <a:r>
              <a:rPr lang="ko-KR" altLang="en-US" dirty="0"/>
              <a:t>배 향상 </a:t>
            </a:r>
            <a:r>
              <a:rPr lang="en-US" altLang="ko-KR" dirty="0"/>
              <a:t>+ </a:t>
            </a:r>
            <a:r>
              <a:rPr lang="ko-KR" altLang="en-US" dirty="0"/>
              <a:t>에너지도 </a:t>
            </a:r>
            <a:r>
              <a:rPr lang="en-US" altLang="ko-KR" dirty="0"/>
              <a:t>2.44</a:t>
            </a:r>
            <a:r>
              <a:rPr lang="ko-KR" altLang="en-US" dirty="0"/>
              <a:t>배 절감</a:t>
            </a:r>
            <a:endParaRPr lang="en-US" altLang="ko-KR" dirty="0"/>
          </a:p>
          <a:p>
            <a:r>
              <a:rPr lang="en-US" altLang="ko-KR" dirty="0" err="1"/>
              <a:t>BitVert</a:t>
            </a:r>
            <a:r>
              <a:rPr lang="ko-KR" altLang="en-US" dirty="0"/>
              <a:t>는 </a:t>
            </a:r>
            <a:r>
              <a:rPr lang="en-US" altLang="ko-KR" dirty="0"/>
              <a:t>BBS</a:t>
            </a:r>
            <a:r>
              <a:rPr lang="ko-KR" altLang="en-US" dirty="0"/>
              <a:t>의 이론인 </a:t>
            </a:r>
            <a:r>
              <a:rPr lang="en-US" altLang="ko-KR" dirty="0"/>
              <a:t>50%</a:t>
            </a:r>
            <a:r>
              <a:rPr lang="ko-KR" altLang="en-US" dirty="0"/>
              <a:t>를 보장하는 이론이 적용돼</a:t>
            </a:r>
            <a:r>
              <a:rPr lang="en-US" altLang="ko-KR" dirty="0"/>
              <a:t>0</a:t>
            </a:r>
            <a:r>
              <a:rPr lang="ko-KR" altLang="en-US" dirty="0"/>
              <a:t>서 병렬 처리 효율이 극대화됨</a:t>
            </a:r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더 적은 오차로 더 높은 효율을 냄</a:t>
            </a:r>
          </a:p>
        </p:txBody>
      </p:sp>
      <p:pic>
        <p:nvPicPr>
          <p:cNvPr id="5" name="그림 4" descr="텍스트, 스크린샷, 도표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F632BA-099C-378E-094D-E07759E0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425" y="4171950"/>
            <a:ext cx="4219575" cy="2686050"/>
          </a:xfrm>
          <a:prstGeom prst="rect">
            <a:avLst/>
          </a:prstGeom>
        </p:spPr>
      </p:pic>
      <p:pic>
        <p:nvPicPr>
          <p:cNvPr id="7" name="그림 6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2283A7-6BDB-E65E-728A-639D781EB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1" y="3886920"/>
            <a:ext cx="5442284" cy="297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33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B6FED-1858-F2FB-D53C-5E7A1F55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7779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4287B-0AEC-8CC7-1EE3-DBBF26F59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3579"/>
            <a:ext cx="9601200" cy="4503821"/>
          </a:xfrm>
        </p:spPr>
        <p:txBody>
          <a:bodyPr/>
          <a:lstStyle/>
          <a:p>
            <a:r>
              <a:rPr lang="en-US" altLang="ko-KR" dirty="0"/>
              <a:t>BBS</a:t>
            </a:r>
            <a:r>
              <a:rPr lang="ko-KR" altLang="en-US" dirty="0"/>
              <a:t>는 압축되지 않은 모델의 통계적 특성 최대한 보존 </a:t>
            </a:r>
            <a:r>
              <a:rPr lang="en-US" altLang="ko-KR" dirty="0"/>
              <a:t>+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프루닝을</a:t>
            </a:r>
            <a:r>
              <a:rPr lang="ko-KR" altLang="en-US" dirty="0"/>
              <a:t> 통해 사후 학습 </a:t>
            </a:r>
            <a:r>
              <a:rPr lang="en-US" altLang="ko-KR" dirty="0"/>
              <a:t>DNN </a:t>
            </a:r>
            <a:r>
              <a:rPr lang="ko-KR" altLang="en-US" dirty="0"/>
              <a:t>압축의 한계를 최첨단 수준으로 끌어올림</a:t>
            </a:r>
            <a:endParaRPr lang="en-US" altLang="ko-KR" dirty="0"/>
          </a:p>
          <a:p>
            <a:r>
              <a:rPr lang="ko-KR" altLang="en-US" dirty="0"/>
              <a:t>그 결과</a:t>
            </a:r>
            <a:r>
              <a:rPr lang="en-US" altLang="ko-KR" dirty="0"/>
              <a:t>,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</a:t>
            </a:r>
            <a:r>
              <a:rPr lang="ko-KR" altLang="en-US" dirty="0"/>
              <a:t> 기술 </a:t>
            </a:r>
            <a:r>
              <a:rPr lang="en-US" altLang="ko-KR" dirty="0"/>
              <a:t>-&gt; </a:t>
            </a:r>
            <a:r>
              <a:rPr lang="ko-KR" altLang="en-US" dirty="0"/>
              <a:t>훨씬 더 높은 정확도 달성</a:t>
            </a:r>
            <a:endParaRPr lang="en-US" altLang="ko-KR" dirty="0"/>
          </a:p>
          <a:p>
            <a:r>
              <a:rPr lang="en-US" altLang="ko-KR" dirty="0" err="1"/>
              <a:t>BitVert</a:t>
            </a:r>
            <a:r>
              <a:rPr lang="en-US" altLang="ko-KR" dirty="0"/>
              <a:t> </a:t>
            </a:r>
            <a:r>
              <a:rPr lang="ko-KR" altLang="en-US" dirty="0"/>
              <a:t>가속기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3.03</a:t>
            </a:r>
            <a:r>
              <a:rPr lang="ko-KR" altLang="en-US" dirty="0"/>
              <a:t>배의 속도 향상 </a:t>
            </a:r>
            <a:r>
              <a:rPr lang="en-US" altLang="ko-KR" dirty="0"/>
              <a:t>+ 2.44</a:t>
            </a:r>
            <a:r>
              <a:rPr lang="ko-KR" altLang="en-US" dirty="0"/>
              <a:t>배 에너지 절감</a:t>
            </a:r>
          </a:p>
        </p:txBody>
      </p:sp>
    </p:spTree>
    <p:extLst>
      <p:ext uri="{BB962C8B-B14F-4D97-AF65-F5344CB8AC3E}">
        <p14:creationId xmlns:p14="http://schemas.microsoft.com/office/powerpoint/2010/main" val="2733350738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186</TotalTime>
  <Words>1153</Words>
  <Application>Microsoft Office PowerPoint</Application>
  <PresentationFormat>와이드스크린</PresentationFormat>
  <Paragraphs>92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29" baseType="lpstr">
      <vt:lpstr>Franklin Gothic Book</vt:lpstr>
      <vt:lpstr>자르기</vt:lpstr>
      <vt:lpstr>BBS: Bi-directional Bit-level Sparsity for Deep Learning Acceleration 논문 리뷰</vt:lpstr>
      <vt:lpstr>목차</vt:lpstr>
      <vt:lpstr>Abstract</vt:lpstr>
      <vt:lpstr>Abstract</vt:lpstr>
      <vt:lpstr>Abstract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Background </vt:lpstr>
      <vt:lpstr>Background</vt:lpstr>
      <vt:lpstr>Background</vt:lpstr>
      <vt:lpstr>Background</vt:lpstr>
      <vt:lpstr>Background</vt:lpstr>
      <vt:lpstr>BBS: Bi-Directional Bit-Level Sparsity </vt:lpstr>
      <vt:lpstr>BBS</vt:lpstr>
      <vt:lpstr>BBS</vt:lpstr>
      <vt:lpstr>BBS</vt:lpstr>
      <vt:lpstr>BBS</vt:lpstr>
      <vt:lpstr>Bitvert Hardware Architecture </vt:lpstr>
      <vt:lpstr>Evaluation/Conclusion</vt:lpstr>
      <vt:lpstr>Evaluation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48</cp:revision>
  <dcterms:created xsi:type="dcterms:W3CDTF">2026-02-18T17:43:51Z</dcterms:created>
  <dcterms:modified xsi:type="dcterms:W3CDTF">2026-05-16T15:53:05Z</dcterms:modified>
</cp:coreProperties>
</file>
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58" r:id="rId7"/>
    <p:sldId id="259" r:id="rId8"/>
    <p:sldId id="260" r:id="rId9"/>
    <p:sldId id="269" r:id="rId10"/>
    <p:sldId id="270" r:id="rId11"/>
    <p:sldId id="261" r:id="rId12"/>
    <p:sldId id="271" r:id="rId13"/>
    <p:sldId id="272" r:id="rId14"/>
    <p:sldId id="273" r:id="rId15"/>
    <p:sldId id="274" r:id="rId16"/>
    <p:sldId id="278" r:id="rId17"/>
    <p:sldId id="276" r:id="rId18"/>
    <p:sldId id="277" r:id="rId19"/>
    <p:sldId id="279" r:id="rId20"/>
    <p:sldId id="265" r:id="rId21"/>
    <p:sldId id="280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0050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169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022762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05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523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4244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717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4979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45292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2236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52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300AEB4-3B71-4FC2-9713-CCE094199E7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67D3B85-3052-4E29-8789-0477F13F399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717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1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1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9BA7-1AFD-6F0B-5BC8-DD7BEA4690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/>
              <a:t>V10: Hardware-Assisted NPU Multi-tenancy for Improved Resource Utilization and Fairness 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DBEC1F-2674-D61E-F4E4-82D57A1C86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25.01.29 </a:t>
            </a:r>
            <a:r>
              <a:rPr lang="ko-KR" altLang="en-US" dirty="0"/>
              <a:t>세미나</a:t>
            </a:r>
          </a:p>
        </p:txBody>
      </p:sp>
    </p:spTree>
    <p:extLst>
      <p:ext uri="{BB962C8B-B14F-4D97-AF65-F5344CB8AC3E}">
        <p14:creationId xmlns:p14="http://schemas.microsoft.com/office/powerpoint/2010/main" val="381781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D5A65FD-EDE0-87E7-D6BD-A35DBD665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5400">
                <a:solidFill>
                  <a:schemeClr val="bg2"/>
                </a:solidFill>
              </a:rPr>
              <a:t>목차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70DEBC-A1C1-8EC4-9AA1-606E4088C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r>
              <a:rPr lang="en-US" altLang="ko-KR" sz="1800" dirty="0"/>
              <a:t>1. Abstract</a:t>
            </a:r>
          </a:p>
          <a:p>
            <a:r>
              <a:rPr lang="en-US" altLang="ko-KR" sz="1800" dirty="0"/>
              <a:t>2. Introduction</a:t>
            </a:r>
          </a:p>
          <a:p>
            <a:r>
              <a:rPr lang="en-US" altLang="ko-KR" sz="1800" dirty="0"/>
              <a:t>3. Characterization Study of NPU Utilization(</a:t>
            </a:r>
            <a:r>
              <a:rPr lang="ko-KR" altLang="en-US" sz="1800" dirty="0"/>
              <a:t>다음 시간</a:t>
            </a:r>
            <a:r>
              <a:rPr lang="en-US" altLang="ko-KR" sz="1800" dirty="0"/>
              <a:t>…)</a:t>
            </a:r>
          </a:p>
          <a:p>
            <a:r>
              <a:rPr lang="en-US" altLang="ko-KR" sz="1800" dirty="0"/>
              <a:t>4. Design and Implementation</a:t>
            </a:r>
          </a:p>
          <a:p>
            <a:r>
              <a:rPr lang="en-US" altLang="ko-KR" sz="1800" dirty="0"/>
              <a:t>5. Evaluation</a:t>
            </a:r>
          </a:p>
          <a:p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95255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361214B-A163-434F-5491-7E51144F8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Abstract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FFBB27-5211-2D63-E3F1-F25D11BBF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1462749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DEFFC-7126-BA65-84C1-6898CE2D8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777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98BC12-09B7-E8FB-2D10-20A9AA664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3579"/>
            <a:ext cx="9601200" cy="4503821"/>
          </a:xfrm>
        </p:spPr>
        <p:txBody>
          <a:bodyPr/>
          <a:lstStyle/>
          <a:p>
            <a:r>
              <a:rPr lang="ko-KR" altLang="en-US" dirty="0"/>
              <a:t>현대 클라우드 플랫폼은 </a:t>
            </a:r>
            <a:r>
              <a:rPr lang="en-US" altLang="ko-KR" dirty="0"/>
              <a:t>ML </a:t>
            </a:r>
            <a:r>
              <a:rPr lang="ko-KR" altLang="en-US" dirty="0"/>
              <a:t>추론 서비스 가속화를 위해 </a:t>
            </a:r>
            <a:r>
              <a:rPr lang="en-US" altLang="ko-KR" dirty="0"/>
              <a:t>Google Cloud TPU</a:t>
            </a:r>
            <a:r>
              <a:rPr lang="ko-KR" altLang="en-US" dirty="0"/>
              <a:t>와 같은 </a:t>
            </a:r>
            <a:r>
              <a:rPr lang="en-US" altLang="ko-KR" dirty="0"/>
              <a:t>NPU</a:t>
            </a:r>
            <a:r>
              <a:rPr lang="ko-KR" altLang="en-US" dirty="0"/>
              <a:t>를 배치함 </a:t>
            </a:r>
            <a:r>
              <a:rPr lang="en-US" altLang="ko-KR" dirty="0"/>
              <a:t>+ </a:t>
            </a:r>
            <a:r>
              <a:rPr lang="ko-KR" altLang="en-US" dirty="0"/>
              <a:t>여러 </a:t>
            </a:r>
            <a:r>
              <a:rPr lang="en-US" altLang="ko-KR" dirty="0"/>
              <a:t>ML </a:t>
            </a:r>
            <a:r>
              <a:rPr lang="ko-KR" altLang="en-US" dirty="0"/>
              <a:t>애플리케이션이 동일한 </a:t>
            </a:r>
            <a:r>
              <a:rPr lang="en-US" altLang="ko-KR" dirty="0"/>
              <a:t>NPU</a:t>
            </a:r>
            <a:r>
              <a:rPr lang="ko-KR" altLang="en-US" dirty="0"/>
              <a:t>를 공유할 수 있도록 시분할</a:t>
            </a:r>
            <a:r>
              <a:rPr lang="en-US" altLang="ko-KR" dirty="0"/>
              <a:t>(time-multiplexed)</a:t>
            </a:r>
            <a:r>
              <a:rPr lang="ko-KR" altLang="en-US" dirty="0"/>
              <a:t>및 선점</a:t>
            </a:r>
            <a:r>
              <a:rPr lang="en-US" altLang="ko-KR" dirty="0"/>
              <a:t>(preemptive)</a:t>
            </a:r>
            <a:r>
              <a:rPr lang="ko-KR" altLang="en-US" dirty="0"/>
              <a:t> 기반의 공유 메커니즘 개발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시분할</a:t>
            </a:r>
            <a:r>
              <a:rPr lang="en-US" altLang="ko-KR" dirty="0"/>
              <a:t>: </a:t>
            </a:r>
            <a:r>
              <a:rPr lang="ko-KR" altLang="en-US" dirty="0"/>
              <a:t>시간을 나누어 순서대로 자원 사용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선점</a:t>
            </a:r>
            <a:r>
              <a:rPr lang="en-US" altLang="ko-KR" dirty="0"/>
              <a:t>: </a:t>
            </a:r>
            <a:r>
              <a:rPr lang="ko-KR" altLang="en-US" dirty="0"/>
              <a:t>우선순위가 높은 작업이 들어오면 자원을 가로챔</a:t>
            </a:r>
            <a:endParaRPr lang="en-US" altLang="ko-KR" dirty="0"/>
          </a:p>
          <a:p>
            <a:r>
              <a:rPr lang="ko-KR" altLang="en-US" dirty="0"/>
              <a:t>그러나 이러한 기존 방식이 </a:t>
            </a:r>
            <a:r>
              <a:rPr lang="en-US" altLang="ko-KR" dirty="0"/>
              <a:t>NPU </a:t>
            </a:r>
            <a:r>
              <a:rPr lang="ko-KR" altLang="en-US" dirty="0"/>
              <a:t>내에서 미세한 하드웨어 자원 공유를 지원 못함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활용도가 매우 낮음</a:t>
            </a:r>
          </a:p>
        </p:txBody>
      </p:sp>
    </p:spTree>
    <p:extLst>
      <p:ext uri="{BB962C8B-B14F-4D97-AF65-F5344CB8AC3E}">
        <p14:creationId xmlns:p14="http://schemas.microsoft.com/office/powerpoint/2010/main" val="1182200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779E-F5B3-4713-173E-38F6EBFAD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AC797-0206-D3B3-737F-B1AD8F2F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77779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Abstract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C862F5-6C8C-6354-BD31-62B601D94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3579"/>
            <a:ext cx="9601200" cy="4503821"/>
          </a:xfrm>
        </p:spPr>
        <p:txBody>
          <a:bodyPr/>
          <a:lstStyle/>
          <a:p>
            <a:r>
              <a:rPr lang="ko-KR" altLang="en-US" dirty="0"/>
              <a:t>서로 다른 </a:t>
            </a:r>
            <a:r>
              <a:rPr lang="en-US" altLang="ko-KR" dirty="0"/>
              <a:t>ML </a:t>
            </a:r>
            <a:r>
              <a:rPr lang="ko-KR" altLang="en-US" dirty="0"/>
              <a:t>서비스 간의 공정성을 보장하는 동시에 자원 활용도를 개선하는 하드웨어 보조형 </a:t>
            </a:r>
            <a:r>
              <a:rPr lang="en-US" altLang="ko-KR" dirty="0"/>
              <a:t>NPU </a:t>
            </a:r>
            <a:r>
              <a:rPr lang="ko-KR" altLang="en-US" dirty="0"/>
              <a:t>멀티 </a:t>
            </a:r>
            <a:r>
              <a:rPr lang="ko-KR" altLang="en-US" dirty="0" err="1"/>
              <a:t>테넌시</a:t>
            </a:r>
            <a:r>
              <a:rPr lang="ko-KR" altLang="en-US" dirty="0"/>
              <a:t> 프레임워크인 </a:t>
            </a:r>
            <a:r>
              <a:rPr lang="en-US" altLang="ko-KR" dirty="0"/>
              <a:t>V10 </a:t>
            </a:r>
            <a:r>
              <a:rPr lang="ko-KR" altLang="en-US" dirty="0"/>
              <a:t>제시</a:t>
            </a:r>
            <a:endParaRPr lang="en-US" altLang="ko-KR" dirty="0"/>
          </a:p>
          <a:p>
            <a:r>
              <a:rPr lang="en-US" altLang="ko-KR" dirty="0"/>
              <a:t>V10</a:t>
            </a:r>
            <a:br>
              <a:rPr lang="en-US" altLang="ko-KR" dirty="0"/>
            </a:br>
            <a:r>
              <a:rPr lang="en-US" altLang="ko-KR" dirty="0"/>
              <a:t>1. SA</a:t>
            </a:r>
            <a:r>
              <a:rPr lang="ko-KR" altLang="en-US" dirty="0"/>
              <a:t>와 </a:t>
            </a:r>
            <a:r>
              <a:rPr lang="en-US" altLang="ko-KR" dirty="0"/>
              <a:t>VU</a:t>
            </a:r>
            <a:r>
              <a:rPr lang="ko-KR" altLang="en-US" dirty="0"/>
              <a:t>에서 연산자를 동시에 실행할 수 있게 하는 연산자 스케줄러를 채택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다양한 우선순위 기반 자원 공유 메커니즘을 시행할 수 있는 유연성을 제공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공유 </a:t>
            </a:r>
            <a:r>
              <a:rPr lang="en-US" altLang="ko-KR" dirty="0"/>
              <a:t>NPU</a:t>
            </a:r>
            <a:r>
              <a:rPr lang="ko-KR" altLang="en-US" dirty="0"/>
              <a:t>에서 가장 잘 맞는 </a:t>
            </a:r>
            <a:r>
              <a:rPr lang="en-US" altLang="ko-KR" dirty="0"/>
              <a:t>ML </a:t>
            </a:r>
            <a:r>
              <a:rPr lang="ko-KR" altLang="en-US" dirty="0"/>
              <a:t>서비스 조합을 식별하는 클러스터링 기반 워크로드 배치 메커니즘을 개발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V10</a:t>
            </a:r>
            <a:r>
              <a:rPr lang="ko-KR" altLang="en-US" dirty="0"/>
              <a:t>은 최신 </a:t>
            </a:r>
            <a:r>
              <a:rPr lang="en-US" altLang="ko-KR" dirty="0"/>
              <a:t>NPU multi-tenancy</a:t>
            </a:r>
            <a:r>
              <a:rPr lang="ko-KR" altLang="en-US" dirty="0"/>
              <a:t> 방식과 비교했을 때 전체 </a:t>
            </a:r>
            <a:r>
              <a:rPr lang="en-US" altLang="ko-KR" dirty="0"/>
              <a:t>NPU </a:t>
            </a:r>
            <a:r>
              <a:rPr lang="ko-KR" altLang="en-US" dirty="0"/>
              <a:t>활용도를 </a:t>
            </a:r>
            <a:r>
              <a:rPr lang="en-US" altLang="ko-KR" dirty="0"/>
              <a:t>1.64</a:t>
            </a:r>
            <a:r>
              <a:rPr lang="ko-KR" altLang="en-US" dirty="0"/>
              <a:t>배 개선하고</a:t>
            </a:r>
            <a:r>
              <a:rPr lang="en-US" altLang="ko-KR" dirty="0"/>
              <a:t>, </a:t>
            </a:r>
            <a:r>
              <a:rPr lang="ko-KR" altLang="en-US" dirty="0"/>
              <a:t>총 처리량을 </a:t>
            </a:r>
            <a:r>
              <a:rPr lang="en-US" altLang="ko-KR" dirty="0"/>
              <a:t>1.57</a:t>
            </a:r>
            <a:r>
              <a:rPr lang="ko-KR" altLang="en-US" dirty="0"/>
              <a:t>배 증가시키며</a:t>
            </a:r>
            <a:r>
              <a:rPr lang="en-US" altLang="ko-KR" dirty="0"/>
              <a:t>, ML </a:t>
            </a:r>
            <a:r>
              <a:rPr lang="ko-KR" altLang="en-US" dirty="0"/>
              <a:t>서비스의 평균 지연 시간을 </a:t>
            </a:r>
            <a:r>
              <a:rPr lang="en-US" altLang="ko-KR" dirty="0"/>
              <a:t>1.56</a:t>
            </a:r>
            <a:r>
              <a:rPr lang="ko-KR" altLang="en-US" dirty="0"/>
              <a:t>배</a:t>
            </a:r>
            <a:r>
              <a:rPr lang="en-US" altLang="ko-KR" dirty="0"/>
              <a:t>, </a:t>
            </a:r>
            <a:r>
              <a:rPr lang="ko-KR" altLang="en-US" dirty="0"/>
              <a:t>꼬리 지연 시간을 </a:t>
            </a:r>
            <a:r>
              <a:rPr lang="en-US" altLang="ko-KR" dirty="0"/>
              <a:t>1.74</a:t>
            </a:r>
            <a:r>
              <a:rPr lang="ko-KR" altLang="en-US" dirty="0"/>
              <a:t>배 단축하는 성과를 거둠</a:t>
            </a:r>
          </a:p>
        </p:txBody>
      </p:sp>
    </p:spTree>
    <p:extLst>
      <p:ext uri="{BB962C8B-B14F-4D97-AF65-F5344CB8AC3E}">
        <p14:creationId xmlns:p14="http://schemas.microsoft.com/office/powerpoint/2010/main" val="181126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ACEB4D-A129-D53D-D055-C2B3929E3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Introduction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B7D03B-6115-1D11-858A-505054079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6384992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9BEA17-DD87-AEE9-F49C-55D07AB08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>
            <a:normAutofit/>
          </a:bodyPr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F4B60C-336F-FE45-232F-CA71F5481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00463"/>
            <a:ext cx="5205663" cy="4166937"/>
          </a:xfrm>
        </p:spPr>
        <p:txBody>
          <a:bodyPr>
            <a:normAutofit/>
          </a:bodyPr>
          <a:lstStyle/>
          <a:p>
            <a:r>
              <a:rPr lang="en-US" altLang="ko-KR" dirty="0"/>
              <a:t>NPU </a:t>
            </a:r>
            <a:r>
              <a:rPr lang="ko-KR" altLang="en-US" dirty="0"/>
              <a:t>코어는 일반적으로 행렬 곱셈의 데이터 재사용 패턴을 활용하는 대규모 </a:t>
            </a:r>
            <a:r>
              <a:rPr lang="en-US" altLang="ko-KR" dirty="0"/>
              <a:t>SA</a:t>
            </a:r>
            <a:r>
              <a:rPr lang="ko-KR" altLang="en-US" dirty="0"/>
              <a:t>와 기타 일반적인 벡터 연산을 위한 </a:t>
            </a:r>
            <a:r>
              <a:rPr lang="en-US" altLang="ko-KR" dirty="0"/>
              <a:t>VU</a:t>
            </a:r>
            <a:r>
              <a:rPr lang="ko-KR" altLang="en-US" dirty="0"/>
              <a:t>으로 구성됨</a:t>
            </a:r>
          </a:p>
        </p:txBody>
      </p:sp>
      <p:pic>
        <p:nvPicPr>
          <p:cNvPr id="5" name="그림 4" descr="텍스트, 도표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2AF875-B6ED-61EE-351A-C42CE5A32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526" y="2514702"/>
            <a:ext cx="4490006" cy="275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48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4186A-0B06-216C-9FF4-B2747399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D669C-CA72-8D28-239C-B2029415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4032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B690B9-CE25-0F6A-7737-CC2607055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9832"/>
            <a:ext cx="9601200" cy="4407568"/>
          </a:xfrm>
        </p:spPr>
        <p:txBody>
          <a:bodyPr/>
          <a:lstStyle/>
          <a:p>
            <a:r>
              <a:rPr lang="ko-KR" altLang="en-US" dirty="0"/>
              <a:t>클라우드에서 </a:t>
            </a:r>
            <a:r>
              <a:rPr lang="en-US" altLang="ko-KR" dirty="0"/>
              <a:t>NPU</a:t>
            </a:r>
            <a:r>
              <a:rPr lang="ko-KR" altLang="en-US" dirty="0"/>
              <a:t>를 사용하는 간단한 방법은 각 </a:t>
            </a:r>
            <a:r>
              <a:rPr lang="en-US" altLang="ko-KR" dirty="0"/>
              <a:t>NPU </a:t>
            </a:r>
            <a:r>
              <a:rPr lang="ko-KR" altLang="en-US" dirty="0"/>
              <a:t>코어를 하나의 </a:t>
            </a:r>
            <a:r>
              <a:rPr lang="en-US" altLang="ko-KR" dirty="0"/>
              <a:t>ML </a:t>
            </a:r>
            <a:r>
              <a:rPr lang="ko-KR" altLang="en-US" dirty="0"/>
              <a:t>서비스에 독점적으로 할당하는 것인데</a:t>
            </a:r>
            <a:r>
              <a:rPr lang="en-US" altLang="ko-KR" dirty="0"/>
              <a:t>, </a:t>
            </a:r>
            <a:r>
              <a:rPr lang="ko-KR" altLang="en-US" dirty="0"/>
              <a:t>이는 자원 공유를 완전히 허용하지 않음</a:t>
            </a:r>
            <a:r>
              <a:rPr lang="en-US" altLang="ko-KR" dirty="0"/>
              <a:t>(a) 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자원 활용도가 가장 낮음</a:t>
            </a:r>
            <a:endParaRPr lang="en-US" altLang="ko-KR" dirty="0"/>
          </a:p>
          <a:p>
            <a:r>
              <a:rPr lang="ko-KR" altLang="en-US" dirty="0"/>
              <a:t>또한 현대적인 클라우드 플랫폼이나 </a:t>
            </a:r>
            <a:r>
              <a:rPr lang="en-US" altLang="ko-KR" dirty="0"/>
              <a:t>PREMA  </a:t>
            </a:r>
            <a:r>
              <a:rPr lang="ko-KR" altLang="en-US" dirty="0"/>
              <a:t>같은 최신 기술에서 사용하는 방식으로</a:t>
            </a:r>
            <a:r>
              <a:rPr lang="en-US" altLang="ko-KR" dirty="0"/>
              <a:t>, Time-sharing</a:t>
            </a:r>
            <a:r>
              <a:rPr lang="ko-KR" altLang="en-US" dirty="0"/>
              <a:t>을 통해 </a:t>
            </a:r>
            <a:r>
              <a:rPr lang="en-US" altLang="ko-KR" dirty="0"/>
              <a:t>NPU</a:t>
            </a:r>
            <a:r>
              <a:rPr lang="ko-KR" altLang="en-US" dirty="0"/>
              <a:t>를 공유</a:t>
            </a:r>
            <a:r>
              <a:rPr lang="en-US" altLang="ko-KR" dirty="0"/>
              <a:t>+ </a:t>
            </a:r>
            <a:r>
              <a:rPr lang="ko-KR" altLang="en-US" dirty="0"/>
              <a:t>실행 중인 </a:t>
            </a:r>
            <a:r>
              <a:rPr lang="en-US" altLang="ko-KR" dirty="0"/>
              <a:t>ML </a:t>
            </a:r>
            <a:r>
              <a:rPr lang="ko-KR" altLang="en-US" dirty="0"/>
              <a:t>커널을 중간에 중단</a:t>
            </a:r>
            <a:r>
              <a:rPr lang="en-US" altLang="ko-KR" dirty="0"/>
              <a:t>(</a:t>
            </a:r>
            <a:r>
              <a:rPr lang="ko-KR" altLang="en-US" dirty="0"/>
              <a:t>선점</a:t>
            </a:r>
            <a:r>
              <a:rPr lang="en-US" altLang="ko-KR" dirty="0"/>
              <a:t>)</a:t>
            </a:r>
            <a:r>
              <a:rPr lang="ko-KR" altLang="en-US" dirty="0"/>
              <a:t>하고 다른 커널을 스케줄링 </a:t>
            </a:r>
            <a:r>
              <a:rPr lang="en-US" altLang="ko-KR" dirty="0"/>
              <a:t>(b)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한 번에 한 가지 앱만 </a:t>
            </a:r>
            <a:r>
              <a:rPr lang="en-US" altLang="ko-KR" dirty="0"/>
              <a:t>NPU</a:t>
            </a:r>
            <a:r>
              <a:rPr lang="ko-KR" altLang="en-US" dirty="0"/>
              <a:t>를 점유 </a:t>
            </a:r>
            <a:r>
              <a:rPr lang="en-US" altLang="ko-KR" dirty="0"/>
              <a:t>-&gt; </a:t>
            </a:r>
            <a:r>
              <a:rPr lang="ko-KR" altLang="en-US" dirty="0"/>
              <a:t>여전히 </a:t>
            </a:r>
            <a:r>
              <a:rPr lang="en-US" altLang="ko-KR" dirty="0"/>
              <a:t>NPU </a:t>
            </a:r>
            <a:r>
              <a:rPr lang="ko-KR" altLang="en-US" dirty="0"/>
              <a:t>내부의 </a:t>
            </a:r>
            <a:r>
              <a:rPr lang="ko-KR" altLang="en-US" dirty="0" err="1"/>
              <a:t>유후</a:t>
            </a:r>
            <a:r>
              <a:rPr lang="ko-KR" altLang="en-US" dirty="0"/>
              <a:t> 하드웨어 활용</a:t>
            </a:r>
            <a:r>
              <a:rPr lang="en-US" altLang="ko-KR" dirty="0"/>
              <a:t>x</a:t>
            </a:r>
          </a:p>
          <a:p>
            <a:r>
              <a:rPr lang="ko-KR" altLang="en-US" dirty="0"/>
              <a:t>서로 다른 앱의 연산자들을 동시에 실행</a:t>
            </a:r>
            <a:r>
              <a:rPr lang="en-US" altLang="ko-KR" dirty="0"/>
              <a:t>(c) </a:t>
            </a:r>
            <a:endParaRPr lang="ko-KR" altLang="en-US" dirty="0"/>
          </a:p>
        </p:txBody>
      </p:sp>
      <p:pic>
        <p:nvPicPr>
          <p:cNvPr id="5" name="그림 4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AF56C6-E682-CCA0-B0AB-72815C0F0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09" y="4781347"/>
            <a:ext cx="9325591" cy="207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83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2A94-8B39-E23C-EB0E-D0FCE3980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AA881-5822-52EA-6737-B9303703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4032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AFED06-716E-C43A-0EC9-D04478220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9832"/>
            <a:ext cx="9601200" cy="4407568"/>
          </a:xfrm>
        </p:spPr>
        <p:txBody>
          <a:bodyPr/>
          <a:lstStyle/>
          <a:p>
            <a:r>
              <a:rPr lang="en-US" altLang="ko-KR" dirty="0"/>
              <a:t>NPU </a:t>
            </a:r>
            <a:r>
              <a:rPr lang="ko-KR" altLang="en-US" dirty="0"/>
              <a:t>활용도를 이해하기 위해</a:t>
            </a:r>
            <a:r>
              <a:rPr lang="en-US" altLang="ko-KR" dirty="0"/>
              <a:t>, </a:t>
            </a:r>
            <a:r>
              <a:rPr lang="ko-KR" altLang="en-US" dirty="0"/>
              <a:t>우리는 먼저 실제 </a:t>
            </a:r>
            <a:r>
              <a:rPr lang="en-US" altLang="ko-KR" dirty="0"/>
              <a:t>Google Cloud TPU</a:t>
            </a:r>
            <a:r>
              <a:rPr lang="ko-KR" altLang="en-US" dirty="0"/>
              <a:t>에 대한 철저한 연구를 수행 후</a:t>
            </a:r>
            <a:r>
              <a:rPr lang="en-US" altLang="ko-KR" dirty="0"/>
              <a:t> </a:t>
            </a:r>
            <a:r>
              <a:rPr lang="ko-KR" altLang="en-US" dirty="0"/>
              <a:t>알게 된  사실들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대다수의 </a:t>
            </a:r>
            <a:r>
              <a:rPr lang="en-US" altLang="ko-KR" dirty="0"/>
              <a:t>ML </a:t>
            </a:r>
            <a:r>
              <a:rPr lang="ko-KR" altLang="en-US" dirty="0"/>
              <a:t>추론 서비스에서</a:t>
            </a:r>
            <a:r>
              <a:rPr lang="en-US" altLang="ko-KR" dirty="0"/>
              <a:t>, </a:t>
            </a:r>
            <a:r>
              <a:rPr lang="ko-KR" altLang="en-US" dirty="0"/>
              <a:t>다양한 입력 배치 크기를 가진 단일 워크로드는 </a:t>
            </a:r>
            <a:r>
              <a:rPr lang="en-US" altLang="ko-KR" dirty="0"/>
              <a:t>TPU </a:t>
            </a:r>
            <a:r>
              <a:rPr lang="ko-KR" altLang="en-US" dirty="0"/>
              <a:t>코어의 총 가용 </a:t>
            </a:r>
            <a:r>
              <a:rPr lang="en-US" altLang="ko-KR" dirty="0"/>
              <a:t>FLOPS(</a:t>
            </a:r>
            <a:r>
              <a:rPr lang="ko-KR" altLang="en-US" dirty="0"/>
              <a:t>초당 부동 소수점 연산</a:t>
            </a:r>
            <a:r>
              <a:rPr lang="en-US" altLang="ko-KR" dirty="0"/>
              <a:t>)</a:t>
            </a:r>
            <a:r>
              <a:rPr lang="ko-KR" altLang="en-US" dirty="0"/>
              <a:t>의 절반 미만만을 활용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이는 주로 </a:t>
            </a:r>
            <a:r>
              <a:rPr lang="en-US" altLang="ko-KR" dirty="0"/>
              <a:t>ML </a:t>
            </a:r>
            <a:r>
              <a:rPr lang="ko-KR" altLang="en-US" dirty="0"/>
              <a:t>워크로드에서 </a:t>
            </a:r>
            <a:r>
              <a:rPr lang="en-US" altLang="ko-KR" dirty="0"/>
              <a:t>MXU</a:t>
            </a:r>
            <a:r>
              <a:rPr lang="ko-KR" altLang="en-US" dirty="0"/>
              <a:t>와 </a:t>
            </a:r>
            <a:r>
              <a:rPr lang="en-US" altLang="ko-KR" dirty="0"/>
              <a:t>VPU</a:t>
            </a:r>
            <a:r>
              <a:rPr lang="ko-KR" altLang="en-US" dirty="0"/>
              <a:t>의 불균형한 사용 때문</a:t>
            </a:r>
            <a:br>
              <a:rPr lang="en-US" altLang="ko-KR" dirty="0"/>
            </a:br>
            <a:r>
              <a:rPr lang="en-US" altLang="ko-KR" dirty="0"/>
              <a:t>3. XU</a:t>
            </a:r>
            <a:r>
              <a:rPr lang="ko-KR" altLang="en-US" dirty="0"/>
              <a:t>와 </a:t>
            </a:r>
            <a:r>
              <a:rPr lang="en-US" altLang="ko-KR" dirty="0"/>
              <a:t>VPU</a:t>
            </a:r>
            <a:r>
              <a:rPr lang="ko-KR" altLang="en-US" dirty="0"/>
              <a:t>의 연산자 균형이 맞더라도</a:t>
            </a:r>
            <a:r>
              <a:rPr lang="en-US" altLang="ko-KR" dirty="0"/>
              <a:t>, </a:t>
            </a:r>
            <a:r>
              <a:rPr lang="ko-KR" altLang="en-US" dirty="0" err="1"/>
              <a:t>텐서</a:t>
            </a:r>
            <a:r>
              <a:rPr lang="ko-KR" altLang="en-US" dirty="0"/>
              <a:t> 연산자 간의 데이터 의존성 때문에 두 연산 유닛을 동시에 점유하지 못하는 경우가 많음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활용도가 낮은 연산 유닛은 추가로 </a:t>
            </a:r>
            <a:r>
              <a:rPr lang="en-US" altLang="ko-KR" dirty="0"/>
              <a:t>HBM </a:t>
            </a:r>
            <a:r>
              <a:rPr lang="ko-KR" altLang="en-US" dirty="0"/>
              <a:t>대역폭의 저조한 활용을 초래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여러 </a:t>
            </a:r>
            <a:r>
              <a:rPr lang="en-US" altLang="ko-KR" dirty="0"/>
              <a:t>ML </a:t>
            </a:r>
            <a:r>
              <a:rPr lang="ko-KR" altLang="en-US" dirty="0"/>
              <a:t>서비스와 함께 </a:t>
            </a:r>
            <a:r>
              <a:rPr lang="en-US" altLang="ko-KR" dirty="0"/>
              <a:t>TPU</a:t>
            </a:r>
            <a:r>
              <a:rPr lang="ko-KR" altLang="en-US" dirty="0"/>
              <a:t>의 시분할을 활성화하고 최신 선점 메커니즘을 적용하더라도</a:t>
            </a:r>
            <a:r>
              <a:rPr lang="en-US" altLang="ko-KR" dirty="0"/>
              <a:t>,</a:t>
            </a:r>
            <a:r>
              <a:rPr lang="ko-KR" altLang="en-US" dirty="0"/>
              <a:t> 연산 활용도를 크게 개선할 수 없음</a:t>
            </a:r>
          </a:p>
        </p:txBody>
      </p:sp>
    </p:spTree>
    <p:extLst>
      <p:ext uri="{BB962C8B-B14F-4D97-AF65-F5344CB8AC3E}">
        <p14:creationId xmlns:p14="http://schemas.microsoft.com/office/powerpoint/2010/main" val="3338158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C36F-B440-6FA6-3451-44131CC0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206DE0-450C-3027-FF3F-F1233FBFC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74032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A832B5-0BC5-160F-C3B0-7CA650BA0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59832"/>
            <a:ext cx="9601200" cy="4407568"/>
          </a:xfrm>
        </p:spPr>
        <p:txBody>
          <a:bodyPr/>
          <a:lstStyle/>
          <a:p>
            <a:r>
              <a:rPr lang="en-US" altLang="ko-KR" dirty="0"/>
              <a:t>NPU </a:t>
            </a:r>
            <a:r>
              <a:rPr lang="ko-KR" altLang="en-US" dirty="0"/>
              <a:t>내부에 연산자 스케줄러를 채용하여 </a:t>
            </a:r>
            <a:r>
              <a:rPr lang="en-US" altLang="ko-KR" dirty="0"/>
              <a:t>ML </a:t>
            </a:r>
            <a:r>
              <a:rPr lang="ko-KR" altLang="en-US" dirty="0"/>
              <a:t>워크로드의 미세한 동시 실행을 가능하게 함</a:t>
            </a:r>
            <a:r>
              <a:rPr lang="en-US" altLang="ko-KR" dirty="0"/>
              <a:t>. -&gt; v10</a:t>
            </a:r>
          </a:p>
          <a:p>
            <a:r>
              <a:rPr lang="ko-KR" altLang="en-US" dirty="0"/>
              <a:t>이 스케줄러는 </a:t>
            </a:r>
            <a:r>
              <a:rPr lang="en-US" altLang="ko-KR" dirty="0"/>
              <a:t>ML </a:t>
            </a:r>
            <a:r>
              <a:rPr lang="ko-KR" altLang="en-US" dirty="0"/>
              <a:t>커널 내에서 </a:t>
            </a:r>
            <a:r>
              <a:rPr lang="en-US" altLang="ko-KR" dirty="0"/>
              <a:t>SA</a:t>
            </a:r>
            <a:r>
              <a:rPr lang="ko-KR" altLang="en-US" dirty="0"/>
              <a:t>와 </a:t>
            </a:r>
            <a:r>
              <a:rPr lang="en-US" altLang="ko-KR" dirty="0"/>
              <a:t>VU</a:t>
            </a:r>
            <a:r>
              <a:rPr lang="ko-KR" altLang="en-US" dirty="0"/>
              <a:t>의 불균형한 사용으로 인해 발생하는 유휴 사이클을 활용하여 서로 다른 </a:t>
            </a:r>
            <a:r>
              <a:rPr lang="en-US" altLang="ko-KR" dirty="0"/>
              <a:t>ML </a:t>
            </a:r>
            <a:r>
              <a:rPr lang="ko-KR" altLang="en-US" dirty="0"/>
              <a:t>워크로드의 연산자를 동시에 실행할 수 있게 함</a:t>
            </a:r>
            <a:endParaRPr lang="en-US" altLang="ko-KR" dirty="0"/>
          </a:p>
          <a:p>
            <a:r>
              <a:rPr lang="en-US" altLang="ko-KR" dirty="0"/>
              <a:t>v10 </a:t>
            </a:r>
            <a:r>
              <a:rPr lang="ko-KR" altLang="en-US" dirty="0"/>
              <a:t>해결책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동시 실행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세밀한 선점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스마트한 짝짓기</a:t>
            </a:r>
            <a:endParaRPr lang="en-US" altLang="ko-KR" dirty="0"/>
          </a:p>
          <a:p>
            <a:r>
              <a:rPr lang="en-US" altLang="ko-KR" dirty="0"/>
              <a:t>V10</a:t>
            </a:r>
            <a:r>
              <a:rPr lang="ko-KR" altLang="en-US" dirty="0"/>
              <a:t>이 최신 선점형 멀티태스킹 방식과 비교하여 </a:t>
            </a:r>
            <a:r>
              <a:rPr lang="en-US" altLang="ko-KR" dirty="0"/>
              <a:t>NPU </a:t>
            </a:r>
            <a:r>
              <a:rPr lang="ko-KR" altLang="en-US" dirty="0"/>
              <a:t>활용도를 </a:t>
            </a:r>
            <a:r>
              <a:rPr lang="en-US" altLang="ko-KR" dirty="0"/>
              <a:t>1.64</a:t>
            </a:r>
            <a:r>
              <a:rPr lang="ko-KR" altLang="en-US" dirty="0"/>
              <a:t>배 개선하고</a:t>
            </a:r>
            <a:r>
              <a:rPr lang="en-US" altLang="ko-KR" dirty="0"/>
              <a:t>, </a:t>
            </a:r>
            <a:r>
              <a:rPr lang="ko-KR" altLang="en-US" dirty="0"/>
              <a:t>병합된 </a:t>
            </a:r>
            <a:r>
              <a:rPr lang="en-US" altLang="ko-KR" dirty="0"/>
              <a:t>ML </a:t>
            </a:r>
            <a:r>
              <a:rPr lang="ko-KR" altLang="en-US" dirty="0"/>
              <a:t>워크로드의 총 처리량을 </a:t>
            </a:r>
            <a:r>
              <a:rPr lang="en-US" altLang="ko-KR" dirty="0"/>
              <a:t>1.57</a:t>
            </a:r>
            <a:r>
              <a:rPr lang="ko-KR" altLang="en-US" dirty="0"/>
              <a:t>배 증가시키며</a:t>
            </a:r>
            <a:r>
              <a:rPr lang="en-US" altLang="ko-KR" dirty="0"/>
              <a:t>, </a:t>
            </a:r>
            <a:r>
              <a:rPr lang="ko-KR" altLang="en-US" dirty="0"/>
              <a:t>각 워크로드의 평균 지연 시간을 </a:t>
            </a:r>
            <a:r>
              <a:rPr lang="en-US" altLang="ko-KR" dirty="0"/>
              <a:t>1.56</a:t>
            </a:r>
            <a:r>
              <a:rPr lang="ko-KR" altLang="en-US" dirty="0"/>
              <a:t>배 줄이고</a:t>
            </a:r>
            <a:r>
              <a:rPr lang="en-US" altLang="ko-KR" dirty="0"/>
              <a:t>, </a:t>
            </a:r>
            <a:r>
              <a:rPr lang="ko-KR" altLang="en-US" dirty="0"/>
              <a:t>꼬리 지연 시간을 </a:t>
            </a:r>
            <a:r>
              <a:rPr lang="en-US" altLang="ko-KR" dirty="0"/>
              <a:t>1.74</a:t>
            </a:r>
            <a:r>
              <a:rPr lang="ko-KR" altLang="en-US" dirty="0"/>
              <a:t>배 감소시킴</a:t>
            </a:r>
          </a:p>
        </p:txBody>
      </p:sp>
    </p:spTree>
    <p:extLst>
      <p:ext uri="{BB962C8B-B14F-4D97-AF65-F5344CB8AC3E}">
        <p14:creationId xmlns:p14="http://schemas.microsoft.com/office/powerpoint/2010/main" val="2063450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C16B6-A2BA-E050-15FA-E6DA82BDC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350C6C-0A99-A4D8-6B5A-386BC7089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4200" dirty="0">
                <a:solidFill>
                  <a:schemeClr val="bg2"/>
                </a:solidFill>
              </a:rPr>
              <a:t>Characterization Study of NPU Utilization</a:t>
            </a:r>
            <a:br>
              <a:rPr lang="en-US" altLang="ko-KR" sz="4200" dirty="0">
                <a:solidFill>
                  <a:schemeClr val="bg2"/>
                </a:solidFill>
              </a:rPr>
            </a:br>
            <a:endParaRPr lang="ko-KR" altLang="en-US" sz="42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6B83D9-5B18-984D-6D9E-C71E4D550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691862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BBAF0-D61C-4A60-974C-7E7E60882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91557C-4B7E-85DA-B946-D700B919E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18295" cy="693821"/>
          </a:xfrm>
        </p:spPr>
        <p:txBody>
          <a:bodyPr>
            <a:normAutofit/>
          </a:bodyPr>
          <a:lstStyle/>
          <a:p>
            <a:r>
              <a:rPr lang="en-US" altLang="ko-KR" sz="3400" dirty="0"/>
              <a:t>Characterization Study of NPU Utilization</a:t>
            </a:r>
            <a:endParaRPr lang="ko-KR" altLang="en-US" sz="3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7E926-41A7-AB60-9BFA-05DC437C0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9621"/>
            <a:ext cx="4612105" cy="4411579"/>
          </a:xfrm>
        </p:spPr>
        <p:txBody>
          <a:bodyPr>
            <a:normAutofit/>
          </a:bodyPr>
          <a:lstStyle/>
          <a:p>
            <a:r>
              <a:rPr lang="en-US" altLang="ko-KR" dirty="0"/>
              <a:t>NPU</a:t>
            </a:r>
            <a:r>
              <a:rPr lang="ko-KR" altLang="en-US" dirty="0"/>
              <a:t>는 </a:t>
            </a:r>
            <a:r>
              <a:rPr lang="en-US" altLang="ko-KR" dirty="0"/>
              <a:t>SA, VU, SRAM </a:t>
            </a:r>
            <a:r>
              <a:rPr lang="ko-KR" altLang="en-US" dirty="0"/>
              <a:t>버퍼로 구성됨</a:t>
            </a:r>
            <a:endParaRPr lang="en-US" altLang="ko-KR" dirty="0"/>
          </a:p>
          <a:p>
            <a:r>
              <a:rPr lang="en-US" altLang="ko-KR" dirty="0"/>
              <a:t>DMA (Direct Memory Access):</a:t>
            </a:r>
            <a:r>
              <a:rPr lang="ko-KR" altLang="en-US" dirty="0"/>
              <a:t> 메인 연산 유닛</a:t>
            </a:r>
            <a:r>
              <a:rPr lang="en-US" altLang="ko-KR" dirty="0"/>
              <a:t>(SA, VU)</a:t>
            </a:r>
            <a:r>
              <a:rPr lang="ko-KR" altLang="en-US" dirty="0"/>
              <a:t>의 도움 없이 스스로 </a:t>
            </a:r>
            <a:r>
              <a:rPr lang="en-US" altLang="ko-KR" dirty="0"/>
              <a:t>HBM</a:t>
            </a:r>
            <a:r>
              <a:rPr lang="ko-KR" altLang="en-US" dirty="0"/>
              <a:t>에서 </a:t>
            </a:r>
            <a:r>
              <a:rPr lang="en-US" altLang="ko-KR" dirty="0"/>
              <a:t>SRAM</a:t>
            </a:r>
            <a:r>
              <a:rPr lang="ko-KR" altLang="en-US" dirty="0"/>
              <a:t>으로 데이터를 옮기는 작업을 수행</a:t>
            </a:r>
          </a:p>
        </p:txBody>
      </p:sp>
      <p:pic>
        <p:nvPicPr>
          <p:cNvPr id="4" name="그림 3" descr="텍스트, 도표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25B95B8-1246-BC02-DC37-F6C20D564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53" y="1812756"/>
            <a:ext cx="5421581" cy="332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728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1DFB2-C4C6-22DC-DF80-82F0AA7D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6775CC-72A5-1C7E-6ECE-F10D01730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18295" cy="693821"/>
          </a:xfrm>
        </p:spPr>
        <p:txBody>
          <a:bodyPr>
            <a:normAutofit/>
          </a:bodyPr>
          <a:lstStyle/>
          <a:p>
            <a:r>
              <a:rPr lang="en-US" altLang="ko-KR" sz="3400" dirty="0"/>
              <a:t>Characterization Study of NPU Utilization</a:t>
            </a:r>
            <a:endParaRPr lang="ko-KR" altLang="en-US" sz="3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57C4EF-065B-3193-C668-0938F284F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9621"/>
            <a:ext cx="4612105" cy="4411579"/>
          </a:xfrm>
        </p:spPr>
        <p:txBody>
          <a:bodyPr>
            <a:normAutofit/>
          </a:bodyPr>
          <a:lstStyle/>
          <a:p>
            <a:r>
              <a:rPr lang="en-US" altLang="ko-KR" dirty="0"/>
              <a:t>SIMD </a:t>
            </a:r>
            <a:r>
              <a:rPr lang="ko-KR" altLang="en-US" dirty="0"/>
              <a:t>유닛</a:t>
            </a:r>
            <a:endParaRPr lang="en-US" altLang="ko-KR" dirty="0"/>
          </a:p>
          <a:p>
            <a:r>
              <a:rPr lang="en-US" altLang="ko-KR" dirty="0"/>
              <a:t>2D </a:t>
            </a:r>
            <a:r>
              <a:rPr lang="ko-KR" altLang="en-US" dirty="0"/>
              <a:t>벡터 레지스터 </a:t>
            </a:r>
            <a:r>
              <a:rPr lang="en-US" altLang="ko-KR" dirty="0"/>
              <a:t>(8 × 128)</a:t>
            </a:r>
          </a:p>
          <a:p>
            <a:r>
              <a:rPr lang="en-US" altLang="ko-KR" dirty="0"/>
              <a:t>Load/Store</a:t>
            </a:r>
          </a:p>
          <a:p>
            <a:r>
              <a:rPr lang="en-US" altLang="ko-KR" dirty="0"/>
              <a:t>FIFO </a:t>
            </a:r>
            <a:r>
              <a:rPr lang="ko-KR" altLang="en-US" dirty="0"/>
              <a:t>버퍼</a:t>
            </a:r>
          </a:p>
        </p:txBody>
      </p:sp>
      <p:pic>
        <p:nvPicPr>
          <p:cNvPr id="4" name="그림 3" descr="텍스트, 도표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2045A8-D1D2-4CE7-7045-70D0BBF08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53" y="1812756"/>
            <a:ext cx="5421581" cy="332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83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E10E5-584D-536E-1724-6C699328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E3529C-B23F-335F-5359-9E6CD7825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18295" cy="693821"/>
          </a:xfrm>
        </p:spPr>
        <p:txBody>
          <a:bodyPr>
            <a:normAutofit/>
          </a:bodyPr>
          <a:lstStyle/>
          <a:p>
            <a:r>
              <a:rPr lang="en-US" altLang="ko-KR" sz="3400" dirty="0"/>
              <a:t>Characterization Study of NPU Utilization</a:t>
            </a:r>
            <a:endParaRPr lang="ko-KR" altLang="en-US" sz="3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4B46FA-04A5-E0EA-8F4E-977136131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9621"/>
            <a:ext cx="4612105" cy="4411579"/>
          </a:xfrm>
        </p:spPr>
        <p:txBody>
          <a:bodyPr>
            <a:normAutofit/>
          </a:bodyPr>
          <a:lstStyle/>
          <a:p>
            <a:r>
              <a:rPr lang="en-US" altLang="ko-KR" dirty="0"/>
              <a:t>PE (Processing Element):</a:t>
            </a:r>
            <a:r>
              <a:rPr lang="ko-KR" altLang="en-US" dirty="0"/>
              <a:t> 아주 작은 계산기들이 </a:t>
            </a:r>
            <a:r>
              <a:rPr lang="en-US" altLang="ko-KR" dirty="0"/>
              <a:t>128x128 </a:t>
            </a:r>
            <a:r>
              <a:rPr lang="ko-KR" altLang="en-US" dirty="0"/>
              <a:t>형태로 바둑판처럼 깔려 있음</a:t>
            </a:r>
            <a:r>
              <a:rPr lang="en-US" altLang="ko-KR" dirty="0"/>
              <a:t>. </a:t>
            </a:r>
            <a:r>
              <a:rPr lang="ko-KR" altLang="en-US" dirty="0"/>
              <a:t>각 </a:t>
            </a:r>
            <a:r>
              <a:rPr lang="en-US" altLang="ko-KR" dirty="0"/>
              <a:t>PE</a:t>
            </a:r>
            <a:r>
              <a:rPr lang="ko-KR" altLang="en-US" dirty="0"/>
              <a:t>는 매 사이클마다 곱하기와 더하기</a:t>
            </a:r>
            <a:r>
              <a:rPr lang="en-US" altLang="ko-KR" dirty="0"/>
              <a:t> </a:t>
            </a:r>
            <a:r>
              <a:rPr lang="ko-KR" altLang="en-US" dirty="0"/>
              <a:t>수행</a:t>
            </a:r>
          </a:p>
        </p:txBody>
      </p:sp>
      <p:pic>
        <p:nvPicPr>
          <p:cNvPr id="4" name="그림 3" descr="텍스트, 도표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547782-5588-F429-AD40-4E982EC87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53" y="1812756"/>
            <a:ext cx="5421581" cy="332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623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3E5CC-99A2-6A1E-D8F6-97D90C080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0FCD0-955A-4FAF-628F-64318027C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18295" cy="693821"/>
          </a:xfrm>
        </p:spPr>
        <p:txBody>
          <a:bodyPr>
            <a:normAutofit/>
          </a:bodyPr>
          <a:lstStyle/>
          <a:p>
            <a:r>
              <a:rPr lang="en-US" altLang="ko-KR" sz="3400" dirty="0"/>
              <a:t>Characterization Study of NPU Utilization</a:t>
            </a:r>
            <a:endParaRPr lang="ko-KR" altLang="en-US" sz="34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E15B87-9F80-C94E-0A83-1F8531457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9621"/>
            <a:ext cx="4612105" cy="4411579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컴파일러가 </a:t>
            </a:r>
            <a:r>
              <a:rPr lang="en-US" altLang="ko-KR" dirty="0"/>
              <a:t>DNN </a:t>
            </a:r>
            <a:r>
              <a:rPr lang="ko-KR" altLang="en-US" dirty="0"/>
              <a:t>모델을 분석해 </a:t>
            </a:r>
            <a:r>
              <a:rPr lang="en-US" altLang="ko-KR" dirty="0"/>
              <a:t>NPU</a:t>
            </a:r>
            <a:r>
              <a:rPr lang="ko-KR" altLang="en-US" dirty="0"/>
              <a:t>에 내리는 </a:t>
            </a:r>
            <a:r>
              <a:rPr lang="en-US" altLang="ko-KR" dirty="0"/>
              <a:t>5</a:t>
            </a:r>
            <a:r>
              <a:rPr lang="ko-KR" altLang="en-US" dirty="0"/>
              <a:t>가지 핵심 명령</a:t>
            </a:r>
            <a:endParaRPr lang="en-US" altLang="ko-KR" dirty="0"/>
          </a:p>
          <a:p>
            <a:r>
              <a:rPr lang="en-US" altLang="ko-KR" dirty="0"/>
              <a:t>1. push / </a:t>
            </a:r>
            <a:r>
              <a:rPr lang="en-US" altLang="ko-KR" dirty="0" err="1"/>
              <a:t>pushw</a:t>
            </a:r>
            <a:r>
              <a:rPr lang="en-US" altLang="ko-KR" dirty="0"/>
              <a:t> %</a:t>
            </a:r>
            <a:r>
              <a:rPr lang="en-US" altLang="ko-KR" dirty="0" err="1"/>
              <a:t>src</a:t>
            </a:r>
            <a:r>
              <a:rPr lang="en-US" altLang="ko-KR" dirty="0"/>
              <a:t>: </a:t>
            </a:r>
            <a:r>
              <a:rPr lang="ko-KR" altLang="en-US" dirty="0"/>
              <a:t>벡터 레지스터에 있는 데이터를 </a:t>
            </a:r>
            <a:r>
              <a:rPr lang="en-US" altLang="ko-KR" dirty="0"/>
              <a:t>SA</a:t>
            </a:r>
            <a:r>
              <a:rPr lang="ko-KR" altLang="en-US" dirty="0"/>
              <a:t>로 보냄</a:t>
            </a:r>
            <a:endParaRPr lang="en-US" altLang="ko-KR" dirty="0"/>
          </a:p>
          <a:p>
            <a:r>
              <a:rPr lang="en-US" altLang="ko-KR" dirty="0"/>
              <a:t>2. pop %</a:t>
            </a:r>
            <a:r>
              <a:rPr lang="en-US" altLang="ko-KR" dirty="0" err="1"/>
              <a:t>dst</a:t>
            </a:r>
            <a:r>
              <a:rPr lang="en-US" altLang="ko-KR" dirty="0"/>
              <a:t>: SA</a:t>
            </a:r>
            <a:r>
              <a:rPr lang="ko-KR" altLang="en-US" dirty="0"/>
              <a:t>의 행렬 계산 후</a:t>
            </a:r>
            <a:r>
              <a:rPr lang="en-US" altLang="ko-KR" dirty="0"/>
              <a:t> </a:t>
            </a:r>
            <a:r>
              <a:rPr lang="ko-KR" altLang="en-US" dirty="0"/>
              <a:t>그 결과물을 가져와 벡터 레지스터에 저장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en-US" altLang="ko-KR" dirty="0" err="1"/>
              <a:t>ld</a:t>
            </a:r>
            <a:r>
              <a:rPr lang="en-US" altLang="ko-KR" dirty="0"/>
              <a:t> %</a:t>
            </a:r>
            <a:r>
              <a:rPr lang="en-US" altLang="ko-KR" dirty="0" err="1"/>
              <a:t>dst</a:t>
            </a:r>
            <a:r>
              <a:rPr lang="en-US" altLang="ko-KR" dirty="0"/>
              <a:t>: </a:t>
            </a:r>
            <a:r>
              <a:rPr lang="ko-KR" altLang="en-US" dirty="0"/>
              <a:t>벡터 메모리에 있는 데이터를 벡터 레지스터로 </a:t>
            </a:r>
            <a:r>
              <a:rPr lang="ko-KR" altLang="en-US" dirty="0" err="1"/>
              <a:t>읽어옴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4. </a:t>
            </a:r>
            <a:r>
              <a:rPr lang="en-US" altLang="ko-KR" dirty="0" err="1"/>
              <a:t>st</a:t>
            </a:r>
            <a:r>
              <a:rPr lang="en-US" altLang="ko-KR" dirty="0"/>
              <a:t> %</a:t>
            </a:r>
            <a:r>
              <a:rPr lang="en-US" altLang="ko-KR" dirty="0" err="1"/>
              <a:t>dst</a:t>
            </a:r>
            <a:r>
              <a:rPr lang="en-US" altLang="ko-KR" dirty="0"/>
              <a:t>: </a:t>
            </a:r>
            <a:r>
              <a:rPr lang="ko-KR" altLang="en-US" dirty="0"/>
              <a:t>레지스터에 있는 최종 결과물을 벡터 메모리에 저장</a:t>
            </a:r>
            <a:endParaRPr lang="en-US" altLang="ko-KR" dirty="0"/>
          </a:p>
          <a:p>
            <a:r>
              <a:rPr lang="en-US" altLang="ko-KR" dirty="0"/>
              <a:t>5. ALU: </a:t>
            </a:r>
            <a:r>
              <a:rPr lang="ko-KR" altLang="en-US" dirty="0"/>
              <a:t>벡터 유닛 안에서 덧셈</a:t>
            </a:r>
            <a:r>
              <a:rPr lang="en-US" altLang="ko-KR" dirty="0"/>
              <a:t>, </a:t>
            </a:r>
            <a:r>
              <a:rPr lang="en-US" altLang="ko-KR" dirty="0" err="1"/>
              <a:t>ReLU</a:t>
            </a:r>
            <a:r>
              <a:rPr lang="en-US" altLang="ko-KR" dirty="0"/>
              <a:t>, Sigmoid </a:t>
            </a:r>
            <a:r>
              <a:rPr lang="ko-KR" altLang="en-US" dirty="0"/>
              <a:t>같은 요소별</a:t>
            </a:r>
            <a:r>
              <a:rPr lang="en-US" altLang="ko-KR" dirty="0"/>
              <a:t> </a:t>
            </a:r>
            <a:r>
              <a:rPr lang="ko-KR" altLang="en-US" dirty="0"/>
              <a:t>계산 수행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 descr="텍스트, 도표, 평면도, 기술 도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9AFFB5-BE17-22E8-E305-07511FD2A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53" y="1812756"/>
            <a:ext cx="5421581" cy="332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51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D4404-8601-0AB1-799B-F5C7CCF0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27B1A-6E8F-1906-8368-11FA1FDE3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6176775" cy="1485900"/>
          </a:xfrm>
        </p:spPr>
        <p:txBody>
          <a:bodyPr>
            <a:normAutofit/>
          </a:bodyPr>
          <a:lstStyle/>
          <a:p>
            <a:r>
              <a:rPr lang="en-US" altLang="ko-KR"/>
              <a:t>Characterization Study of NPU Utilization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AE313-037E-7FE5-178C-756362BD5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9" y="2286000"/>
            <a:ext cx="6176776" cy="3581400"/>
          </a:xfrm>
        </p:spPr>
        <p:txBody>
          <a:bodyPr>
            <a:normAutofit/>
          </a:bodyPr>
          <a:lstStyle/>
          <a:p>
            <a:r>
              <a:rPr lang="ko-KR" altLang="en-US" dirty="0"/>
              <a:t>대부분의 </a:t>
            </a:r>
            <a:r>
              <a:rPr lang="en-US" altLang="ko-KR" dirty="0"/>
              <a:t>DNN </a:t>
            </a:r>
            <a:r>
              <a:rPr lang="ko-KR" altLang="en-US" dirty="0"/>
              <a:t>워크로드는 </a:t>
            </a:r>
            <a:r>
              <a:rPr lang="en-US" altLang="ko-KR" dirty="0"/>
              <a:t>TPU </a:t>
            </a:r>
            <a:r>
              <a:rPr lang="ko-KR" altLang="en-US" dirty="0"/>
              <a:t>코어의 총 가용 </a:t>
            </a:r>
            <a:r>
              <a:rPr lang="en-US" altLang="ko-KR" dirty="0"/>
              <a:t>FLOPS</a:t>
            </a:r>
            <a:r>
              <a:rPr lang="ko-KR" altLang="en-US" dirty="0"/>
              <a:t>의 절반 미만을 활용 </a:t>
            </a:r>
            <a:br>
              <a:rPr lang="en-US" altLang="ko-KR" dirty="0"/>
            </a:br>
            <a:r>
              <a:rPr lang="en-US" altLang="ko-KR" dirty="0"/>
              <a:t>-&gt; MXU</a:t>
            </a:r>
            <a:r>
              <a:rPr lang="ko-KR" altLang="en-US" dirty="0"/>
              <a:t>가 시간적으로 충분히 활용되지 않음</a:t>
            </a:r>
            <a:endParaRPr lang="en-US" altLang="ko-KR" dirty="0"/>
          </a:p>
          <a:p>
            <a:r>
              <a:rPr lang="ko-KR" altLang="en-US" dirty="0"/>
              <a:t>이를 통해 관찰된 점</a:t>
            </a:r>
            <a:br>
              <a:rPr lang="en-US" altLang="ko-KR" dirty="0"/>
            </a:br>
            <a:r>
              <a:rPr lang="en-US" altLang="ko-KR" dirty="0"/>
              <a:t>=&gt; MXU</a:t>
            </a:r>
            <a:r>
              <a:rPr lang="ko-KR" altLang="en-US" dirty="0"/>
              <a:t>와 </a:t>
            </a:r>
            <a:r>
              <a:rPr lang="en-US" altLang="ko-KR" dirty="0"/>
              <a:t>VPU</a:t>
            </a:r>
            <a:r>
              <a:rPr lang="ko-KR" altLang="en-US" dirty="0"/>
              <a:t>의 시간적 유휴 상태로 인해 </a:t>
            </a:r>
            <a:r>
              <a:rPr lang="en-US" altLang="ko-KR" dirty="0"/>
              <a:t>TPU </a:t>
            </a:r>
            <a:r>
              <a:rPr lang="ko-KR" altLang="en-US" dirty="0"/>
              <a:t>코어의 계산 자원이 상당히 저조하게 활용되고 있음</a:t>
            </a:r>
            <a:endParaRPr lang="en-US" altLang="ko-KR" dirty="0"/>
          </a:p>
        </p:txBody>
      </p:sp>
      <p:pic>
        <p:nvPicPr>
          <p:cNvPr id="12" name="그림 11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6BB56E-BAAE-0EAF-91FC-DE7DC95BB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25" y="1138136"/>
            <a:ext cx="4321046" cy="1263420"/>
          </a:xfrm>
          <a:prstGeom prst="rect">
            <a:avLst/>
          </a:prstGeom>
        </p:spPr>
      </p:pic>
      <p:pic>
        <p:nvPicPr>
          <p:cNvPr id="14" name="그림 13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FC1E78-92E3-B0EE-B9B1-4732AEDE6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425" y="2642669"/>
            <a:ext cx="4532156" cy="1263421"/>
          </a:xfrm>
          <a:prstGeom prst="rect">
            <a:avLst/>
          </a:prstGeom>
        </p:spPr>
      </p:pic>
      <p:pic>
        <p:nvPicPr>
          <p:cNvPr id="16" name="그림 1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C85B0F-6030-0FE8-520D-2639F29609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425" y="4322580"/>
            <a:ext cx="4279563" cy="126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149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56598-0843-D01C-B73B-36258D95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CB125-A194-0C5E-4A05-6325B936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6176775" cy="1485900"/>
          </a:xfrm>
        </p:spPr>
        <p:txBody>
          <a:bodyPr>
            <a:normAutofit/>
          </a:bodyPr>
          <a:lstStyle/>
          <a:p>
            <a:r>
              <a:rPr lang="en-US" altLang="ko-KR"/>
              <a:t>Characterization Study of NPU Utilization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7287B9-4CA1-BB88-AD34-9213E344D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9" y="2286000"/>
            <a:ext cx="6176776" cy="3581400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이러한 </a:t>
            </a:r>
            <a:r>
              <a:rPr lang="ko-KR" altLang="en-US" dirty="0" err="1"/>
              <a:t>저활용을</a:t>
            </a:r>
            <a:r>
              <a:rPr lang="ko-KR" altLang="en-US" dirty="0"/>
              <a:t> 해결하기 위해 컴파일러 최적화를 통해 </a:t>
            </a:r>
            <a:r>
              <a:rPr lang="en-US" altLang="ko-KR" dirty="0"/>
              <a:t>MXU</a:t>
            </a:r>
            <a:r>
              <a:rPr lang="ko-KR" altLang="en-US" dirty="0"/>
              <a:t>와 </a:t>
            </a:r>
            <a:r>
              <a:rPr lang="en-US" altLang="ko-KR" dirty="0"/>
              <a:t>VPU</a:t>
            </a:r>
            <a:r>
              <a:rPr lang="ko-KR" altLang="en-US" dirty="0"/>
              <a:t>의 실행을 </a:t>
            </a:r>
            <a:r>
              <a:rPr lang="ko-KR" altLang="en-US" dirty="0" err="1"/>
              <a:t>중첩시키는</a:t>
            </a:r>
            <a:r>
              <a:rPr lang="ko-KR" altLang="en-US" dirty="0"/>
              <a:t> 것</a:t>
            </a:r>
            <a:br>
              <a:rPr lang="en-US" altLang="ko-KR" dirty="0"/>
            </a:br>
            <a:r>
              <a:rPr lang="en-US" altLang="ko-KR" dirty="0"/>
              <a:t>-&gt; </a:t>
            </a:r>
            <a:r>
              <a:rPr lang="ko-KR" altLang="en-US" dirty="0"/>
              <a:t>이러한 이점도 제한적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데이터 의존성이 연산자 수준의 병렬성을 제한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연산자 간 데이터 의존성이 없더라도 병렬성은 </a:t>
            </a:r>
            <a:r>
              <a:rPr lang="en-US" altLang="ko-KR" dirty="0"/>
              <a:t>MXU</a:t>
            </a:r>
            <a:r>
              <a:rPr lang="ko-KR" altLang="en-US" dirty="0"/>
              <a:t>와 </a:t>
            </a:r>
            <a:r>
              <a:rPr lang="en-US" altLang="ko-KR" dirty="0"/>
              <a:t>VPU</a:t>
            </a:r>
            <a:r>
              <a:rPr lang="ko-KR" altLang="en-US" dirty="0"/>
              <a:t>의 불균형한 사용으로 인해 여전히 제한됨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관찰</a:t>
            </a:r>
            <a:r>
              <a:rPr lang="en-US" altLang="ko-KR" dirty="0"/>
              <a:t>2: MXU</a:t>
            </a:r>
            <a:r>
              <a:rPr lang="ko-KR" altLang="en-US" dirty="0"/>
              <a:t>와 </a:t>
            </a:r>
            <a:r>
              <a:rPr lang="en-US" altLang="ko-KR" dirty="0"/>
              <a:t>VPU</a:t>
            </a:r>
            <a:r>
              <a:rPr lang="ko-KR" altLang="en-US" dirty="0"/>
              <a:t>의 시간적 유휴 상태는 데이터 의존성과 불균형한 사용으로 인한 제한된 연산자 수준 </a:t>
            </a:r>
            <a:r>
              <a:rPr lang="ko-KR" altLang="en-US" dirty="0" err="1"/>
              <a:t>병렬성</a:t>
            </a:r>
            <a:r>
              <a:rPr lang="ko-KR" altLang="en-US" dirty="0"/>
              <a:t> 때문에 발생</a:t>
            </a:r>
            <a:r>
              <a:rPr lang="en-US" altLang="ko-KR" dirty="0"/>
              <a:t>. </a:t>
            </a:r>
            <a:r>
              <a:rPr lang="ko-KR" altLang="en-US" dirty="0"/>
              <a:t>이러한 제한은 모델 아키텍처의 고유한 특성이므로 단일 워크로드의 활용도를 컴파일러 최적화로 더 높이기는 어려움</a:t>
            </a:r>
          </a:p>
        </p:txBody>
      </p:sp>
      <p:pic>
        <p:nvPicPr>
          <p:cNvPr id="12" name="그림 11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950B5E-CA7B-08DC-D751-F4D0F256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25" y="1138136"/>
            <a:ext cx="4321046" cy="1263420"/>
          </a:xfrm>
          <a:prstGeom prst="rect">
            <a:avLst/>
          </a:prstGeom>
        </p:spPr>
      </p:pic>
      <p:pic>
        <p:nvPicPr>
          <p:cNvPr id="14" name="그림 13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046990-312F-CC00-2357-B9C466A6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425" y="2642669"/>
            <a:ext cx="4532156" cy="1263421"/>
          </a:xfrm>
          <a:prstGeom prst="rect">
            <a:avLst/>
          </a:prstGeom>
        </p:spPr>
      </p:pic>
      <p:pic>
        <p:nvPicPr>
          <p:cNvPr id="16" name="그림 15" descr="라인, 그래프, 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3E2CE4-D9F8-AB14-62D5-786C7324B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7425" y="4322580"/>
            <a:ext cx="4279563" cy="126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693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A55D7-82D3-C165-F186-741D11879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9847B-3077-4BED-7BC7-FBE79BFFA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0650" y="685800"/>
            <a:ext cx="6176775" cy="1485900"/>
          </a:xfrm>
        </p:spPr>
        <p:txBody>
          <a:bodyPr>
            <a:normAutofit/>
          </a:bodyPr>
          <a:lstStyle/>
          <a:p>
            <a:r>
              <a:rPr lang="en-US" altLang="ko-KR"/>
              <a:t>Characterization Study of NPU Utilization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30E1B7-429D-FAD6-2BFD-84A0C7AC4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0649" y="2286000"/>
            <a:ext cx="6176776" cy="3581400"/>
          </a:xfrm>
        </p:spPr>
        <p:txBody>
          <a:bodyPr>
            <a:normAutofit/>
          </a:bodyPr>
          <a:lstStyle/>
          <a:p>
            <a:r>
              <a:rPr lang="ko-KR" altLang="en-US" dirty="0"/>
              <a:t>배치 크기가 커질수록 계산 집약도가 높아져 데이터 재사용이 많아지므로 대역폭 활용도는 감소</a:t>
            </a:r>
            <a:endParaRPr lang="en-US" altLang="ko-KR" dirty="0"/>
          </a:p>
          <a:p>
            <a:r>
              <a:rPr lang="ko-KR" altLang="en-US" dirty="0"/>
              <a:t>계산 및 메모리 집약도 사이의 상관관계 확인</a:t>
            </a:r>
            <a:endParaRPr lang="en-US" altLang="ko-KR" dirty="0"/>
          </a:p>
          <a:p>
            <a:r>
              <a:rPr lang="ko-KR" altLang="en-US" dirty="0"/>
              <a:t>관찰 </a:t>
            </a:r>
            <a:r>
              <a:rPr lang="en-US" altLang="ko-KR" dirty="0"/>
              <a:t>3: </a:t>
            </a:r>
            <a:r>
              <a:rPr lang="ko-KR" altLang="en-US" dirty="0" err="1"/>
              <a:t>오프칩</a:t>
            </a:r>
            <a:r>
              <a:rPr lang="ko-KR" altLang="en-US" dirty="0"/>
              <a:t> </a:t>
            </a:r>
            <a:r>
              <a:rPr lang="en-US" altLang="ko-KR" dirty="0"/>
              <a:t>HBM </a:t>
            </a:r>
            <a:r>
              <a:rPr lang="ko-KR" altLang="en-US" dirty="0"/>
              <a:t>대역폭은 </a:t>
            </a:r>
            <a:r>
              <a:rPr lang="en-US" altLang="ko-KR" dirty="0"/>
              <a:t>NPU</a:t>
            </a:r>
            <a:r>
              <a:rPr lang="ko-KR" altLang="en-US" dirty="0"/>
              <a:t>의 </a:t>
            </a:r>
            <a:r>
              <a:rPr lang="en-US" altLang="ko-KR" dirty="0"/>
              <a:t>FLOPS </a:t>
            </a:r>
            <a:r>
              <a:rPr lang="ko-KR" altLang="en-US" dirty="0"/>
              <a:t>저조 활용의 결과로 함께 저조하게 활용됩니다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HBM</a:t>
            </a:r>
            <a:r>
              <a:rPr lang="ko-KR" altLang="en-US" dirty="0"/>
              <a:t>이 </a:t>
            </a:r>
            <a:r>
              <a:rPr lang="en-US" altLang="ko-KR" dirty="0" err="1"/>
              <a:t>SaA</a:t>
            </a:r>
            <a:r>
              <a:rPr lang="ko-KR" altLang="en-US" dirty="0"/>
              <a:t>의 피크 성능에 맞춰 설계되었기 때문</a:t>
            </a:r>
          </a:p>
        </p:txBody>
      </p:sp>
      <p:pic>
        <p:nvPicPr>
          <p:cNvPr id="5" name="그림 4" descr="텍스트, 라인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AE247A-FE92-778A-22E4-F921538FB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426" y="1985515"/>
            <a:ext cx="4533784" cy="1219749"/>
          </a:xfrm>
          <a:prstGeom prst="rect">
            <a:avLst/>
          </a:prstGeom>
        </p:spPr>
      </p:pic>
      <p:pic>
        <p:nvPicPr>
          <p:cNvPr id="9" name="그림 8" descr="텍스트, 스크린샷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05DFDB-FDC6-BF2F-6E59-CBF949E44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532" y="3652737"/>
            <a:ext cx="4832468" cy="250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06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CE17D-A936-9186-FCF1-88B80178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01768D-691E-AC56-9FE4-59174C506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562" y="685800"/>
            <a:ext cx="10493524" cy="1485900"/>
          </a:xfrm>
        </p:spPr>
        <p:txBody>
          <a:bodyPr>
            <a:normAutofit/>
          </a:bodyPr>
          <a:lstStyle/>
          <a:p>
            <a:r>
              <a:rPr lang="en-US" altLang="ko-KR"/>
              <a:t>Characterization Study of NPU Utilization</a:t>
            </a:r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F89C22-0475-4427-B7C8-0269AD40E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4A1979E-4C64-0750-9322-039C92273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3562" y="2286000"/>
            <a:ext cx="5072437" cy="3581400"/>
          </a:xfrm>
        </p:spPr>
        <p:txBody>
          <a:bodyPr>
            <a:normAutofit/>
          </a:bodyPr>
          <a:lstStyle/>
          <a:p>
            <a:r>
              <a:rPr lang="ko-KR" altLang="en-US" sz="1800" dirty="0"/>
              <a:t>선점형 </a:t>
            </a:r>
            <a:r>
              <a:rPr lang="ko-KR" altLang="en-US" sz="1800" dirty="0" err="1"/>
              <a:t>멀티태스킹은</a:t>
            </a:r>
            <a:r>
              <a:rPr lang="ko-KR" altLang="en-US" sz="1800" dirty="0"/>
              <a:t> 작업 수준에서 워크로드를 선점하여 시간을 나누어 씀</a:t>
            </a:r>
            <a:endParaRPr lang="en-US" altLang="ko-KR" sz="1800" dirty="0"/>
          </a:p>
          <a:p>
            <a:r>
              <a:rPr lang="ko-KR" altLang="en-US" sz="1800" dirty="0"/>
              <a:t>관찰 </a:t>
            </a:r>
            <a:r>
              <a:rPr lang="en-US" altLang="ko-KR" sz="1800" dirty="0"/>
              <a:t>4: </a:t>
            </a:r>
            <a:r>
              <a:rPr lang="ko-KR" altLang="en-US" sz="1800" dirty="0"/>
              <a:t>최신 선점 기반 방식도 여전히 낮은 </a:t>
            </a:r>
            <a:r>
              <a:rPr lang="en-US" altLang="ko-KR" sz="1800" dirty="0"/>
              <a:t>NPU </a:t>
            </a:r>
            <a:r>
              <a:rPr lang="ko-KR" altLang="en-US" sz="1800" dirty="0"/>
              <a:t>활용도와 불균형 문제로 고통받고 있음</a:t>
            </a:r>
            <a:r>
              <a:rPr lang="en-US" altLang="ko-KR" sz="1800" dirty="0"/>
              <a:t>,</a:t>
            </a:r>
            <a:r>
              <a:rPr lang="ko-KR" altLang="en-US" sz="1800" dirty="0"/>
              <a:t>무분별한 워크로드 병합은 자원 경합을 일으켜 활용도 개선을 어렵게 함</a:t>
            </a:r>
            <a:endParaRPr lang="en-US" altLang="ko-KR" sz="1800" dirty="0"/>
          </a:p>
        </p:txBody>
      </p:sp>
      <p:pic>
        <p:nvPicPr>
          <p:cNvPr id="4" name="그림 3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020085-CD5B-EADC-D6AC-52592603C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41" y="3253618"/>
            <a:ext cx="5105445" cy="173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37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62DFFC-4DCC-48EE-B781-94D04B95F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BB903B-8C3F-7FA2-8988-8C5C55D3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570"/>
            <a:ext cx="4018839" cy="5262390"/>
          </a:xfrm>
        </p:spPr>
        <p:txBody>
          <a:bodyPr anchor="ctr">
            <a:normAutofit/>
          </a:bodyPr>
          <a:lstStyle/>
          <a:p>
            <a:pPr algn="r"/>
            <a:r>
              <a:rPr lang="en-US" altLang="ko-KR" sz="5400" dirty="0">
                <a:solidFill>
                  <a:schemeClr val="bg2"/>
                </a:solidFill>
              </a:rPr>
              <a:t>Evaluation</a:t>
            </a:r>
            <a:endParaRPr lang="ko-KR" altLang="en-US" sz="5400" dirty="0">
              <a:solidFill>
                <a:schemeClr val="bg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B8B265-E68C-4B64-9238-781F0102C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436B0F-10C5-F730-2E28-85DB2E0FA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720" y="791570"/>
            <a:ext cx="4892308" cy="5262390"/>
          </a:xfrm>
        </p:spPr>
        <p:txBody>
          <a:bodyPr anchor="ctr">
            <a:norm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705373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B17C0-228B-E144-EA46-AE5DC55D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83077"/>
          </a:xfrm>
        </p:spPr>
        <p:txBody>
          <a:bodyPr/>
          <a:lstStyle/>
          <a:p>
            <a:r>
              <a:rPr lang="en-US" altLang="ko-KR" dirty="0"/>
              <a:t>Evaluation</a:t>
            </a:r>
            <a:endParaRPr lang="ko-KR" alt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A49878-3C37-DE66-CEB9-FEDEA044E4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3583" y="1468877"/>
            <a:ext cx="1091369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전체 NPU 활용도를 1.64배 향상시킴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통합 처리량(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throughput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)을 1.57배 증가시킴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서비스의 평균 지연 시간(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)을 1.56배, 꼬리 지연 시간(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tail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latency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)을 1.74배 감소시킴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연산자 선점 오버헤드를 최소화함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유연한 워크로드 우선순위 설정을 지원함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다양한 스케줄러 타임 슬라이스 설정에서 작동함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다양한 벡터 메모리 용량에서 이득을 얻음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여러 워크로드 및 SA/VU 확장성을 가짐</a:t>
            </a:r>
          </a:p>
        </p:txBody>
      </p:sp>
    </p:spTree>
    <p:extLst>
      <p:ext uri="{BB962C8B-B14F-4D97-AF65-F5344CB8AC3E}">
        <p14:creationId xmlns:p14="http://schemas.microsoft.com/office/powerpoint/2010/main" val="1643741344"/>
      </p:ext>
    </p:extLst>
  </p:cSld>
  <p:clrMapOvr>
    <a:masterClrMapping/>
  </p:clrMapOvr>
</p:sld>
</file>

<file path=ppt/theme/theme1.xml><?xml version="1.0" encoding="utf-8"?>
<a:theme xmlns:a="http://schemas.openxmlformats.org/drawingml/2006/main" name="자르기">
  <a:themeElements>
    <a:clrScheme name="자르기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자르기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자르기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자르기</Template>
  <TotalTime>214</TotalTime>
  <Words>1036</Words>
  <Application>Microsoft Office PowerPoint</Application>
  <PresentationFormat>와이드스크린</PresentationFormat>
  <Paragraphs>73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4" baseType="lpstr">
      <vt:lpstr>Arial</vt:lpstr>
      <vt:lpstr>Franklin Gothic Book</vt:lpstr>
      <vt:lpstr>자르기</vt:lpstr>
      <vt:lpstr>V10: Hardware-Assisted NPU Multi-tenancy for Improved Resource Utilization and Fairness </vt:lpstr>
      <vt:lpstr>목차</vt:lpstr>
      <vt:lpstr>Abstract</vt:lpstr>
      <vt:lpstr>Abstract</vt:lpstr>
      <vt:lpstr>Abstract</vt:lpstr>
      <vt:lpstr>Introduction</vt:lpstr>
      <vt:lpstr>Introduction</vt:lpstr>
      <vt:lpstr>Introduction</vt:lpstr>
      <vt:lpstr>Introduction</vt:lpstr>
      <vt:lpstr>Introduction</vt:lpstr>
      <vt:lpstr>Characterization Study of NPU Utilization </vt:lpstr>
      <vt:lpstr>Characterization Study of NPU Utilization</vt:lpstr>
      <vt:lpstr>Characterization Study of NPU Utilization</vt:lpstr>
      <vt:lpstr>Characterization Study of NPU Utilization</vt:lpstr>
      <vt:lpstr>Characterization Study of NPU Utilization</vt:lpstr>
      <vt:lpstr>Characterization Study of NPU Utilization</vt:lpstr>
      <vt:lpstr>Characterization Study of NPU Utilization</vt:lpstr>
      <vt:lpstr>Characterization Study of NPU Utilization</vt:lpstr>
      <vt:lpstr>Characterization Study of NPU Utilization</vt:lpstr>
      <vt:lpstr>Evaluation</vt:lpstr>
      <vt:lpstr>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최성우</dc:creator>
  <cp:lastModifiedBy>최성우</cp:lastModifiedBy>
  <cp:revision>64</cp:revision>
  <dcterms:created xsi:type="dcterms:W3CDTF">2026-01-28T19:22:56Z</dcterms:created>
  <dcterms:modified xsi:type="dcterms:W3CDTF">2026-01-29T06:34:49Z</dcterms:modified>
</cp:coreProperties>
</file>
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7" r:id="rId4"/>
    <p:sldId id="269" r:id="rId5"/>
    <p:sldId id="270" r:id="rId6"/>
    <p:sldId id="271" r:id="rId7"/>
    <p:sldId id="274" r:id="rId8"/>
    <p:sldId id="272" r:id="rId9"/>
    <p:sldId id="266" r:id="rId10"/>
    <p:sldId id="275" r:id="rId11"/>
    <p:sldId id="276" r:id="rId12"/>
    <p:sldId id="281" r:id="rId13"/>
    <p:sldId id="280" r:id="rId14"/>
    <p:sldId id="265" r:id="rId15"/>
    <p:sldId id="282" r:id="rId16"/>
    <p:sldId id="283" r:id="rId17"/>
    <p:sldId id="294" r:id="rId18"/>
    <p:sldId id="268" r:id="rId19"/>
    <p:sldId id="285" r:id="rId20"/>
    <p:sldId id="284" r:id="rId21"/>
    <p:sldId id="286" r:id="rId22"/>
    <p:sldId id="288" r:id="rId23"/>
    <p:sldId id="290" r:id="rId24"/>
    <p:sldId id="292" r:id="rId25"/>
    <p:sldId id="29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0440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275130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9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85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863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25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3050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286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48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464C7D6-0581-4706-B168-200C350B3399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54DB5D9-7BB3-470C-826A-E0ABFF8A084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57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CB75C-A21B-766C-A1C2-49A3BE259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DFX </a:t>
            </a:r>
            <a:r>
              <a:rPr lang="ko-KR" altLang="en-US" dirty="0"/>
              <a:t>논문 리뷰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C4E214-7B8B-6284-6EA0-DD36137B1B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25/12/24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236051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567F9B6-77AE-B1AE-7974-E59A10214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C0C4EB6-F9C9-84B3-BFBB-28ABE8056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3600" dirty="0"/>
              <a:t>1. Abstract</a:t>
            </a:r>
          </a:p>
          <a:p>
            <a:r>
              <a:rPr lang="en-US" altLang="ko-KR" sz="3600" dirty="0"/>
              <a:t>2. Introduction</a:t>
            </a:r>
          </a:p>
          <a:p>
            <a:r>
              <a:rPr lang="en-US" altLang="ko-KR" sz="3600" dirty="0"/>
              <a:t>3. Background</a:t>
            </a:r>
          </a:p>
          <a:p>
            <a:r>
              <a:rPr lang="en-US" altLang="ko-KR" sz="3600" dirty="0"/>
              <a:t>4. Motivation</a:t>
            </a:r>
          </a:p>
          <a:p>
            <a:r>
              <a:rPr lang="en-US" altLang="ko-KR" sz="3600" dirty="0"/>
              <a:t>5. DFX Architecture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4078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8F9A38-BA70-2CC5-25B7-F7695010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Abstract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1D2018-9E9B-ABC2-2565-7757A8210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52085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4ED33-28D3-771F-B304-BE1CC1C3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81743"/>
          </a:xfrm>
        </p:spPr>
        <p:txBody>
          <a:bodyPr/>
          <a:lstStyle/>
          <a:p>
            <a:r>
              <a:rPr lang="en-US" altLang="ko-KR" dirty="0" err="1"/>
              <a:t>Transfomer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56A81B-5879-E5FC-49FC-86CBEB8B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6914"/>
            <a:ext cx="9601200" cy="4430486"/>
          </a:xfrm>
        </p:spPr>
        <p:txBody>
          <a:bodyPr/>
          <a:lstStyle/>
          <a:p>
            <a:r>
              <a:rPr lang="ko-KR" altLang="en-US" dirty="0"/>
              <a:t>트랜스포머는 데이터 센터의 자연어 처리</a:t>
            </a:r>
            <a:r>
              <a:rPr lang="en-US" altLang="ko-KR" dirty="0"/>
              <a:t>(NLP) </a:t>
            </a:r>
            <a:r>
              <a:rPr lang="ko-KR" altLang="en-US" dirty="0"/>
              <a:t>서비스에서 널리 사용되는 딥러닝 언어 모델</a:t>
            </a:r>
            <a:r>
              <a:rPr lang="en-US" altLang="ko-KR" dirty="0"/>
              <a:t>, </a:t>
            </a:r>
            <a:r>
              <a:rPr lang="ko-KR" altLang="en-US" dirty="0"/>
              <a:t>이 중 </a:t>
            </a:r>
            <a:r>
              <a:rPr lang="en-US" altLang="ko-KR" dirty="0"/>
              <a:t>Generative Pre-trained Transformer(GPT)</a:t>
            </a:r>
            <a:r>
              <a:rPr lang="ko-KR" altLang="en-US" dirty="0"/>
              <a:t>는 텍스트 생성 또는 자연어 생성</a:t>
            </a:r>
            <a:r>
              <a:rPr lang="en-US" altLang="ko-KR" dirty="0"/>
              <a:t>(NLG) </a:t>
            </a:r>
            <a:r>
              <a:rPr lang="ko-KR" altLang="en-US" dirty="0"/>
              <a:t>분야에서 뛰어난 성능을 달성</a:t>
            </a:r>
            <a:endParaRPr lang="en-US" altLang="ko-KR" dirty="0"/>
          </a:p>
          <a:p>
            <a:r>
              <a:rPr lang="ko-KR" altLang="en-US" dirty="0"/>
              <a:t>대규모 입력을 처리하는 요약 단계</a:t>
            </a:r>
            <a:r>
              <a:rPr lang="en-US" altLang="ko-KR" dirty="0"/>
              <a:t>(summarization stage), </a:t>
            </a:r>
            <a:r>
              <a:rPr lang="ko-KR" altLang="en-US" dirty="0"/>
              <a:t>한번에 한 단어씩 생성하는 생성 단계</a:t>
            </a:r>
            <a:r>
              <a:rPr lang="en-US" altLang="ko-KR" dirty="0"/>
              <a:t>(generation stage)</a:t>
            </a:r>
            <a:r>
              <a:rPr lang="ko-KR" altLang="en-US" dirty="0"/>
              <a:t>로 이어짐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804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461C415-5118-7FBF-5FA4-EF25A5E6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81743"/>
          </a:xfrm>
        </p:spPr>
        <p:txBody>
          <a:bodyPr/>
          <a:lstStyle/>
          <a:p>
            <a:r>
              <a:rPr lang="en-US" altLang="ko-KR" dirty="0"/>
              <a:t>GPU</a:t>
            </a:r>
            <a:r>
              <a:rPr lang="ko-KR" altLang="en-US" dirty="0"/>
              <a:t>의 쓰임 문제와 해결방안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B17BEC4-B716-31EB-043B-E50939832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6914"/>
            <a:ext cx="9601200" cy="4430486"/>
          </a:xfrm>
        </p:spPr>
        <p:txBody>
          <a:bodyPr/>
          <a:lstStyle/>
          <a:p>
            <a:r>
              <a:rPr lang="en-US" altLang="ko-KR" dirty="0"/>
              <a:t>GPU</a:t>
            </a:r>
            <a:r>
              <a:rPr lang="ko-KR" altLang="en-US" dirty="0"/>
              <a:t>는 대규모 입력을 병렬로 처리하는데 특화</a:t>
            </a:r>
            <a:r>
              <a:rPr lang="en-US" altLang="ko-KR" dirty="0"/>
              <a:t>, </a:t>
            </a:r>
            <a:r>
              <a:rPr lang="ko-KR" altLang="en-US" dirty="0"/>
              <a:t>요약 단계에서는 특화 </a:t>
            </a:r>
            <a:r>
              <a:rPr lang="en-US" altLang="ko-KR" dirty="0"/>
              <a:t>but </a:t>
            </a:r>
            <a:r>
              <a:rPr lang="ko-KR" altLang="en-US" dirty="0"/>
              <a:t>생성 단계에서는 성능 크게 저하 </a:t>
            </a:r>
            <a:r>
              <a:rPr lang="en-US" altLang="ko-KR" dirty="0"/>
              <a:t>-&gt; </a:t>
            </a:r>
            <a:r>
              <a:rPr lang="ko-KR" altLang="en-US" dirty="0"/>
              <a:t>높은 지연 시간 해결을 위한 하드웨어 플랫폼 필요</a:t>
            </a:r>
            <a:endParaRPr lang="en-US" altLang="ko-KR" dirty="0"/>
          </a:p>
          <a:p>
            <a:r>
              <a:rPr lang="ko-KR" altLang="en-US" dirty="0"/>
              <a:t>본 논문에서는 요약 및 생성 단계 모두에서 낮은 지연 시간과 높은 처리량을 바탕으로 </a:t>
            </a:r>
            <a:r>
              <a:rPr lang="en-US" altLang="ko-KR" dirty="0"/>
              <a:t>GPT-2 </a:t>
            </a:r>
            <a:r>
              <a:rPr lang="ko-KR" altLang="en-US" dirty="0"/>
              <a:t>모델 추론을 </a:t>
            </a:r>
            <a:r>
              <a:rPr lang="en-US" altLang="ko-KR" dirty="0"/>
              <a:t>end-to-end</a:t>
            </a:r>
            <a:r>
              <a:rPr lang="ko-KR" altLang="en-US" dirty="0"/>
              <a:t>로 실행하는 </a:t>
            </a:r>
            <a:r>
              <a:rPr lang="en-US" altLang="ko-KR" dirty="0"/>
              <a:t>multi-FPGA acceleration appliance</a:t>
            </a:r>
            <a:r>
              <a:rPr lang="ko-KR" altLang="en-US" dirty="0"/>
              <a:t>인 </a:t>
            </a:r>
            <a:r>
              <a:rPr lang="en-US" altLang="ko-KR" dirty="0"/>
              <a:t>DFX</a:t>
            </a:r>
            <a:r>
              <a:rPr lang="ko-KR" altLang="en-US" dirty="0"/>
              <a:t>를 제안</a:t>
            </a:r>
            <a:endParaRPr lang="en-US" altLang="ko-KR" dirty="0"/>
          </a:p>
          <a:p>
            <a:r>
              <a:rPr lang="en-US" altLang="ko-KR" dirty="0">
                <a:latin typeface="+mn-ea"/>
              </a:rPr>
              <a:t>DFX</a:t>
            </a:r>
            <a:r>
              <a:rPr lang="ko-KR" altLang="en-US" dirty="0">
                <a:latin typeface="+mn-ea"/>
              </a:rPr>
              <a:t>는 최신 </a:t>
            </a:r>
            <a:r>
              <a:rPr lang="en-US" altLang="ko-KR" dirty="0">
                <a:latin typeface="+mn-ea"/>
              </a:rPr>
              <a:t>GPT-2 </a:t>
            </a:r>
            <a:r>
              <a:rPr lang="ko-KR" altLang="en-US" dirty="0">
                <a:latin typeface="+mn-ea"/>
              </a:rPr>
              <a:t>모델에서 </a:t>
            </a: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개의 </a:t>
            </a:r>
            <a:r>
              <a:rPr lang="en-US" altLang="ko-KR" dirty="0">
                <a:latin typeface="+mn-ea"/>
              </a:rPr>
              <a:t>NVIDIA V100 GPU </a:t>
            </a:r>
            <a:r>
              <a:rPr lang="ko-KR" altLang="en-US" dirty="0">
                <a:latin typeface="+mn-ea"/>
              </a:rPr>
              <a:t>대비 </a:t>
            </a:r>
            <a:r>
              <a:rPr lang="en-US" altLang="ko-KR" dirty="0">
                <a:latin typeface="+mn-ea"/>
              </a:rPr>
              <a:t>5.58</a:t>
            </a:r>
            <a:r>
              <a:rPr lang="ko-KR" altLang="en-US" dirty="0">
                <a:latin typeface="+mn-ea"/>
              </a:rPr>
              <a:t>배의 속도 향상과 </a:t>
            </a:r>
            <a:r>
              <a:rPr lang="en-US" altLang="ko-KR" dirty="0">
                <a:latin typeface="+mn-ea"/>
              </a:rPr>
              <a:t>3.99</a:t>
            </a:r>
            <a:r>
              <a:rPr lang="ko-KR" altLang="en-US" dirty="0">
                <a:latin typeface="+mn-ea"/>
              </a:rPr>
              <a:t>배의 에너지 효율성을 달성했습니다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또한 </a:t>
            </a:r>
            <a:r>
              <a:rPr lang="en-US" altLang="ko-KR" dirty="0">
                <a:latin typeface="+mn-ea"/>
              </a:rPr>
              <a:t>DFX</a:t>
            </a:r>
            <a:r>
              <a:rPr lang="ko-KR" altLang="en-US" dirty="0">
                <a:latin typeface="+mn-ea"/>
              </a:rPr>
              <a:t>는 </a:t>
            </a:r>
            <a:r>
              <a:rPr lang="en-US" altLang="ko-KR" dirty="0">
                <a:latin typeface="+mn-ea"/>
              </a:rPr>
              <a:t>GPU appliance</a:t>
            </a:r>
            <a:r>
              <a:rPr lang="ko-KR" altLang="en-US" dirty="0">
                <a:latin typeface="+mn-ea"/>
              </a:rPr>
              <a:t>보다 비용 효율성이 </a:t>
            </a:r>
            <a:r>
              <a:rPr lang="en-US" altLang="ko-KR" dirty="0">
                <a:latin typeface="+mn-ea"/>
              </a:rPr>
              <a:t>8.21</a:t>
            </a:r>
            <a:r>
              <a:rPr lang="ko-KR" altLang="en-US" dirty="0">
                <a:latin typeface="+mn-ea"/>
              </a:rPr>
              <a:t>배 더 높음</a:t>
            </a:r>
            <a:r>
              <a:rPr lang="en-US" altLang="ko-KR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8325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3B7662-0778-F308-04E8-1413153F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Introduction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917A4-09C2-975B-5037-F537EBBE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8230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3AA29-9116-B616-38C1-CD853801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43114-8829-A0DB-D139-6723B87B6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81743"/>
          </a:xfrm>
        </p:spPr>
        <p:txBody>
          <a:bodyPr/>
          <a:lstStyle/>
          <a:p>
            <a:r>
              <a:rPr lang="en-US" altLang="ko-KR" dirty="0" err="1"/>
              <a:t>Transfomer</a:t>
            </a:r>
            <a:r>
              <a:rPr lang="en-US" altLang="ko-KR" dirty="0"/>
              <a:t>/GPT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53FE2-F044-BD11-D0AF-4F61DF0EA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6914"/>
            <a:ext cx="9601200" cy="4430486"/>
          </a:xfrm>
        </p:spPr>
        <p:txBody>
          <a:bodyPr/>
          <a:lstStyle/>
          <a:p>
            <a:r>
              <a:rPr lang="ko-KR" altLang="en-US" dirty="0"/>
              <a:t>트랜스포머는 데이터 센터의 자연어 처리</a:t>
            </a:r>
            <a:r>
              <a:rPr lang="en-US" altLang="ko-KR" dirty="0"/>
              <a:t>(NLP) </a:t>
            </a:r>
            <a:r>
              <a:rPr lang="ko-KR" altLang="en-US" dirty="0"/>
              <a:t>서비스에서 널리 사용되는 딥러닝 언어 모델</a:t>
            </a:r>
            <a:r>
              <a:rPr lang="en-US" altLang="ko-KR" dirty="0"/>
              <a:t>, </a:t>
            </a:r>
            <a:r>
              <a:rPr lang="ko-KR" altLang="en-US" dirty="0"/>
              <a:t>순환 신경망</a:t>
            </a:r>
            <a:r>
              <a:rPr lang="en-US" altLang="ko-KR" dirty="0"/>
              <a:t>(RNN) </a:t>
            </a:r>
            <a:r>
              <a:rPr lang="ko-KR" altLang="en-US" dirty="0"/>
              <a:t>과 장단기 메모리</a:t>
            </a:r>
            <a:r>
              <a:rPr lang="en-US" altLang="ko-KR" dirty="0"/>
              <a:t>(LSTM) </a:t>
            </a:r>
            <a:r>
              <a:rPr lang="ko-KR" altLang="en-US" dirty="0"/>
              <a:t>의 고질적인 문제였던 재귀 연산 및 전역 의존성 결여 문제를 해결함</a:t>
            </a:r>
            <a:endParaRPr lang="en-US" altLang="ko-KR" dirty="0"/>
          </a:p>
          <a:p>
            <a:r>
              <a:rPr lang="ko-KR" altLang="en-US" dirty="0"/>
              <a:t>이 중 </a:t>
            </a:r>
            <a:r>
              <a:rPr lang="en-US" altLang="ko-KR" dirty="0"/>
              <a:t>Generative Pre-trained Transformer(GPT)</a:t>
            </a:r>
            <a:r>
              <a:rPr lang="ko-KR" altLang="en-US" dirty="0"/>
              <a:t>는 텍스트 생성 또는 자연어 생성</a:t>
            </a:r>
            <a:r>
              <a:rPr lang="en-US" altLang="ko-KR" dirty="0"/>
              <a:t>(NLG) </a:t>
            </a:r>
            <a:r>
              <a:rPr lang="ko-KR" altLang="en-US" dirty="0"/>
              <a:t>분야에서 뛰어난 성능을 달성</a:t>
            </a:r>
            <a:endParaRPr lang="en-US" altLang="ko-KR" dirty="0"/>
          </a:p>
          <a:p>
            <a:r>
              <a:rPr lang="ko-KR" altLang="en-US" dirty="0"/>
              <a:t>대규모 입력을 처리하는 요약 단계</a:t>
            </a:r>
            <a:r>
              <a:rPr lang="en-US" altLang="ko-KR" dirty="0"/>
              <a:t>(summarization stage), </a:t>
            </a:r>
            <a:r>
              <a:rPr lang="ko-KR" altLang="en-US" dirty="0"/>
              <a:t>한번에 한 단어씩 생성하는 생성 단계</a:t>
            </a:r>
            <a:r>
              <a:rPr lang="en-US" altLang="ko-KR" dirty="0"/>
              <a:t>(generation stage)</a:t>
            </a:r>
            <a:r>
              <a:rPr lang="ko-KR" altLang="en-US" dirty="0"/>
              <a:t>로 이어짐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GPU</a:t>
            </a:r>
            <a:r>
              <a:rPr lang="ko-KR" altLang="en-US" dirty="0"/>
              <a:t>의 대규모 병렬 연산 유닛은 요약 단계에서는 높은 성능을 발휘</a:t>
            </a:r>
            <a:r>
              <a:rPr lang="en-US" altLang="ko-KR" dirty="0"/>
              <a:t>, </a:t>
            </a:r>
            <a:r>
              <a:rPr lang="ko-KR" altLang="en-US" dirty="0"/>
              <a:t>그러나 생성 단계에서는 </a:t>
            </a:r>
            <a:r>
              <a:rPr lang="en-US" altLang="ko-KR" dirty="0"/>
              <a:t>GPU</a:t>
            </a:r>
            <a:r>
              <a:rPr lang="ko-KR" altLang="en-US" dirty="0"/>
              <a:t>가 순차적 처리에 적합하지 않아 연산 유닛 활용도</a:t>
            </a:r>
            <a:r>
              <a:rPr lang="en-US" altLang="ko-KR" dirty="0"/>
              <a:t>(utilization)</a:t>
            </a:r>
            <a:r>
              <a:rPr lang="ko-KR" altLang="en-US" dirty="0"/>
              <a:t>가 심각하게 떨어지며 성능 저하가 발생</a:t>
            </a:r>
            <a:endParaRPr lang="en-US" altLang="ko-KR" dirty="0"/>
          </a:p>
        </p:txBody>
      </p:sp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B65A3D-0A6B-A563-605E-BEE2034A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366" y="4826634"/>
            <a:ext cx="5275634" cy="203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01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8F9F1-E269-A388-E29F-7AA56FA1C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1"/>
            <a:ext cx="9601200" cy="744166"/>
          </a:xfrm>
        </p:spPr>
        <p:txBody>
          <a:bodyPr/>
          <a:lstStyle/>
          <a:p>
            <a:r>
              <a:rPr lang="ko-KR" altLang="en-US" dirty="0"/>
              <a:t>멀티 </a:t>
            </a:r>
            <a:r>
              <a:rPr lang="en-US" altLang="ko-KR" dirty="0"/>
              <a:t>FPGA </a:t>
            </a:r>
            <a:r>
              <a:rPr lang="ko-KR" altLang="en-US" dirty="0"/>
              <a:t>가속 </a:t>
            </a:r>
            <a:r>
              <a:rPr lang="en-US" altLang="ko-KR" dirty="0"/>
              <a:t>appliance</a:t>
            </a:r>
            <a:r>
              <a:rPr lang="ko-KR" altLang="en-US" dirty="0"/>
              <a:t> </a:t>
            </a:r>
            <a:r>
              <a:rPr lang="en-US" altLang="ko-KR" b="1" dirty="0"/>
              <a:t>DFX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45D97F-4154-F0BE-C5F3-F414E0D5F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2689"/>
            <a:ext cx="9601200" cy="4534711"/>
          </a:xfrm>
        </p:spPr>
        <p:txBody>
          <a:bodyPr/>
          <a:lstStyle/>
          <a:p>
            <a:r>
              <a:rPr lang="ko-KR" altLang="en-US" dirty="0"/>
              <a:t>이전</a:t>
            </a:r>
            <a:r>
              <a:rPr lang="en-US" altLang="ko-KR" dirty="0"/>
              <a:t>: </a:t>
            </a:r>
            <a:r>
              <a:rPr lang="ko-KR" altLang="en-US" dirty="0"/>
              <a:t>문맥 이해를 위한 행렬 곱셈과 </a:t>
            </a:r>
            <a:r>
              <a:rPr lang="en-US" altLang="ko-KR" dirty="0" err="1"/>
              <a:t>softmax</a:t>
            </a:r>
            <a:r>
              <a:rPr lang="ko-KR" altLang="en-US" dirty="0"/>
              <a:t>로 구성된 </a:t>
            </a:r>
            <a:r>
              <a:rPr lang="en-US" altLang="ko-KR" dirty="0"/>
              <a:t>attention</a:t>
            </a:r>
            <a:r>
              <a:rPr lang="ko-KR" altLang="en-US" dirty="0"/>
              <a:t> 메커니즘이 관심사</a:t>
            </a:r>
            <a:endParaRPr lang="en-US" altLang="ko-KR" dirty="0"/>
          </a:p>
          <a:p>
            <a:r>
              <a:rPr lang="ko-KR" altLang="en-US" dirty="0"/>
              <a:t>전체 </a:t>
            </a:r>
            <a:r>
              <a:rPr lang="en-US" altLang="ko-KR" dirty="0"/>
              <a:t>GPT </a:t>
            </a:r>
            <a:r>
              <a:rPr lang="ko-KR" altLang="en-US" dirty="0"/>
              <a:t>연산을 처음부터 끝까지</a:t>
            </a:r>
            <a:r>
              <a:rPr lang="en-US" altLang="ko-KR" dirty="0"/>
              <a:t>(end-to-end) </a:t>
            </a:r>
            <a:r>
              <a:rPr lang="ko-KR" altLang="en-US" dirty="0"/>
              <a:t>지원할 수 있는 통합된 프로그래밍 가능 아키텍처가 필수적 </a:t>
            </a:r>
            <a:r>
              <a:rPr lang="en-US" altLang="ko-KR" dirty="0"/>
              <a:t>-&gt; DFX </a:t>
            </a:r>
            <a:r>
              <a:rPr lang="ko-KR" altLang="en-US" dirty="0"/>
              <a:t>제안</a:t>
            </a:r>
            <a:endParaRPr lang="en-US" altLang="ko-KR" dirty="0"/>
          </a:p>
          <a:p>
            <a:r>
              <a:rPr lang="ko-KR" altLang="en-US" dirty="0"/>
              <a:t>모델 크기 증가에 대응하기 위해 </a:t>
            </a:r>
            <a:r>
              <a:rPr lang="en-US" altLang="ko-KR" dirty="0"/>
              <a:t>DFX</a:t>
            </a:r>
            <a:r>
              <a:rPr lang="ko-KR" altLang="en-US" dirty="0"/>
              <a:t>는 멀티 디바이스 시스템에서 모델 병렬화를 사용하여 병렬로 작동하는 물리적 연산 코어의 수를 늘리는 동시에</a:t>
            </a:r>
            <a:r>
              <a:rPr lang="en-US" altLang="ko-KR" dirty="0"/>
              <a:t>, </a:t>
            </a:r>
            <a:r>
              <a:rPr lang="ko-KR" altLang="en-US" dirty="0"/>
              <a:t>각 디바이스에 전체 작업 부하를 균등하게 할당 </a:t>
            </a:r>
            <a:r>
              <a:rPr lang="en-US" altLang="ko-KR" dirty="0"/>
              <a:t>+ </a:t>
            </a:r>
            <a:r>
              <a:rPr lang="ko-KR" altLang="en-US" dirty="0"/>
              <a:t>기존의 </a:t>
            </a:r>
            <a:r>
              <a:rPr lang="en-US" altLang="ko-KR" dirty="0"/>
              <a:t>ASCI </a:t>
            </a:r>
            <a:r>
              <a:rPr lang="ko-KR" altLang="en-US" dirty="0"/>
              <a:t>대신 </a:t>
            </a:r>
            <a:r>
              <a:rPr lang="en-US" altLang="ko-KR" dirty="0"/>
              <a:t>FPGA</a:t>
            </a:r>
            <a:r>
              <a:rPr lang="ko-KR" altLang="en-US" dirty="0"/>
              <a:t>를 활용</a:t>
            </a:r>
          </a:p>
        </p:txBody>
      </p:sp>
    </p:spTree>
    <p:extLst>
      <p:ext uri="{BB962C8B-B14F-4D97-AF65-F5344CB8AC3E}">
        <p14:creationId xmlns:p14="http://schemas.microsoft.com/office/powerpoint/2010/main" val="128795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0AE038-5B71-4A4A-290F-7B2B39C9E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Background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1F92A-33B0-2DB0-C75B-D0326246D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04008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096EE-386D-440E-51DE-8239CDDAB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51170"/>
          </a:xfrm>
        </p:spPr>
        <p:txBody>
          <a:bodyPr/>
          <a:lstStyle/>
          <a:p>
            <a:r>
              <a:rPr lang="en-US" altLang="ko-KR" dirty="0"/>
              <a:t>GPT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FE3D75-A845-B353-31F7-8CA4B78CE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72C739-2B6A-BF4B-21B3-E0655EED7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264" y="1536970"/>
            <a:ext cx="5773872" cy="491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83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92CFE-97AA-DE1A-B332-33F8A4D6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디코더</a:t>
            </a:r>
            <a:r>
              <a:rPr lang="ko-KR" altLang="en-US" dirty="0"/>
              <a:t> 레이어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1130D-2196-6709-6C5D-DF769FA03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en-US" altLang="ko-KR" dirty="0"/>
              <a:t>1. Token</a:t>
            </a:r>
            <a:r>
              <a:rPr lang="ko-KR" altLang="en-US" dirty="0"/>
              <a:t> </a:t>
            </a:r>
            <a:r>
              <a:rPr lang="en-US" altLang="ko-KR" dirty="0"/>
              <a:t>Embedding</a:t>
            </a:r>
          </a:p>
          <a:p>
            <a:r>
              <a:rPr lang="en-US" altLang="ko-KR" dirty="0"/>
              <a:t>2. Self-Attention</a:t>
            </a:r>
          </a:p>
          <a:p>
            <a:r>
              <a:rPr lang="en-US" altLang="ko-KR" dirty="0"/>
              <a:t>3. Feed-Forward Network</a:t>
            </a:r>
          </a:p>
          <a:p>
            <a:r>
              <a:rPr lang="en-US" altLang="ko-KR" dirty="0"/>
              <a:t>4. LM head</a:t>
            </a:r>
            <a:endParaRPr lang="ko-KR" altLang="en-US" dirty="0"/>
          </a:p>
        </p:txBody>
      </p:sp>
      <p:pic>
        <p:nvPicPr>
          <p:cNvPr id="4" name="그림 3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A41DB1-0FA5-EEEF-984D-90733B97A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142" y="645106"/>
            <a:ext cx="6155715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07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75C24-534B-9A30-2795-731230B7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0727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토큰 생성 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801CF5-A608-5BE7-DEFF-D353E41E0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56527"/>
            <a:ext cx="9601200" cy="4510873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요약 단계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생성 단계</a:t>
            </a:r>
          </a:p>
        </p:txBody>
      </p:sp>
    </p:spTree>
    <p:extLst>
      <p:ext uri="{BB962C8B-B14F-4D97-AF65-F5344CB8AC3E}">
        <p14:creationId xmlns:p14="http://schemas.microsoft.com/office/powerpoint/2010/main" val="2929907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CD961-B850-E83E-EA0E-EC360D74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894"/>
          </a:xfrm>
        </p:spPr>
        <p:txBody>
          <a:bodyPr/>
          <a:lstStyle/>
          <a:p>
            <a:r>
              <a:rPr lang="en-US" altLang="ko-KR" dirty="0"/>
              <a:t>Parallelism in Deep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30D517-8C66-8C73-59CF-7510AB77C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4247"/>
            <a:ext cx="9601200" cy="4233153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1. Data Parallelism: </a:t>
            </a:r>
            <a:r>
              <a:rPr lang="ko-KR" altLang="ko-KR" dirty="0">
                <a:latin typeface="+mn-ea"/>
              </a:rPr>
              <a:t>병렬화는 여러 개의 연산 장치</a:t>
            </a:r>
            <a:r>
              <a:rPr lang="en-US" altLang="ko-KR" dirty="0">
                <a:latin typeface="+mn-ea"/>
              </a:rPr>
              <a:t>(GPU, FPGA </a:t>
            </a:r>
            <a:r>
              <a:rPr lang="ko-KR" altLang="ko-KR" dirty="0">
                <a:latin typeface="+mn-ea"/>
              </a:rPr>
              <a:t>등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ko-KR" dirty="0">
                <a:latin typeface="+mn-ea"/>
              </a:rPr>
              <a:t>에 동일한 모델을 복제해 두고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ko-KR" dirty="0">
                <a:latin typeface="+mn-ea"/>
              </a:rPr>
              <a:t>입력 데이터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ko-KR" dirty="0">
                <a:latin typeface="+mn-ea"/>
              </a:rPr>
              <a:t>배치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ko-KR" dirty="0">
                <a:latin typeface="+mn-ea"/>
              </a:rPr>
              <a:t>를 나누어 처리하는 방</a:t>
            </a:r>
            <a:r>
              <a:rPr lang="ko-KR" altLang="en-US" dirty="0">
                <a:latin typeface="+mn-ea"/>
              </a:rPr>
              <a:t>식(학습에 적합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추론에는 </a:t>
            </a:r>
            <a:r>
              <a:rPr lang="en-US" altLang="ko-KR" dirty="0">
                <a:latin typeface="+mn-ea"/>
              </a:rPr>
              <a:t>x)</a:t>
            </a:r>
          </a:p>
          <a:p>
            <a:r>
              <a:rPr lang="en-US" altLang="ko-KR" dirty="0">
                <a:latin typeface="+mn-ea"/>
              </a:rPr>
              <a:t>2. Model Parallelism: </a:t>
            </a:r>
            <a:r>
              <a:rPr lang="ko-KR" altLang="ko-KR" dirty="0">
                <a:latin typeface="+mn-ea"/>
              </a:rPr>
              <a:t>모델의 파라미터 자체를 여러 장치에 분산시키는 방식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2-1. pipelined parallelism: </a:t>
            </a:r>
            <a:r>
              <a:rPr lang="ko-KR" altLang="ko-KR" dirty="0">
                <a:latin typeface="+mn-ea"/>
              </a:rPr>
              <a:t>모델의 레이어를 그룹으로 묶어 장치별로 할당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2-2. intra-layer parallelism: </a:t>
            </a:r>
            <a:r>
              <a:rPr lang="ko-KR" altLang="ko-KR" dirty="0">
                <a:latin typeface="+mn-ea"/>
              </a:rPr>
              <a:t>하나의 레이어 안에 있는 거대한 행렬 곱셈 연산을 쪼개어 여러 장치가 동시에 수행하게 </a:t>
            </a:r>
            <a:r>
              <a:rPr lang="ko-KR" altLang="en-US" dirty="0">
                <a:latin typeface="+mn-ea"/>
              </a:rPr>
              <a:t>함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-&gt; DFX</a:t>
            </a:r>
            <a:r>
              <a:rPr lang="ko-KR" altLang="en-US" dirty="0">
                <a:latin typeface="+mn-ea"/>
              </a:rPr>
              <a:t>가 채택한 방식</a:t>
            </a:r>
            <a:endParaRPr lang="en-US" altLang="ko-KR" dirty="0">
              <a:latin typeface="+mn-ea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6502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FE05AEE-DBDB-CEEB-A7EC-18010618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Motivation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A08E7B-D3BC-48E4-CC9D-B18936A2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683563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3B9BA-3E85-F575-97EF-447613D0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Sequential Characteristic</a:t>
            </a:r>
            <a:endParaRPr lang="ko-KR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5BAD6A-E36A-D0B6-4ACB-A2CC2FBC9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331495"/>
            <a:ext cx="5072437" cy="4535905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+mn-ea"/>
              </a:rPr>
              <a:t>GPU</a:t>
            </a:r>
            <a:r>
              <a:rPr lang="ko-KR" altLang="en-US" sz="1800" dirty="0">
                <a:latin typeface="+mn-ea"/>
              </a:rPr>
              <a:t>는 대규모 병렬 연산 유닛과 높은 메모리 대역폭을 갖추고 있어 요약 단계에서 대규모 입력 토큰을 처리하는 데 이상적</a:t>
            </a:r>
            <a:endParaRPr lang="en-US" altLang="ko-KR" sz="1800" dirty="0">
              <a:latin typeface="+mn-ea"/>
            </a:endParaRPr>
          </a:p>
          <a:p>
            <a:r>
              <a:rPr lang="ko-KR" altLang="en-US" sz="1800" dirty="0">
                <a:latin typeface="+mn-ea"/>
              </a:rPr>
              <a:t>생성 단계의 순차적 프로세스는 병렬화가 불가능하며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연산 집약도가 낮아 </a:t>
            </a:r>
            <a:r>
              <a:rPr lang="en-US" altLang="ko-KR" sz="1800" dirty="0">
                <a:latin typeface="+mn-ea"/>
              </a:rPr>
              <a:t>GPU</a:t>
            </a:r>
            <a:r>
              <a:rPr lang="ko-KR" altLang="en-US" sz="1800" dirty="0">
                <a:latin typeface="+mn-ea"/>
              </a:rPr>
              <a:t>의 거대한 연산 유닛들을 효과적으로 활용하지 못함 </a:t>
            </a:r>
            <a:r>
              <a:rPr lang="en-US" altLang="ko-KR" sz="1800" dirty="0">
                <a:latin typeface="+mn-ea"/>
              </a:rPr>
              <a:t>-&gt; </a:t>
            </a:r>
            <a:r>
              <a:rPr lang="ko-KR" altLang="en-US" sz="1800" dirty="0">
                <a:latin typeface="+mn-ea"/>
              </a:rPr>
              <a:t>심각한 </a:t>
            </a:r>
            <a:r>
              <a:rPr lang="en-US" altLang="ko-KR" sz="1800" dirty="0">
                <a:latin typeface="+mn-ea"/>
              </a:rPr>
              <a:t>underutilization </a:t>
            </a:r>
            <a:r>
              <a:rPr lang="ko-KR" altLang="en-US" sz="1800" dirty="0">
                <a:latin typeface="+mn-ea"/>
              </a:rPr>
              <a:t>발생 </a:t>
            </a:r>
            <a:endParaRPr lang="en-US" altLang="ko-KR" sz="1800" dirty="0">
              <a:latin typeface="+mn-ea"/>
            </a:endParaRPr>
          </a:p>
          <a:p>
            <a:r>
              <a:rPr lang="ko-KR" altLang="en-US" sz="1800" dirty="0">
                <a:latin typeface="+mn-ea"/>
              </a:rPr>
              <a:t>지연 시간이 배치 크기에 따라 증가</a:t>
            </a:r>
            <a:endParaRPr lang="en-US" altLang="ko-KR" sz="1800" dirty="0">
              <a:latin typeface="+mn-ea"/>
            </a:endParaRPr>
          </a:p>
          <a:p>
            <a:endParaRPr lang="ko-KR" altLang="en-US" sz="1800" dirty="0"/>
          </a:p>
        </p:txBody>
      </p:sp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46A45F-CF4F-E115-D079-249C8D653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391" y="3429000"/>
            <a:ext cx="6734415" cy="281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23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C999E-3083-E799-22DF-C9777B2B8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End-to-End Acceleration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988D0-0888-3F26-32B8-337D8C58A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491916"/>
            <a:ext cx="5072437" cy="4375484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latin typeface="+mn-ea"/>
              </a:rPr>
              <a:t>이전 연구들은 트랜스포머의 </a:t>
            </a:r>
            <a:r>
              <a:rPr lang="en-US" altLang="ko-KR" sz="1800" dirty="0">
                <a:latin typeface="+mn-ea"/>
              </a:rPr>
              <a:t>attention</a:t>
            </a:r>
            <a:r>
              <a:rPr lang="ko-KR" altLang="en-US" sz="1800" dirty="0">
                <a:latin typeface="+mn-ea"/>
              </a:rPr>
              <a:t> 메커니즘만 가속하는 것을 목표</a:t>
            </a:r>
            <a:endParaRPr lang="en-US" altLang="ko-KR" sz="1800" dirty="0">
              <a:latin typeface="+mn-ea"/>
            </a:endParaRPr>
          </a:p>
          <a:p>
            <a:r>
              <a:rPr lang="ko-KR" altLang="en-US" sz="1800" dirty="0">
                <a:latin typeface="+mn-ea"/>
              </a:rPr>
              <a:t>이러한 아키텍처를 기존 애플리케이션이나 서비스에서 </a:t>
            </a:r>
            <a:r>
              <a:rPr lang="en-US" altLang="ko-KR" sz="1800" dirty="0">
                <a:latin typeface="+mn-ea"/>
              </a:rPr>
              <a:t>end-to-end</a:t>
            </a:r>
            <a:r>
              <a:rPr lang="ko-KR" altLang="en-US" sz="1800" dirty="0">
                <a:latin typeface="+mn-ea"/>
              </a:rPr>
              <a:t>로 실행하려면 나머지 프로세스는 </a:t>
            </a:r>
            <a:r>
              <a:rPr lang="en-US" altLang="ko-KR" sz="1800" dirty="0">
                <a:latin typeface="+mn-ea"/>
              </a:rPr>
              <a:t>CPU</a:t>
            </a:r>
            <a:r>
              <a:rPr lang="ko-KR" altLang="en-US" sz="1800" dirty="0">
                <a:latin typeface="+mn-ea"/>
              </a:rPr>
              <a:t>에서 완료되어야 함</a:t>
            </a:r>
            <a:endParaRPr lang="en-US" altLang="ko-KR" sz="1800" dirty="0">
              <a:latin typeface="+mn-ea"/>
            </a:endParaRPr>
          </a:p>
          <a:p>
            <a:r>
              <a:rPr lang="en-US" altLang="ko-KR" sz="1800" dirty="0">
                <a:latin typeface="+mn-ea"/>
              </a:rPr>
              <a:t>Domain-specific accelerators</a:t>
            </a:r>
            <a:r>
              <a:rPr lang="ko-KR" altLang="en-US" sz="1800" dirty="0">
                <a:latin typeface="+mn-ea"/>
              </a:rPr>
              <a:t>는 이러한 복잡한 계산에 특화된 하드웨어 설계가 가능</a:t>
            </a:r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8BCBA2-9ACB-798E-9C50-1106F855C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096" y="3679658"/>
            <a:ext cx="8202353" cy="299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14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7298A-9512-097E-7059-6F063576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3821"/>
          </a:xfrm>
        </p:spPr>
        <p:txBody>
          <a:bodyPr/>
          <a:lstStyle/>
          <a:p>
            <a:r>
              <a:rPr lang="en-US" altLang="ko-KR" dirty="0"/>
              <a:t>Parallel Computing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58B8C-3D56-9985-8B26-AB3FD9E46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9621"/>
            <a:ext cx="9601200" cy="4487779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GPT-2 </a:t>
            </a:r>
            <a:r>
              <a:rPr lang="ko-KR" altLang="en-US" dirty="0">
                <a:latin typeface="+mn-ea"/>
              </a:rPr>
              <a:t>모델의 차원이 커짐에 따라 단일 장치는 필요한 계산을 수행하기 위한 메모리 대역폭과 용량이 모두 부족하여 충분하지 않음 </a:t>
            </a:r>
            <a:r>
              <a:rPr lang="en-US" altLang="ko-KR" dirty="0">
                <a:latin typeface="+mn-ea"/>
              </a:rPr>
              <a:t>-&gt; </a:t>
            </a:r>
            <a:r>
              <a:rPr lang="ko-KR" altLang="en-US" dirty="0">
                <a:latin typeface="+mn-ea"/>
              </a:rPr>
              <a:t>여러 장치가 워크로드를 공유해야 함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추가적인 지연 시간을 최소화하면서 병렬 </a:t>
            </a:r>
            <a:r>
              <a:rPr lang="ko-KR" altLang="en-US" dirty="0" err="1">
                <a:latin typeface="+mn-ea"/>
              </a:rPr>
              <a:t>연산량을</a:t>
            </a:r>
            <a:r>
              <a:rPr lang="ko-KR" altLang="en-US" dirty="0">
                <a:latin typeface="+mn-ea"/>
              </a:rPr>
              <a:t> 최대화할 수 있도록 모델 병렬화와 효율적인 네트워크를 채택한 멀티 디바이스 시스템이 필요</a:t>
            </a:r>
          </a:p>
        </p:txBody>
      </p:sp>
    </p:spTree>
    <p:extLst>
      <p:ext uri="{BB962C8B-B14F-4D97-AF65-F5344CB8AC3E}">
        <p14:creationId xmlns:p14="http://schemas.microsoft.com/office/powerpoint/2010/main" val="2449630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D44ADD-FDEA-9DDB-274B-8ACFDD968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DFX Architecture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DBDBB2-8F74-11B8-469C-A764E9DA3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46421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내용 개체 틀 10" descr="도표, 스크린샷, 텍스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57307-8829-A0FA-A0A3-0B8ECB813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124" y="1961797"/>
            <a:ext cx="10551969" cy="330827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6B9B3567-98C2-DBEB-D2C2-0AABB478E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3821"/>
          </a:xfrm>
        </p:spPr>
        <p:txBody>
          <a:bodyPr/>
          <a:lstStyle/>
          <a:p>
            <a:r>
              <a:rPr lang="en-US" altLang="ko-KR" dirty="0"/>
              <a:t>Architecture Overview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215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8941E-14A0-BE24-F4D2-A6215CBD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3821"/>
          </a:xfrm>
        </p:spPr>
        <p:txBody>
          <a:bodyPr/>
          <a:lstStyle/>
          <a:p>
            <a:r>
              <a:rPr lang="en-US" altLang="ko-KR" dirty="0"/>
              <a:t>Architecture 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E9873-1C35-4813-6356-59401F08D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ko-KR" altLang="en-US" dirty="0"/>
              <a:t>듀얼 소켓 </a:t>
            </a:r>
            <a:r>
              <a:rPr lang="en-US" altLang="ko-KR" dirty="0"/>
              <a:t>CPU</a:t>
            </a:r>
            <a:r>
              <a:rPr lang="ko-KR" altLang="en-US" dirty="0"/>
              <a:t>와 다수의 </a:t>
            </a:r>
            <a:r>
              <a:rPr lang="en-US" altLang="ko-KR" dirty="0"/>
              <a:t>FPGA</a:t>
            </a:r>
            <a:r>
              <a:rPr lang="ko-KR" altLang="en-US" dirty="0"/>
              <a:t>로 구성됨</a:t>
            </a:r>
            <a:endParaRPr lang="en-US" altLang="ko-KR" dirty="0"/>
          </a:p>
          <a:p>
            <a:r>
              <a:rPr lang="ko-KR" altLang="en-US" dirty="0"/>
              <a:t>하나의 </a:t>
            </a:r>
            <a:r>
              <a:rPr lang="en-US" altLang="ko-KR" dirty="0"/>
              <a:t>CPU</a:t>
            </a:r>
            <a:r>
              <a:rPr lang="ko-KR" altLang="en-US" dirty="0"/>
              <a:t>와 동일한 </a:t>
            </a:r>
            <a:r>
              <a:rPr lang="en-US" altLang="ko-KR" dirty="0"/>
              <a:t>FPGA </a:t>
            </a:r>
            <a:r>
              <a:rPr lang="ko-KR" altLang="en-US" dirty="0"/>
              <a:t>클러스터가 하나의 시스템 형성</a:t>
            </a:r>
            <a:endParaRPr lang="en-US" altLang="ko-KR" dirty="0"/>
          </a:p>
          <a:p>
            <a:r>
              <a:rPr lang="en-US" altLang="ko-KR" dirty="0"/>
              <a:t>FPGA</a:t>
            </a:r>
            <a:r>
              <a:rPr lang="ko-KR" altLang="en-US" dirty="0"/>
              <a:t>는 </a:t>
            </a:r>
            <a:r>
              <a:rPr lang="en-US" altLang="ko-KR" dirty="0"/>
              <a:t>16GB/s </a:t>
            </a:r>
            <a:r>
              <a:rPr lang="ko-KR" altLang="en-US" dirty="0"/>
              <a:t>속도로 데이터를 전송하는 </a:t>
            </a:r>
            <a:r>
              <a:rPr lang="en-US" altLang="ko-KR" dirty="0"/>
              <a:t>PCIe Gen 3 </a:t>
            </a:r>
            <a:r>
              <a:rPr lang="ko-KR" altLang="en-US" dirty="0"/>
              <a:t>서브시스템을 통해 호스트 </a:t>
            </a:r>
            <a:r>
              <a:rPr lang="en-US" altLang="ko-KR" dirty="0"/>
              <a:t>CPU</a:t>
            </a:r>
            <a:r>
              <a:rPr lang="ko-KR" altLang="en-US" dirty="0"/>
              <a:t>와 연결</a:t>
            </a:r>
            <a:endParaRPr lang="en-US" altLang="ko-KR" dirty="0"/>
          </a:p>
          <a:p>
            <a:r>
              <a:rPr lang="ko-KR" altLang="en-US" dirty="0"/>
              <a:t>각 </a:t>
            </a:r>
            <a:r>
              <a:rPr lang="en-US" altLang="ko-KR" dirty="0"/>
              <a:t>FPGA</a:t>
            </a:r>
            <a:r>
              <a:rPr lang="ko-KR" altLang="en-US" dirty="0"/>
              <a:t>는 두 개의 </a:t>
            </a:r>
            <a:r>
              <a:rPr lang="en-US" altLang="ko-KR" dirty="0"/>
              <a:t>QSFP </a:t>
            </a:r>
            <a:r>
              <a:rPr lang="ko-KR" altLang="en-US" dirty="0"/>
              <a:t>포트로 제한되어 있음</a:t>
            </a:r>
          </a:p>
        </p:txBody>
      </p:sp>
      <p:pic>
        <p:nvPicPr>
          <p:cNvPr id="4" name="내용 개체 틀 10" descr="도표, 스크린샷, 텍스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82B823-E85D-50FD-C4AB-AA94711FC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49730"/>
            <a:ext cx="10551969" cy="330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23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33E-4487-66FC-C844-19FA752B6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Homogeneous Multi-FPGA Cluster</a:t>
            </a:r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B8BBE0-8F64-A32C-5A13-0E03321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507958"/>
            <a:ext cx="5072437" cy="4359442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동기화 오버헤드를 최소화</a:t>
            </a:r>
            <a:r>
              <a:rPr lang="en-US" altLang="ko-KR" sz="1800" dirty="0"/>
              <a:t>, </a:t>
            </a:r>
            <a:r>
              <a:rPr lang="ko-KR" altLang="en-US" sz="1800" dirty="0"/>
              <a:t>작업자 수에 비례하여 행렬 연산의 지연 시간 줄이기 위해 </a:t>
            </a:r>
            <a:r>
              <a:rPr lang="en-US" altLang="ko-KR" sz="1800" dirty="0"/>
              <a:t>intra-layer parallelism </a:t>
            </a:r>
            <a:r>
              <a:rPr lang="ko-KR" altLang="en-US" sz="1800" dirty="0"/>
              <a:t>방식 채택</a:t>
            </a:r>
            <a:endParaRPr lang="en-US" altLang="ko-KR" sz="1800" dirty="0"/>
          </a:p>
          <a:p>
            <a:r>
              <a:rPr lang="ko-KR" altLang="en-US" sz="1800" dirty="0"/>
              <a:t>데이터 동기화</a:t>
            </a:r>
            <a:br>
              <a:rPr lang="en-US" altLang="ko-KR" sz="1800" dirty="0"/>
            </a:br>
            <a:r>
              <a:rPr lang="ko-KR" altLang="en-US" sz="1800" dirty="0"/>
              <a:t>각 </a:t>
            </a:r>
            <a:r>
              <a:rPr lang="en-US" altLang="ko-KR" sz="1800" dirty="0"/>
              <a:t>FPGA</a:t>
            </a:r>
            <a:r>
              <a:rPr lang="ko-KR" altLang="en-US" sz="1800" dirty="0"/>
              <a:t>가 자기 조각을 옆으로 밀어주고</a:t>
            </a:r>
            <a:r>
              <a:rPr lang="en-US" altLang="ko-KR" sz="1800" dirty="0"/>
              <a:t>, </a:t>
            </a:r>
            <a:r>
              <a:rPr lang="ko-KR" altLang="en-US" sz="1800" dirty="0"/>
              <a:t>받은 조각을 다시 전달하는 과정을 반복 </a:t>
            </a:r>
            <a:r>
              <a:rPr lang="en-US" altLang="ko-KR" sz="1800" dirty="0"/>
              <a:t>-&gt; </a:t>
            </a:r>
            <a:r>
              <a:rPr lang="ko-KR" altLang="en-US" sz="1800" dirty="0"/>
              <a:t>전체 벡터 똑같아지게 만듦 </a:t>
            </a:r>
            <a:r>
              <a:rPr lang="en-US" altLang="ko-KR" sz="1800" dirty="0"/>
              <a:t>-&gt; 4</a:t>
            </a:r>
            <a:r>
              <a:rPr lang="ko-KR" altLang="en-US" sz="1800" dirty="0"/>
              <a:t>번의 동기화 수행</a:t>
            </a:r>
          </a:p>
          <a:p>
            <a:endParaRPr lang="ko-KR" altLang="en-US" sz="1800" dirty="0"/>
          </a:p>
        </p:txBody>
      </p:sp>
      <p:pic>
        <p:nvPicPr>
          <p:cNvPr id="4" name="그림 3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FCE5CC-60EC-F61E-6CE6-D57D00BFE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411" y="3624523"/>
            <a:ext cx="7169675" cy="306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58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912FB-4956-C6C0-8C94-834EE09D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3821"/>
          </a:xfrm>
        </p:spPr>
        <p:txBody>
          <a:bodyPr/>
          <a:lstStyle/>
          <a:p>
            <a:r>
              <a:rPr lang="en-US" altLang="ko-KR" dirty="0"/>
              <a:t>Memory Mapping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AA9A77-9F23-1C5B-A298-1A9F84C0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9621"/>
            <a:ext cx="9601200" cy="4487779"/>
          </a:xfrm>
        </p:spPr>
        <p:txBody>
          <a:bodyPr/>
          <a:lstStyle/>
          <a:p>
            <a:r>
              <a:rPr lang="en-US" altLang="ko-KR" dirty="0"/>
              <a:t>FPGA</a:t>
            </a:r>
            <a:r>
              <a:rPr lang="ko-KR" altLang="en-US" dirty="0"/>
              <a:t>는 각각 이론적 최대 대역폭이 </a:t>
            </a:r>
            <a:r>
              <a:rPr lang="en-US" altLang="ko-KR" dirty="0"/>
              <a:t>460GB/s</a:t>
            </a:r>
            <a:r>
              <a:rPr lang="ko-KR" altLang="en-US" dirty="0"/>
              <a:t>인 </a:t>
            </a:r>
            <a:r>
              <a:rPr lang="en-US" altLang="ko-KR" dirty="0"/>
              <a:t>8GB HBM</a:t>
            </a:r>
            <a:r>
              <a:rPr lang="ko-KR" altLang="en-US" dirty="0"/>
              <a:t>과 </a:t>
            </a:r>
            <a:r>
              <a:rPr lang="en-US" altLang="ko-KR" dirty="0"/>
              <a:t>38GB/s</a:t>
            </a:r>
            <a:r>
              <a:rPr lang="ko-KR" altLang="en-US" dirty="0"/>
              <a:t>인 </a:t>
            </a:r>
            <a:r>
              <a:rPr lang="en-US" altLang="ko-KR" dirty="0"/>
              <a:t>32GB DDR</a:t>
            </a:r>
            <a:r>
              <a:rPr lang="ko-KR" altLang="en-US" dirty="0"/>
              <a:t>을 활용</a:t>
            </a:r>
            <a:endParaRPr lang="en-US" altLang="ko-KR" dirty="0"/>
          </a:p>
          <a:p>
            <a:r>
              <a:rPr lang="ko-KR" altLang="en-US" dirty="0"/>
              <a:t>가중치 행렬은 </a:t>
            </a:r>
            <a:r>
              <a:rPr lang="en-US" altLang="ko-KR" dirty="0"/>
              <a:t>HBM, </a:t>
            </a:r>
            <a:r>
              <a:rPr lang="ko-KR" altLang="en-US" dirty="0"/>
              <a:t>입력</a:t>
            </a:r>
            <a:r>
              <a:rPr lang="en-US" altLang="ko-KR" dirty="0"/>
              <a:t>/</a:t>
            </a:r>
            <a:r>
              <a:rPr lang="ko-KR" altLang="en-US" dirty="0"/>
              <a:t>출력 토큰</a:t>
            </a:r>
            <a:r>
              <a:rPr lang="en-US" altLang="ko-KR" dirty="0"/>
              <a:t>, </a:t>
            </a:r>
            <a:r>
              <a:rPr lang="ko-KR" altLang="en-US" dirty="0"/>
              <a:t>바이어스</a:t>
            </a:r>
            <a:r>
              <a:rPr lang="en-US" altLang="ko-KR" dirty="0"/>
              <a:t>(bias) </a:t>
            </a:r>
            <a:r>
              <a:rPr lang="ko-KR" altLang="en-US" dirty="0"/>
              <a:t>벡터 및 기타 모델 파라미터는 </a:t>
            </a:r>
            <a:r>
              <a:rPr lang="en-US" altLang="ko-KR" dirty="0"/>
              <a:t>DDR</a:t>
            </a:r>
            <a:r>
              <a:rPr lang="ko-KR" altLang="en-US" dirty="0"/>
              <a:t>에 저장</a:t>
            </a:r>
            <a:endParaRPr lang="en-US" altLang="ko-KR" dirty="0"/>
          </a:p>
          <a:p>
            <a:r>
              <a:rPr lang="ko-KR" altLang="en-US" dirty="0"/>
              <a:t>표준 반정밀도 부동 소수점</a:t>
            </a:r>
            <a:r>
              <a:rPr lang="en-US" altLang="ko-KR" dirty="0"/>
              <a:t>(FP16) </a:t>
            </a:r>
            <a:r>
              <a:rPr lang="ko-KR" altLang="en-US" dirty="0"/>
              <a:t>모델 파라미터를 사용</a:t>
            </a:r>
          </a:p>
        </p:txBody>
      </p:sp>
    </p:spTree>
    <p:extLst>
      <p:ext uri="{BB962C8B-B14F-4D97-AF65-F5344CB8AC3E}">
        <p14:creationId xmlns:p14="http://schemas.microsoft.com/office/powerpoint/2010/main" val="1873351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062E4-EC7F-0F3E-93EE-9CB357EF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617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Instruction Set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F6414-E489-58A9-8E4B-2BB16628A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/>
              <a:t>DFX</a:t>
            </a:r>
            <a:r>
              <a:rPr lang="ko-KR" altLang="en-US" dirty="0"/>
              <a:t> </a:t>
            </a:r>
            <a:r>
              <a:rPr lang="en-US" altLang="ko-KR" dirty="0"/>
              <a:t>ISA</a:t>
            </a:r>
            <a:r>
              <a:rPr lang="ko-KR" altLang="en-US" dirty="0"/>
              <a:t>는 </a:t>
            </a:r>
            <a:r>
              <a:rPr lang="en-US" altLang="ko-KR" dirty="0"/>
              <a:t>3</a:t>
            </a:r>
            <a:r>
              <a:rPr lang="ko-KR" altLang="en-US" dirty="0"/>
              <a:t>가지 유형이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1. Compute 2. DMA 3. Router</a:t>
            </a:r>
          </a:p>
          <a:p>
            <a:r>
              <a:rPr lang="en-US" altLang="ko-KR" dirty="0"/>
              <a:t>Compute </a:t>
            </a:r>
            <a:r>
              <a:rPr lang="ko-KR" altLang="en-US" dirty="0"/>
              <a:t>명령어</a:t>
            </a:r>
            <a:r>
              <a:rPr lang="en-US" altLang="ko-KR" dirty="0"/>
              <a:t>: </a:t>
            </a:r>
            <a:r>
              <a:rPr lang="ko-KR" altLang="en-US" dirty="0"/>
              <a:t>주요 처리 유닛을 구동하기 위한 것</a:t>
            </a:r>
            <a:br>
              <a:rPr lang="en-US" altLang="ko-KR" dirty="0"/>
            </a:br>
            <a:r>
              <a:rPr lang="en-US" altLang="ko-KR" dirty="0"/>
              <a:t>(type, src1, src2, </a:t>
            </a:r>
            <a:r>
              <a:rPr lang="en-US" altLang="ko-KR" dirty="0" err="1"/>
              <a:t>dst</a:t>
            </a:r>
            <a:r>
              <a:rPr lang="en-US" altLang="ko-KR" dirty="0"/>
              <a:t>) </a:t>
            </a:r>
            <a:r>
              <a:rPr lang="ko-KR" altLang="en-US" dirty="0"/>
              <a:t>형식을 가짐</a:t>
            </a:r>
            <a:endParaRPr lang="en-US" altLang="ko-KR" dirty="0"/>
          </a:p>
          <a:p>
            <a:r>
              <a:rPr lang="en-US" altLang="ko-KR" dirty="0"/>
              <a:t>DMA, Router </a:t>
            </a:r>
            <a:r>
              <a:rPr lang="ko-KR" altLang="en-US" dirty="0"/>
              <a:t>명령어</a:t>
            </a:r>
            <a:r>
              <a:rPr lang="en-US" altLang="ko-KR" dirty="0"/>
              <a:t>: DMA, </a:t>
            </a:r>
            <a:r>
              <a:rPr lang="ko-KR" altLang="en-US" dirty="0"/>
              <a:t>네트워크 라우터를 제어하여 코어와 데이터 주고 받음</a:t>
            </a:r>
            <a:br>
              <a:rPr lang="en-US" altLang="ko-KR" dirty="0"/>
            </a:br>
            <a:r>
              <a:rPr lang="en-US" altLang="ko-KR" dirty="0"/>
              <a:t>(type, </a:t>
            </a:r>
            <a:r>
              <a:rPr lang="en-US" altLang="ko-KR" dirty="0" err="1"/>
              <a:t>src</a:t>
            </a:r>
            <a:r>
              <a:rPr lang="en-US" altLang="ko-KR" dirty="0"/>
              <a:t>, </a:t>
            </a:r>
            <a:r>
              <a:rPr lang="en-US" altLang="ko-KR" dirty="0" err="1"/>
              <a:t>dst</a:t>
            </a:r>
            <a:r>
              <a:rPr lang="en-US" altLang="ko-KR" dirty="0"/>
              <a:t>, </a:t>
            </a:r>
            <a:r>
              <a:rPr lang="en-US" altLang="ko-KR" dirty="0" err="1"/>
              <a:t>xfer_size</a:t>
            </a:r>
            <a:r>
              <a:rPr lang="en-US" altLang="ko-KR" dirty="0"/>
              <a:t>) </a:t>
            </a:r>
            <a:r>
              <a:rPr lang="ko-KR" altLang="en-US" dirty="0"/>
              <a:t>형식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4766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14D43-D467-DB22-BF77-E7BE4E94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5905"/>
          </a:xfrm>
        </p:spPr>
        <p:txBody>
          <a:bodyPr/>
          <a:lstStyle/>
          <a:p>
            <a:r>
              <a:rPr lang="en-US" altLang="ko-KR" dirty="0"/>
              <a:t>Compute </a:t>
            </a:r>
            <a:r>
              <a:rPr lang="ko-KR" altLang="en-US" dirty="0"/>
              <a:t>명령어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E61D33-8F7F-43EB-2062-B2E528FE2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11705"/>
            <a:ext cx="9601200" cy="4455695"/>
          </a:xfrm>
        </p:spPr>
        <p:txBody>
          <a:bodyPr/>
          <a:lstStyle/>
          <a:p>
            <a:r>
              <a:rPr lang="en-US" altLang="ko-KR" dirty="0"/>
              <a:t>1. Matrix instructions</a:t>
            </a:r>
          </a:p>
          <a:p>
            <a:pPr marL="457200" indent="-457200">
              <a:buAutoNum type="arabicParenR"/>
            </a:pPr>
            <a:r>
              <a:rPr lang="en-US" altLang="ko-KR" dirty="0"/>
              <a:t>Conv1D: Query, Key, Value </a:t>
            </a:r>
            <a:r>
              <a:rPr lang="ko-KR" altLang="en-US" dirty="0"/>
              <a:t>행렬 생성과 </a:t>
            </a:r>
            <a:r>
              <a:rPr lang="ko-KR" altLang="en-US" dirty="0" err="1"/>
              <a:t>피드</a:t>
            </a:r>
            <a:r>
              <a:rPr lang="ko-KR" altLang="en-US" dirty="0"/>
              <a:t> 포워드 네트워크에서 사용 </a:t>
            </a:r>
            <a:endParaRPr lang="en-US" altLang="ko-KR" dirty="0"/>
          </a:p>
          <a:p>
            <a:pPr marL="457200" indent="-457200">
              <a:buAutoNum type="arabicParenR"/>
            </a:pPr>
            <a:r>
              <a:rPr lang="en-US" altLang="ko-KR" dirty="0"/>
              <a:t> </a:t>
            </a:r>
            <a:r>
              <a:rPr lang="en-US" altLang="ko-KR" dirty="0" err="1"/>
              <a:t>MaskedMM</a:t>
            </a:r>
            <a:r>
              <a:rPr lang="en-US" altLang="ko-KR" dirty="0"/>
              <a:t>: </a:t>
            </a:r>
            <a:r>
              <a:rPr lang="ko-KR" altLang="en-US" dirty="0" err="1"/>
              <a:t>어텐션의</a:t>
            </a:r>
            <a:r>
              <a:rPr lang="ko-KR" altLang="en-US" dirty="0"/>
              <a:t> 스코어 계산</a:t>
            </a:r>
            <a:endParaRPr lang="en-US" altLang="ko-KR" dirty="0"/>
          </a:p>
          <a:p>
            <a:pPr marL="457200" indent="-457200">
              <a:buAutoNum type="arabicParenR"/>
            </a:pPr>
            <a:r>
              <a:rPr lang="en-US" altLang="ko-KR" dirty="0"/>
              <a:t>MM: </a:t>
            </a:r>
            <a:r>
              <a:rPr lang="ko-KR" altLang="en-US" dirty="0" err="1"/>
              <a:t>마스킹이</a:t>
            </a:r>
            <a:r>
              <a:rPr lang="ko-KR" altLang="en-US" dirty="0"/>
              <a:t> 없는 </a:t>
            </a:r>
            <a:r>
              <a:rPr lang="en-US" altLang="ko-KR" dirty="0" err="1"/>
              <a:t>MaskedMM</a:t>
            </a:r>
            <a:r>
              <a:rPr lang="ko-KR" altLang="en-US" dirty="0"/>
              <a:t>과 동일</a:t>
            </a:r>
            <a:endParaRPr lang="en-US" altLang="ko-KR" dirty="0"/>
          </a:p>
          <a:p>
            <a:r>
              <a:rPr lang="en-US" altLang="ko-KR" dirty="0"/>
              <a:t>2. Vector instructions</a:t>
            </a:r>
          </a:p>
          <a:p>
            <a:pPr marL="457200" indent="-457200">
              <a:buAutoNum type="arabicParenR"/>
            </a:pPr>
            <a:r>
              <a:rPr lang="en-US" altLang="ko-KR" dirty="0" err="1"/>
              <a:t>LayerNorm</a:t>
            </a:r>
            <a:endParaRPr lang="en-US" altLang="ko-KR" dirty="0"/>
          </a:p>
          <a:p>
            <a:pPr marL="457200" indent="-457200">
              <a:buAutoNum type="arabicParenR"/>
            </a:pPr>
            <a:r>
              <a:rPr lang="en-US" altLang="ko-KR" dirty="0" err="1"/>
              <a:t>Softmax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1389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EA431-72E3-FB97-375A-DBE1B5A6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3E59D-B15A-2440-2D4C-A3D6675C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13611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Instruction Set Architecture</a:t>
            </a:r>
            <a:endParaRPr lang="ko-KR" altLang="en-US" dirty="0"/>
          </a:p>
        </p:txBody>
      </p:sp>
      <p:pic>
        <p:nvPicPr>
          <p:cNvPr id="5" name="내용 개체 틀 4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BB533F-E4CA-142E-FB44-2DF21DF93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8442" y="1300163"/>
            <a:ext cx="3734381" cy="553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39501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635</TotalTime>
  <Words>876</Words>
  <Application>Microsoft Office PowerPoint</Application>
  <PresentationFormat>와이드스크린</PresentationFormat>
  <Paragraphs>80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7" baseType="lpstr">
      <vt:lpstr>Franklin Gothic Book</vt:lpstr>
      <vt:lpstr>자르기</vt:lpstr>
      <vt:lpstr>DFX 논문 리뷰(1)</vt:lpstr>
      <vt:lpstr>목차</vt:lpstr>
      <vt:lpstr>Abstract</vt:lpstr>
      <vt:lpstr>Transfomer?</vt:lpstr>
      <vt:lpstr>GPU의 쓰임 문제와 해결방안</vt:lpstr>
      <vt:lpstr>Introduction</vt:lpstr>
      <vt:lpstr>Transfomer/GPT</vt:lpstr>
      <vt:lpstr>멀티 FPGA 가속 appliance DFX</vt:lpstr>
      <vt:lpstr>Background</vt:lpstr>
      <vt:lpstr>GPT 구조</vt:lpstr>
      <vt:lpstr>디코더 레이어 연산</vt:lpstr>
      <vt:lpstr>토큰 생성 단계</vt:lpstr>
      <vt:lpstr>Parallelism in Deep Learning</vt:lpstr>
      <vt:lpstr>Motivation</vt:lpstr>
      <vt:lpstr>Sequential Characteristic</vt:lpstr>
      <vt:lpstr>End-to-End Acceleration</vt:lpstr>
      <vt:lpstr>Parallel Computing</vt:lpstr>
      <vt:lpstr>DFX Architecture</vt:lpstr>
      <vt:lpstr>Architecture Overview</vt:lpstr>
      <vt:lpstr>Architecture Overview</vt:lpstr>
      <vt:lpstr>Homogeneous Multi-FPGA Cluster</vt:lpstr>
      <vt:lpstr>Memory Mapping</vt:lpstr>
      <vt:lpstr>Instruction Set Architecture</vt:lpstr>
      <vt:lpstr>Compute 명령어</vt:lpstr>
      <vt:lpstr>Instruction Set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35</cp:revision>
  <dcterms:created xsi:type="dcterms:W3CDTF">2025-12-22T17:16:22Z</dcterms:created>
  <dcterms:modified xsi:type="dcterms:W3CDTF">2025-12-24T02:49:10Z</dcterms:modified>
</cp:coreProperties>
</file>
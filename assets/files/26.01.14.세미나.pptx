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72" r:id="rId16"/>
    <p:sldId id="273" r:id="rId17"/>
    <p:sldId id="269" r:id="rId18"/>
    <p:sldId id="274" r:id="rId19"/>
    <p:sldId id="277" r:id="rId20"/>
    <p:sldId id="278" r:id="rId21"/>
    <p:sldId id="279" r:id="rId22"/>
    <p:sldId id="270" r:id="rId23"/>
    <p:sldId id="27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75834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688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076511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293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851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41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89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1359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72812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97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11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98CA6F5-7B50-4EDE-9345-C587C2C22E4A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F5D399DD-A38F-4D84-9E52-4BA25C30BF9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54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29C8A1-4949-1E89-7FAF-C9E1F4D4D6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000" dirty="0"/>
              <a:t>System Virtualization for Neural Processing Units </a:t>
            </a:r>
            <a:br>
              <a:rPr lang="en-US" altLang="ko-KR" sz="4000" dirty="0"/>
            </a:br>
            <a:r>
              <a:rPr lang="ko-KR" altLang="en-US" sz="4000" dirty="0"/>
              <a:t>논문 리뷰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81D488-DF0A-37ED-A534-550B760BE1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26/01/14 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2056184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CD1E8C-660E-2E01-20E6-8999F03C5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07D761-B9AA-B2AF-E355-4B8384081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1. Abstract</a:t>
            </a:r>
          </a:p>
          <a:p>
            <a:r>
              <a:rPr lang="en-US" altLang="ko-KR" sz="1800" dirty="0"/>
              <a:t>2. Introduction</a:t>
            </a:r>
          </a:p>
          <a:p>
            <a:r>
              <a:rPr lang="en-US" altLang="ko-KR" sz="1800" dirty="0"/>
              <a:t>3. Background and Motivation</a:t>
            </a:r>
          </a:p>
          <a:p>
            <a:r>
              <a:rPr lang="en-US" altLang="ko-KR" sz="1800" dirty="0"/>
              <a:t>4. Towards NPU Virtualization</a:t>
            </a:r>
          </a:p>
          <a:p>
            <a:r>
              <a:rPr lang="en-US" altLang="ko-KR" sz="1800" dirty="0"/>
              <a:t>5. Conclusion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14125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F6CB11E-8DFA-FAB7-2353-FF5FC4513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Abstract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B04C09-3456-7892-CD3A-F01A701AF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84046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78D550-8C40-E0EA-494C-8DE9945C6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11404"/>
          </a:xfrm>
        </p:spPr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BC42B2-1677-7832-FE7F-D34DEE917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48413"/>
            <a:ext cx="9601200" cy="4118987"/>
          </a:xfrm>
        </p:spPr>
        <p:txBody>
          <a:bodyPr/>
          <a:lstStyle/>
          <a:p>
            <a:r>
              <a:rPr lang="ko-KR" altLang="en-US" dirty="0"/>
              <a:t>현대 클라우드 플랫폼은 </a:t>
            </a:r>
            <a:r>
              <a:rPr lang="en-US" altLang="ko-KR" dirty="0"/>
              <a:t>NPU(</a:t>
            </a:r>
            <a:r>
              <a:rPr lang="ko-KR" altLang="en-US" dirty="0"/>
              <a:t>신경망 처리 장치</a:t>
            </a:r>
            <a:r>
              <a:rPr lang="en-US" altLang="ko-KR" dirty="0"/>
              <a:t>)</a:t>
            </a:r>
            <a:r>
              <a:rPr lang="ko-KR" altLang="en-US" dirty="0"/>
              <a:t>와 같은 하드웨어 가속기를 채택해 왔다</a:t>
            </a:r>
            <a:endParaRPr lang="en-US" altLang="ko-KR" dirty="0"/>
          </a:p>
          <a:p>
            <a:r>
              <a:rPr lang="ko-KR" altLang="en-US" dirty="0"/>
              <a:t>시스템 가상화 지원의 부족으로 인해</a:t>
            </a:r>
            <a:r>
              <a:rPr lang="en-US" altLang="ko-KR" dirty="0"/>
              <a:t>, </a:t>
            </a:r>
            <a:r>
              <a:rPr lang="ko-KR" altLang="en-US" dirty="0"/>
              <a:t>현재 클라우드 플랫폼에서 </a:t>
            </a:r>
            <a:r>
              <a:rPr lang="en-US" altLang="ko-KR" dirty="0"/>
              <a:t>NPU</a:t>
            </a:r>
            <a:r>
              <a:rPr lang="ko-KR" altLang="en-US" dirty="0"/>
              <a:t>를 사용하는 방식은 리소스 활용도가 낮거나 다중 사용자</a:t>
            </a:r>
            <a:r>
              <a:rPr lang="en-US" altLang="ko-KR" dirty="0"/>
              <a:t>(multi-tenant) </a:t>
            </a:r>
            <a:r>
              <a:rPr lang="ko-KR" altLang="en-US" dirty="0"/>
              <a:t>애플리케이션 서비스 간의 격리가 제대로 이루어지지 않는 문제점을 안고 있다</a:t>
            </a:r>
            <a:endParaRPr lang="en-US" altLang="ko-KR" dirty="0"/>
          </a:p>
          <a:p>
            <a:r>
              <a:rPr lang="ko-KR" altLang="en-US" dirty="0"/>
              <a:t>이에 전체 소프트웨어 및 하드웨어 스택에 걸친 </a:t>
            </a:r>
            <a:r>
              <a:rPr lang="en-US" altLang="ko-KR" dirty="0"/>
              <a:t>NPU </a:t>
            </a:r>
            <a:r>
              <a:rPr lang="ko-KR" altLang="en-US" dirty="0"/>
              <a:t>시스템 가상화 기술을 조사하고</a:t>
            </a:r>
            <a:r>
              <a:rPr lang="en-US" altLang="ko-KR" dirty="0"/>
              <a:t>, </a:t>
            </a:r>
            <a:r>
              <a:rPr lang="en-US" altLang="ko-KR" dirty="0" err="1"/>
              <a:t>NeuCloud</a:t>
            </a:r>
            <a:r>
              <a:rPr lang="ko-KR" altLang="en-US" dirty="0"/>
              <a:t>라는 이름의 </a:t>
            </a:r>
            <a:r>
              <a:rPr lang="en-US" altLang="ko-KR" dirty="0"/>
              <a:t>NPU </a:t>
            </a:r>
            <a:r>
              <a:rPr lang="ko-KR" altLang="en-US" dirty="0"/>
              <a:t>가상화 솔루션을 제시</a:t>
            </a:r>
            <a:r>
              <a:rPr lang="en-US" altLang="ko-KR" dirty="0"/>
              <a:t>(</a:t>
            </a:r>
            <a:r>
              <a:rPr lang="ko-KR" altLang="en-US" dirty="0"/>
              <a:t>미세 조정된</a:t>
            </a:r>
            <a:r>
              <a:rPr lang="en-US" altLang="ko-KR" dirty="0"/>
              <a:t> NPU </a:t>
            </a:r>
            <a:r>
              <a:rPr lang="ko-KR" altLang="en-US" dirty="0"/>
              <a:t>가상화 및 리소스 관리를 가능하게 하는 </a:t>
            </a:r>
            <a:r>
              <a:rPr lang="en-US" altLang="ko-KR" dirty="0" err="1"/>
              <a:t>vNPU</a:t>
            </a:r>
            <a:r>
              <a:rPr lang="ko-KR" altLang="en-US" dirty="0"/>
              <a:t>라는 유연한 </a:t>
            </a:r>
            <a:r>
              <a:rPr lang="en-US" altLang="ko-KR" dirty="0"/>
              <a:t>NPU </a:t>
            </a:r>
            <a:r>
              <a:rPr lang="ko-KR" altLang="en-US" dirty="0"/>
              <a:t>추상화 모델을 제안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3252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340B7D8-525C-1D02-F5F8-48679CF1F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Introduction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232EB3-4044-5FB1-7493-A116A7C1B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4254103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A3426-7631-560A-D792-2CBEEFB2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09863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E9D910-2435-DB1A-67D4-A98853D7D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95663"/>
            <a:ext cx="9601200" cy="4471737"/>
          </a:xfrm>
        </p:spPr>
        <p:txBody>
          <a:bodyPr/>
          <a:lstStyle/>
          <a:p>
            <a:r>
              <a:rPr lang="ko-KR" altLang="en-US" dirty="0"/>
              <a:t>현대 클라우드 플랫폼은 </a:t>
            </a:r>
            <a:r>
              <a:rPr lang="en-US" altLang="ko-KR" dirty="0"/>
              <a:t>NPU(</a:t>
            </a:r>
            <a:r>
              <a:rPr lang="ko-KR" altLang="en-US" dirty="0"/>
              <a:t>신경망 처리 장치</a:t>
            </a:r>
            <a:r>
              <a:rPr lang="en-US" altLang="ko-KR" dirty="0"/>
              <a:t>)</a:t>
            </a:r>
            <a:r>
              <a:rPr lang="ko-KR" altLang="en-US" dirty="0"/>
              <a:t>와 같은 하드웨어 가속기를 채택해 왔다</a:t>
            </a:r>
            <a:endParaRPr lang="en-US" altLang="ko-KR" dirty="0"/>
          </a:p>
          <a:p>
            <a:r>
              <a:rPr lang="en-US" altLang="ko-KR" dirty="0"/>
              <a:t>NPU(</a:t>
            </a:r>
            <a:r>
              <a:rPr lang="ko-KR" altLang="en-US" dirty="0"/>
              <a:t>신경망 처리 장치</a:t>
            </a:r>
            <a:r>
              <a:rPr lang="en-US" altLang="ko-KR" dirty="0"/>
              <a:t>): </a:t>
            </a:r>
            <a:r>
              <a:rPr lang="ko-KR" altLang="en-US" dirty="0" err="1"/>
              <a:t>딥러닝과</a:t>
            </a:r>
            <a:r>
              <a:rPr lang="ko-KR" altLang="en-US" dirty="0"/>
              <a:t> 같은</a:t>
            </a:r>
            <a:r>
              <a:rPr lang="en-US" altLang="ko-KR" dirty="0"/>
              <a:t> AI </a:t>
            </a:r>
            <a:r>
              <a:rPr lang="ko-KR" altLang="en-US" dirty="0"/>
              <a:t>작업을 효율적으로 수행하기 위해 설계된 전용 하드웨어 가속기</a:t>
            </a:r>
            <a:endParaRPr lang="en-US" altLang="ko-KR" dirty="0"/>
          </a:p>
          <a:p>
            <a:r>
              <a:rPr lang="ko-KR" altLang="en-US" dirty="0"/>
              <a:t>주요 역할</a:t>
            </a:r>
            <a:br>
              <a:rPr lang="en-US" altLang="ko-KR" dirty="0"/>
            </a:br>
            <a:r>
              <a:rPr lang="en-US" altLang="ko-KR" dirty="0"/>
              <a:t>1. AI </a:t>
            </a:r>
            <a:r>
              <a:rPr lang="ko-KR" altLang="en-US" dirty="0"/>
              <a:t>연산 가속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효율성</a:t>
            </a:r>
            <a:endParaRPr lang="en-US" altLang="ko-KR" dirty="0"/>
          </a:p>
          <a:p>
            <a:r>
              <a:rPr lang="ko-KR" altLang="en-US" dirty="0"/>
              <a:t>각 </a:t>
            </a:r>
            <a:r>
              <a:rPr lang="en-US" altLang="ko-KR" dirty="0"/>
              <a:t>NPU </a:t>
            </a:r>
            <a:r>
              <a:rPr lang="ko-KR" altLang="en-US" dirty="0"/>
              <a:t>코어에는 </a:t>
            </a:r>
            <a:r>
              <a:rPr lang="en-US" altLang="ko-KR" dirty="0"/>
              <a:t>Sas/Vus </a:t>
            </a:r>
            <a:r>
              <a:rPr lang="ko-KR" altLang="en-US" dirty="0"/>
              <a:t>포함됨</a:t>
            </a:r>
          </a:p>
        </p:txBody>
      </p:sp>
    </p:spTree>
    <p:extLst>
      <p:ext uri="{BB962C8B-B14F-4D97-AF65-F5344CB8AC3E}">
        <p14:creationId xmlns:p14="http://schemas.microsoft.com/office/powerpoint/2010/main" val="3331577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6C53-12DA-D21B-7CF4-A804CC53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AA85E-248C-4660-5DA9-E97B5519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09863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614FE8-D049-D05A-92ED-8AD9E6FE6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95663"/>
            <a:ext cx="9601200" cy="4471737"/>
          </a:xfrm>
        </p:spPr>
        <p:txBody>
          <a:bodyPr/>
          <a:lstStyle/>
          <a:p>
            <a:r>
              <a:rPr lang="en-US" altLang="ko-KR" dirty="0"/>
              <a:t>NPU</a:t>
            </a:r>
            <a:r>
              <a:rPr lang="ko-KR" altLang="en-US" dirty="0"/>
              <a:t>를 사용하는 가장 일반적인 방법은 </a:t>
            </a:r>
            <a:r>
              <a:rPr lang="en-US" altLang="ko-KR" dirty="0"/>
              <a:t>PCIe </a:t>
            </a:r>
            <a:r>
              <a:rPr lang="ko-KR" altLang="en-US" dirty="0" err="1"/>
              <a:t>패스스루</a:t>
            </a:r>
            <a:r>
              <a:rPr lang="en-US" altLang="ko-KR" dirty="0"/>
              <a:t>(pass-through) </a:t>
            </a:r>
            <a:r>
              <a:rPr lang="ko-KR" altLang="en-US" dirty="0"/>
              <a:t>기술을 통해 단일 가상 머신</a:t>
            </a:r>
            <a:r>
              <a:rPr lang="en-US" altLang="ko-KR" dirty="0"/>
              <a:t> </a:t>
            </a:r>
            <a:r>
              <a:rPr lang="ko-KR" altLang="en-US" dirty="0"/>
              <a:t>또는 컨테이너에 </a:t>
            </a:r>
            <a:r>
              <a:rPr lang="en-US" altLang="ko-KR" dirty="0"/>
              <a:t>NPU </a:t>
            </a:r>
            <a:r>
              <a:rPr lang="ko-KR" altLang="en-US" dirty="0"/>
              <a:t>보드 전체를 독점적으로 할당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심각한 리소스 </a:t>
            </a:r>
            <a:r>
              <a:rPr lang="ko-KR" altLang="en-US" dirty="0" err="1"/>
              <a:t>저활용</a:t>
            </a:r>
            <a:r>
              <a:rPr lang="en-US" altLang="ko-KR" dirty="0"/>
              <a:t>(SA/VU</a:t>
            </a:r>
            <a:r>
              <a:rPr lang="ko-KR" altLang="en-US" dirty="0"/>
              <a:t>에 대한 불균형 수요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NPU</a:t>
            </a:r>
            <a:r>
              <a:rPr lang="ko-KR" altLang="en-US" dirty="0"/>
              <a:t>의 컴퓨팅 활용도를 높이기 위해 현대 클라우드 플랫폼은 </a:t>
            </a:r>
            <a:r>
              <a:rPr lang="en-US" altLang="ko-KR" dirty="0"/>
              <a:t>NPU</a:t>
            </a:r>
            <a:r>
              <a:rPr lang="ko-KR" altLang="en-US" dirty="0"/>
              <a:t>에 대한 제한적인 가상화 지원을 구현</a:t>
            </a:r>
            <a:br>
              <a:rPr lang="en-US" altLang="ko-KR" dirty="0"/>
            </a:br>
            <a:r>
              <a:rPr lang="en-US" altLang="ko-KR" dirty="0"/>
              <a:t>but </a:t>
            </a:r>
            <a:r>
              <a:rPr lang="ko-KR" altLang="en-US" dirty="0"/>
              <a:t>여전히 심각한 리소스 </a:t>
            </a:r>
            <a:r>
              <a:rPr lang="ko-KR" altLang="en-US" dirty="0" err="1"/>
              <a:t>저활용</a:t>
            </a:r>
            <a:r>
              <a:rPr lang="ko-KR" altLang="en-US" dirty="0"/>
              <a:t> 문제와 여러 문제 발생</a:t>
            </a:r>
          </a:p>
        </p:txBody>
      </p:sp>
    </p:spTree>
    <p:extLst>
      <p:ext uri="{BB962C8B-B14F-4D97-AF65-F5344CB8AC3E}">
        <p14:creationId xmlns:p14="http://schemas.microsoft.com/office/powerpoint/2010/main" val="51729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94CDC-43C2-1562-0090-63FD6D006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D8251-673C-64FC-2E81-6C989D9F6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09863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1DBFED-0CCD-5F5D-A24F-4F50BD197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95663"/>
            <a:ext cx="9601200" cy="4471737"/>
          </a:xfrm>
        </p:spPr>
        <p:txBody>
          <a:bodyPr/>
          <a:lstStyle/>
          <a:p>
            <a:r>
              <a:rPr lang="ko-KR" altLang="en-US" dirty="0"/>
              <a:t>이에 </a:t>
            </a:r>
            <a:r>
              <a:rPr lang="en-US" altLang="ko-KR" dirty="0"/>
              <a:t>NPU</a:t>
            </a:r>
            <a:r>
              <a:rPr lang="ko-KR" altLang="en-US" dirty="0"/>
              <a:t>용 시스템 가상화 솔루션인 </a:t>
            </a:r>
            <a:r>
              <a:rPr lang="en-US" altLang="ko-KR" dirty="0" err="1"/>
              <a:t>NewCloud</a:t>
            </a:r>
            <a:r>
              <a:rPr lang="en-US" altLang="ko-KR" dirty="0"/>
              <a:t> </a:t>
            </a:r>
            <a:r>
              <a:rPr lang="ko-KR" altLang="en-US" dirty="0"/>
              <a:t>제안</a:t>
            </a:r>
            <a:endParaRPr lang="en-US" altLang="ko-KR" dirty="0"/>
          </a:p>
          <a:p>
            <a:r>
              <a:rPr lang="ko-KR" altLang="en-US" dirty="0"/>
              <a:t>세밀한 </a:t>
            </a:r>
            <a:r>
              <a:rPr lang="en-US" altLang="ko-KR" dirty="0"/>
              <a:t>SA/VU </a:t>
            </a:r>
            <a:r>
              <a:rPr lang="ko-KR" altLang="en-US" dirty="0"/>
              <a:t>할당을 지원하기 위해 </a:t>
            </a:r>
            <a:r>
              <a:rPr lang="en-US" altLang="ko-KR" dirty="0" err="1"/>
              <a:t>vNPU</a:t>
            </a:r>
            <a:r>
              <a:rPr lang="ko-KR" altLang="en-US" dirty="0"/>
              <a:t>라는 추상화 모델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다양한 </a:t>
            </a:r>
            <a:r>
              <a:rPr lang="en-US" altLang="ko-KR" dirty="0"/>
              <a:t>SA </a:t>
            </a:r>
            <a:r>
              <a:rPr lang="ko-KR" altLang="en-US" dirty="0"/>
              <a:t>및 </a:t>
            </a:r>
            <a:r>
              <a:rPr lang="en-US" altLang="ko-KR" dirty="0"/>
              <a:t>VU </a:t>
            </a:r>
            <a:r>
              <a:rPr lang="ko-KR" altLang="en-US" dirty="0"/>
              <a:t>수요를 가진 워크로드에 최적화된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구성을 식별하는 알고리즘을 제안</a:t>
            </a:r>
            <a:endParaRPr lang="en-US" altLang="ko-KR" dirty="0"/>
          </a:p>
          <a:p>
            <a:r>
              <a:rPr lang="ko-KR" altLang="en-US" dirty="0"/>
              <a:t>여러 물리적 </a:t>
            </a:r>
            <a:r>
              <a:rPr lang="en-US" altLang="ko-KR" dirty="0"/>
              <a:t>NPU </a:t>
            </a:r>
            <a:r>
              <a:rPr lang="ko-KR" altLang="en-US" dirty="0"/>
              <a:t>코어에 서로 다른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인스턴스를 동적으로 할당할 수 있는 효율적인 매핑 정책을 설계하여 세밀한 공간 공유를 가능하게 함</a:t>
            </a:r>
            <a:endParaRPr lang="en-US" altLang="ko-KR" dirty="0"/>
          </a:p>
          <a:p>
            <a:r>
              <a:rPr lang="ko-KR" altLang="en-US" dirty="0"/>
              <a:t>컴퓨팅 유닛과 메모리 주소 공간의 분할을 통해 </a:t>
            </a:r>
            <a:r>
              <a:rPr lang="en-US" altLang="ko-KR" dirty="0" err="1"/>
              <a:t>vNPU</a:t>
            </a:r>
            <a:r>
              <a:rPr lang="ko-KR" altLang="en-US" dirty="0"/>
              <a:t>의 보안 및 성능 격리를 제공</a:t>
            </a:r>
          </a:p>
        </p:txBody>
      </p:sp>
    </p:spTree>
    <p:extLst>
      <p:ext uri="{BB962C8B-B14F-4D97-AF65-F5344CB8AC3E}">
        <p14:creationId xmlns:p14="http://schemas.microsoft.com/office/powerpoint/2010/main" val="1930607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B58AC13-A740-F4B3-3DE2-0D931253B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Background and Motivation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1C70DD-632A-30FA-F92B-6846524BA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415109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EB551-61B6-F388-681A-E1679B3E7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4032"/>
          </a:xfrm>
        </p:spPr>
        <p:txBody>
          <a:bodyPr/>
          <a:lstStyle/>
          <a:p>
            <a:r>
              <a:rPr lang="en-US" altLang="ko-KR" dirty="0"/>
              <a:t>Background and Motivation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16A5A-D4C1-F245-65E7-5127361C8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9832"/>
            <a:ext cx="9601200" cy="4407568"/>
          </a:xfrm>
        </p:spPr>
        <p:txBody>
          <a:bodyPr/>
          <a:lstStyle/>
          <a:p>
            <a:r>
              <a:rPr lang="en-US" altLang="ko-KR" dirty="0"/>
              <a:t>NPU </a:t>
            </a:r>
            <a:r>
              <a:rPr lang="ko-KR" altLang="en-US" dirty="0"/>
              <a:t>코어 구성 요소</a:t>
            </a:r>
            <a:br>
              <a:rPr lang="en-US" altLang="ko-KR" dirty="0"/>
            </a:br>
            <a:r>
              <a:rPr lang="en-US" altLang="ko-KR" dirty="0"/>
              <a:t>1.</a:t>
            </a:r>
            <a:r>
              <a:rPr lang="ko-KR" altLang="en-US" dirty="0"/>
              <a:t> 명령 프로세서</a:t>
            </a:r>
            <a:br>
              <a:rPr lang="en-US" altLang="ko-KR" dirty="0"/>
            </a:br>
            <a:r>
              <a:rPr lang="en-US" altLang="ko-KR" dirty="0"/>
              <a:t>2. DMA </a:t>
            </a:r>
            <a:r>
              <a:rPr lang="ko-KR" altLang="en-US" dirty="0"/>
              <a:t>엔진</a:t>
            </a:r>
            <a:br>
              <a:rPr lang="en-US" altLang="ko-KR" dirty="0"/>
            </a:br>
            <a:r>
              <a:rPr lang="en-US" altLang="ko-KR" dirty="0"/>
              <a:t>3. Compute</a:t>
            </a:r>
            <a:r>
              <a:rPr lang="ko-KR" altLang="en-US" dirty="0"/>
              <a:t> 엔진</a:t>
            </a:r>
            <a:br>
              <a:rPr lang="en-US" altLang="ko-KR" dirty="0"/>
            </a:br>
            <a:r>
              <a:rPr lang="en-US" altLang="ko-KR" dirty="0"/>
              <a:t>	3-1. SRAM</a:t>
            </a:r>
            <a:br>
              <a:rPr lang="en-US" altLang="ko-KR" dirty="0"/>
            </a:br>
            <a:r>
              <a:rPr lang="en-US" altLang="ko-KR" dirty="0"/>
              <a:t>	3-2. Sas</a:t>
            </a:r>
            <a:br>
              <a:rPr lang="en-US" altLang="ko-KR" dirty="0"/>
            </a:br>
            <a:r>
              <a:rPr lang="en-US" altLang="ko-KR" dirty="0"/>
              <a:t>	3-2. VUs</a:t>
            </a:r>
            <a:br>
              <a:rPr lang="en-US" altLang="ko-KR" dirty="0"/>
            </a:br>
            <a:r>
              <a:rPr lang="en-US" altLang="ko-KR" dirty="0"/>
              <a:t>4. HBM</a:t>
            </a:r>
          </a:p>
          <a:p>
            <a:r>
              <a:rPr lang="ko-KR" altLang="en-US" dirty="0"/>
              <a:t>클라우드에서 사용자에게 </a:t>
            </a:r>
            <a:r>
              <a:rPr lang="en-US" altLang="ko-KR" dirty="0"/>
              <a:t>NPU</a:t>
            </a:r>
            <a:r>
              <a:rPr lang="ko-KR" altLang="en-US" dirty="0"/>
              <a:t>를 제공하는 사실상의 표준 방식은 </a:t>
            </a:r>
            <a:r>
              <a:rPr lang="en-US" altLang="ko-KR" dirty="0"/>
              <a:t>PCIe </a:t>
            </a:r>
            <a:r>
              <a:rPr lang="ko-KR" altLang="en-US" dirty="0" err="1"/>
              <a:t>패스스루</a:t>
            </a:r>
            <a:br>
              <a:rPr lang="en-US" altLang="ko-KR" dirty="0"/>
            </a:br>
            <a:r>
              <a:rPr lang="en-US" altLang="ko-KR" dirty="0"/>
              <a:t>-&gt;</a:t>
            </a:r>
            <a:r>
              <a:rPr lang="ko-KR" altLang="en-US" dirty="0"/>
              <a:t>하나의 </a:t>
            </a:r>
            <a:r>
              <a:rPr lang="en-US" altLang="ko-KR" dirty="0"/>
              <a:t>NPU </a:t>
            </a:r>
            <a:r>
              <a:rPr lang="ko-KR" altLang="en-US" dirty="0"/>
              <a:t>장치를 하나의 </a:t>
            </a:r>
            <a:r>
              <a:rPr lang="en-US" altLang="ko-KR" dirty="0"/>
              <a:t>VM </a:t>
            </a:r>
            <a:r>
              <a:rPr lang="ko-KR" altLang="en-US" dirty="0"/>
              <a:t>또는 컨테이너에 독점적으로 할당하는 것</a:t>
            </a:r>
            <a:endParaRPr lang="en-US" altLang="ko-KR" dirty="0"/>
          </a:p>
          <a:p>
            <a:r>
              <a:rPr lang="ko-KR" altLang="en-US" dirty="0"/>
              <a:t>다른 사용자가 동일한 </a:t>
            </a:r>
            <a:r>
              <a:rPr lang="en-US" altLang="ko-KR" dirty="0"/>
              <a:t>NPU</a:t>
            </a:r>
            <a:r>
              <a:rPr lang="ko-KR" altLang="en-US" dirty="0"/>
              <a:t>를 공유하는 것 방지</a:t>
            </a:r>
            <a:br>
              <a:rPr lang="en-US" altLang="ko-KR" dirty="0"/>
            </a:br>
            <a:r>
              <a:rPr lang="en-US" altLang="ko-KR" dirty="0"/>
              <a:t>but </a:t>
            </a:r>
            <a:r>
              <a:rPr lang="ko-KR" altLang="en-US" dirty="0"/>
              <a:t>완전히 활용할 수 없는 경우 하드웨어 </a:t>
            </a:r>
            <a:r>
              <a:rPr lang="ko-KR" altLang="en-US" dirty="0" err="1"/>
              <a:t>저활용으로</a:t>
            </a:r>
            <a:r>
              <a:rPr lang="ko-KR" altLang="en-US" dirty="0"/>
              <a:t> 이어짐</a:t>
            </a:r>
          </a:p>
        </p:txBody>
      </p:sp>
    </p:spTree>
    <p:extLst>
      <p:ext uri="{BB962C8B-B14F-4D97-AF65-F5344CB8AC3E}">
        <p14:creationId xmlns:p14="http://schemas.microsoft.com/office/powerpoint/2010/main" val="1717967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52385-78C7-9FFD-598B-27CB5023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47CA9-C195-11C4-AC42-8CCCB844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 and Motivation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242DB-E6F1-7552-107F-80B719A99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475874"/>
            <a:ext cx="5072437" cy="4391526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FLOPS: </a:t>
            </a:r>
            <a:r>
              <a:rPr lang="ko-KR" altLang="en-US" sz="1800" dirty="0"/>
              <a:t>컴퓨팅 리소스 활용도</a:t>
            </a:r>
            <a:endParaRPr lang="en-US" altLang="ko-KR" sz="1800" dirty="0"/>
          </a:p>
          <a:p>
            <a:r>
              <a:rPr lang="ko-KR" altLang="en-US" sz="1800" dirty="0"/>
              <a:t>대부분의 </a:t>
            </a:r>
            <a:r>
              <a:rPr lang="en-US" altLang="ko-KR" sz="1800" dirty="0"/>
              <a:t>ML </a:t>
            </a:r>
            <a:r>
              <a:rPr lang="ko-KR" altLang="en-US" sz="1800" dirty="0"/>
              <a:t>워크로드는 </a:t>
            </a:r>
            <a:r>
              <a:rPr lang="en-US" altLang="ko-KR" sz="1800" dirty="0"/>
              <a:t>TPU </a:t>
            </a:r>
            <a:r>
              <a:rPr lang="ko-KR" altLang="en-US" sz="1800" dirty="0"/>
              <a:t>코어 총 </a:t>
            </a:r>
            <a:r>
              <a:rPr lang="en-US" altLang="ko-KR" sz="1800" dirty="0"/>
              <a:t>FLOPS</a:t>
            </a:r>
            <a:r>
              <a:rPr lang="ko-KR" altLang="en-US" sz="1800" dirty="0"/>
              <a:t>의 절반 미만을 활용</a:t>
            </a:r>
            <a:endParaRPr lang="en-US" altLang="ko-KR" sz="1800" dirty="0"/>
          </a:p>
          <a:p>
            <a:r>
              <a:rPr lang="ko-KR" altLang="en-US" sz="1800" dirty="0"/>
              <a:t>주요 원인</a:t>
            </a:r>
            <a:r>
              <a:rPr lang="en-US" altLang="ko-KR" sz="1800" dirty="0"/>
              <a:t>: TPU</a:t>
            </a:r>
            <a:r>
              <a:rPr lang="ko-KR" altLang="en-US" sz="1800" dirty="0"/>
              <a:t>에서 가장 많은 </a:t>
            </a:r>
            <a:r>
              <a:rPr lang="en-US" altLang="ko-KR" sz="1800" dirty="0"/>
              <a:t>FLOPS</a:t>
            </a:r>
            <a:r>
              <a:rPr lang="ko-KR" altLang="en-US" sz="1800" dirty="0"/>
              <a:t>를 제공하는 </a:t>
            </a:r>
            <a:r>
              <a:rPr lang="en-US" altLang="ko-KR" sz="1800" dirty="0"/>
              <a:t>SA</a:t>
            </a:r>
            <a:r>
              <a:rPr lang="ko-KR" altLang="en-US" sz="1800" dirty="0"/>
              <a:t>가 시간적으로 </a:t>
            </a:r>
            <a:r>
              <a:rPr lang="ko-KR" altLang="en-US" sz="1800" dirty="0" err="1"/>
              <a:t>저활용됨</a:t>
            </a:r>
            <a:endParaRPr lang="en-US" altLang="ko-KR" sz="1800" dirty="0"/>
          </a:p>
          <a:p>
            <a:endParaRPr lang="ko-KR" altLang="en-US" sz="1800" dirty="0"/>
          </a:p>
        </p:txBody>
      </p:sp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EBBBC8-B1CD-DAAC-BAF7-EB999F872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324" y="1428750"/>
            <a:ext cx="5105445" cy="2806584"/>
          </a:xfrm>
          <a:prstGeom prst="rect">
            <a:avLst/>
          </a:prstGeom>
        </p:spPr>
      </p:pic>
      <p:pic>
        <p:nvPicPr>
          <p:cNvPr id="7" name="그림 6" descr="스크린샷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6A9AAE-BFD2-C411-2EE1-E3A3C816E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01" y="4591752"/>
            <a:ext cx="5922689" cy="158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62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E3EAC-6204-0077-CCFA-AE9B3767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B6F59-0E79-8C92-79B8-01433D61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4032"/>
          </a:xfrm>
        </p:spPr>
        <p:txBody>
          <a:bodyPr/>
          <a:lstStyle/>
          <a:p>
            <a:r>
              <a:rPr lang="en-US" altLang="ko-KR" dirty="0"/>
              <a:t>Background and Motivation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BF4E86-059E-4962-4643-3FFD8AAD3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9832"/>
            <a:ext cx="9601200" cy="4407568"/>
          </a:xfrm>
        </p:spPr>
        <p:txBody>
          <a:bodyPr/>
          <a:lstStyle/>
          <a:p>
            <a:r>
              <a:rPr lang="en-US" altLang="ko-KR" dirty="0"/>
              <a:t>ML </a:t>
            </a:r>
            <a:r>
              <a:rPr lang="ko-KR" altLang="en-US" dirty="0"/>
              <a:t>워크로드의 성능을 확장하는 일반적인 방법은 </a:t>
            </a:r>
            <a:r>
              <a:rPr lang="en-US" altLang="ko-KR" dirty="0"/>
              <a:t>NPU </a:t>
            </a:r>
            <a:r>
              <a:rPr lang="ko-KR" altLang="en-US" dirty="0"/>
              <a:t>코어 내의 </a:t>
            </a:r>
            <a:r>
              <a:rPr lang="en-US" altLang="ko-KR" dirty="0"/>
              <a:t>SA </a:t>
            </a:r>
            <a:r>
              <a:rPr lang="ko-KR" altLang="en-US" dirty="0"/>
              <a:t>및 </a:t>
            </a:r>
            <a:r>
              <a:rPr lang="en-US" altLang="ko-KR" dirty="0"/>
              <a:t>VU </a:t>
            </a:r>
            <a:r>
              <a:rPr lang="ko-KR" altLang="en-US" dirty="0"/>
              <a:t>수를 늘리는 것 </a:t>
            </a:r>
            <a:r>
              <a:rPr lang="en-US" altLang="ko-KR" dirty="0"/>
              <a:t>but </a:t>
            </a:r>
            <a:r>
              <a:rPr lang="ko-KR" altLang="en-US" dirty="0"/>
              <a:t>모든 워크로드가 이점을 얻지는 못함 </a:t>
            </a:r>
            <a:r>
              <a:rPr lang="en-US" altLang="ko-KR" dirty="0"/>
              <a:t>-&gt; </a:t>
            </a:r>
            <a:r>
              <a:rPr lang="ko-KR" altLang="en-US" dirty="0"/>
              <a:t>자원 낭비로 이어짐</a:t>
            </a:r>
            <a:endParaRPr lang="en-US" altLang="ko-KR" dirty="0"/>
          </a:p>
          <a:p>
            <a:r>
              <a:rPr lang="ko-KR" altLang="en-US" dirty="0"/>
              <a:t>워크로드에 할당되는 </a:t>
            </a:r>
            <a:r>
              <a:rPr lang="en-US" altLang="ko-KR" dirty="0"/>
              <a:t>SA</a:t>
            </a:r>
            <a:r>
              <a:rPr lang="ko-KR" altLang="en-US" dirty="0"/>
              <a:t>와 </a:t>
            </a:r>
            <a:r>
              <a:rPr lang="en-US" altLang="ko-KR" dirty="0"/>
              <a:t>VU</a:t>
            </a:r>
            <a:r>
              <a:rPr lang="ko-KR" altLang="en-US" dirty="0"/>
              <a:t>의 수는 수요에 따라 유연해야 함</a:t>
            </a:r>
          </a:p>
        </p:txBody>
      </p:sp>
    </p:spTree>
    <p:extLst>
      <p:ext uri="{BB962C8B-B14F-4D97-AF65-F5344CB8AC3E}">
        <p14:creationId xmlns:p14="http://schemas.microsoft.com/office/powerpoint/2010/main" val="2452112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666EA75-FC7F-6DD4-862F-5B3449C8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Towards NPU Virtualization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BB7E41-B4EC-E7F1-2D65-171EF2BE5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032319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B6031-E94E-6A71-9D4F-1A6EEDFAE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6174A-C2D3-BABD-0420-05918724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2547"/>
            <a:ext cx="5045242" cy="4134853"/>
          </a:xfrm>
        </p:spPr>
        <p:txBody>
          <a:bodyPr>
            <a:normAutofit/>
          </a:bodyPr>
          <a:lstStyle/>
          <a:p>
            <a:r>
              <a:rPr lang="en-US" altLang="ko-KR" dirty="0"/>
              <a:t>NPU </a:t>
            </a:r>
            <a:r>
              <a:rPr lang="ko-KR" altLang="en-US" dirty="0"/>
              <a:t>코어 가상화에 필수적인 지원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실행 유닛 단위로 코어 분할</a:t>
            </a:r>
            <a:endParaRPr lang="en-US" altLang="ko-KR" dirty="0"/>
          </a:p>
          <a:p>
            <a:r>
              <a:rPr lang="en-US" altLang="ko-KR" dirty="0"/>
              <a:t>MIMD(</a:t>
            </a:r>
            <a:r>
              <a:rPr lang="ko-KR" altLang="en-US" dirty="0"/>
              <a:t>다중 명령 다중 데이터</a:t>
            </a:r>
            <a:r>
              <a:rPr lang="en-US" altLang="ko-KR" dirty="0"/>
              <a:t>) </a:t>
            </a:r>
            <a:r>
              <a:rPr lang="ko-KR" altLang="en-US" dirty="0"/>
              <a:t>컴퓨팅 패러다임 따름</a:t>
            </a:r>
            <a:endParaRPr lang="en-US" altLang="ko-KR" dirty="0"/>
          </a:p>
          <a:p>
            <a:r>
              <a:rPr lang="ko-KR" altLang="en-US" dirty="0"/>
              <a:t>하드웨어 기반 메모리 주소 변환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en-US" altLang="ko-KR"/>
              <a:t>vNPU</a:t>
            </a:r>
            <a:r>
              <a:rPr lang="en-US" altLang="ko-KR" dirty="0"/>
              <a:t> </a:t>
            </a:r>
            <a:r>
              <a:rPr lang="ko-KR" altLang="en-US" dirty="0"/>
              <a:t>간의 메모리 격리 가능</a:t>
            </a:r>
          </a:p>
        </p:txBody>
      </p:sp>
      <p:pic>
        <p:nvPicPr>
          <p:cNvPr id="5" name="그림 4" descr="도표, 평면도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F1EBBF-9D6D-B085-183B-D6A643E51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881" y="1676061"/>
            <a:ext cx="5440613" cy="3971646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CC901F24-5D0B-5FD7-7D8C-661734136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Towards NPU Virtualization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9916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949D5-2B21-7BC0-5D43-4269A6A48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669BB-5DF0-01C6-AFF3-8FAD6978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Towards NPU Virtualization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43C76-4393-F797-40C8-273F0B31A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49" y="2286000"/>
            <a:ext cx="5507456" cy="35814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vNPU</a:t>
            </a:r>
            <a:r>
              <a:rPr lang="ko-KR" altLang="en-US" dirty="0"/>
              <a:t>를 통한 세밀한 자원 추상화</a:t>
            </a:r>
            <a:endParaRPr lang="en-US" altLang="ko-KR" dirty="0"/>
          </a:p>
          <a:p>
            <a:r>
              <a:rPr lang="en-US" altLang="ko-KR" dirty="0"/>
              <a:t>DNN</a:t>
            </a:r>
            <a:r>
              <a:rPr lang="ko-KR" altLang="en-US" dirty="0"/>
              <a:t> 워크로드의 수요에 따라 서로 다른 수의 </a:t>
            </a:r>
            <a:r>
              <a:rPr lang="en-US" altLang="ko-KR" dirty="0"/>
              <a:t>SA</a:t>
            </a:r>
            <a:r>
              <a:rPr lang="ko-KR" altLang="en-US" dirty="0"/>
              <a:t>와 </a:t>
            </a:r>
            <a:r>
              <a:rPr lang="en-US" altLang="ko-KR" dirty="0"/>
              <a:t>VU </a:t>
            </a:r>
            <a:r>
              <a:rPr lang="ko-KR" altLang="en-US" dirty="0"/>
              <a:t>할당</a:t>
            </a:r>
            <a:endParaRPr lang="en-US" altLang="ko-KR" dirty="0"/>
          </a:p>
          <a:p>
            <a:r>
              <a:rPr lang="ko-KR" altLang="en-US" dirty="0"/>
              <a:t>또한 코어 내 </a:t>
            </a:r>
            <a:r>
              <a:rPr lang="en-US" altLang="ko-KR" dirty="0"/>
              <a:t>SRAM </a:t>
            </a:r>
            <a:r>
              <a:rPr lang="ko-KR" altLang="en-US" dirty="0"/>
              <a:t>크기와 </a:t>
            </a:r>
            <a:r>
              <a:rPr lang="en-US" altLang="ko-KR" dirty="0"/>
              <a:t>HBM </a:t>
            </a:r>
            <a:r>
              <a:rPr lang="ko-KR" altLang="en-US" dirty="0"/>
              <a:t>크기 맞춤 설정 가능</a:t>
            </a:r>
          </a:p>
        </p:txBody>
      </p:sp>
      <p:pic>
        <p:nvPicPr>
          <p:cNvPr id="5" name="그림 4" descr="텍스트, 번호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974EAA-3048-041F-EBD6-4B155A26D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601" y="2286000"/>
            <a:ext cx="3903332" cy="160036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4CB5B2-2C95-802E-9A0D-554353224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601" y="4364875"/>
            <a:ext cx="3903332" cy="114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78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5E182-EFA4-4E04-853B-C346A672C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A4D07-5C9B-0E1E-68E6-DF41DDD8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sz="4100"/>
              <a:t>Towards NPU Virtualization</a:t>
            </a:r>
            <a:br>
              <a:rPr lang="en-US" altLang="ko-KR" sz="4100"/>
            </a:br>
            <a:endParaRPr lang="ko-KR" altLang="en-US" sz="41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7649B1-EA54-4416-AAFC-FF408060C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3644D1-5C29-15EB-7BB5-67905A969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5" y="631371"/>
            <a:ext cx="6797262" cy="3744685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Pcle</a:t>
            </a:r>
            <a:r>
              <a:rPr lang="en-US" altLang="ko-KR" dirty="0"/>
              <a:t> </a:t>
            </a:r>
            <a:r>
              <a:rPr lang="ko-KR" altLang="en-US" dirty="0"/>
              <a:t>장치로 각</a:t>
            </a:r>
            <a:r>
              <a:rPr lang="en-US" altLang="ko-KR" dirty="0"/>
              <a:t>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노출시킴</a:t>
            </a:r>
            <a:endParaRPr lang="en-US" altLang="ko-KR" dirty="0"/>
          </a:p>
          <a:p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계층 구조  조회 가능</a:t>
            </a:r>
          </a:p>
        </p:txBody>
      </p:sp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CA5A35-3923-FB30-3A5A-7C6126650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79" y="3288633"/>
            <a:ext cx="10168560" cy="294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71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C5793-180F-C563-1487-929ECC064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2547"/>
            <a:ext cx="9601200" cy="4134853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생명 주기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필요한 </a:t>
            </a:r>
            <a:r>
              <a:rPr lang="en-US" altLang="ko-KR" dirty="0"/>
              <a:t>NPU </a:t>
            </a:r>
            <a:r>
              <a:rPr lang="ko-KR" altLang="en-US" dirty="0"/>
              <a:t>코어 수와 크기 지정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초기화 시 반가상화 인터페이스를 통해 </a:t>
            </a:r>
            <a:r>
              <a:rPr lang="ko-KR" altLang="en-US" dirty="0" err="1"/>
              <a:t>하이퍼바이저에</a:t>
            </a:r>
            <a:r>
              <a:rPr lang="ko-KR" altLang="en-US" dirty="0"/>
              <a:t> 요청 보냄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 err="1"/>
              <a:t>메니저는</a:t>
            </a:r>
            <a:r>
              <a:rPr lang="ko-KR" altLang="en-US" dirty="0"/>
              <a:t> 할당 가능한 </a:t>
            </a:r>
            <a:r>
              <a:rPr lang="en-US" altLang="ko-KR" dirty="0"/>
              <a:t>NPU </a:t>
            </a:r>
            <a:r>
              <a:rPr lang="ko-KR" altLang="en-US" dirty="0"/>
              <a:t>하드웨어 자원 식별</a:t>
            </a:r>
            <a:r>
              <a:rPr lang="en-US" altLang="ko-KR" dirty="0"/>
              <a:t>, </a:t>
            </a:r>
            <a:r>
              <a:rPr lang="ko-KR" altLang="en-US" dirty="0"/>
              <a:t>게스트 </a:t>
            </a:r>
            <a:r>
              <a:rPr lang="en-US" altLang="ko-KR" dirty="0"/>
              <a:t>VM</a:t>
            </a:r>
            <a:r>
              <a:rPr lang="ko-KR" altLang="en-US" dirty="0"/>
              <a:t>이 </a:t>
            </a:r>
            <a:r>
              <a:rPr lang="en-US" altLang="ko-KR" dirty="0" err="1"/>
              <a:t>vNPU</a:t>
            </a:r>
            <a:r>
              <a:rPr lang="ko-KR" altLang="en-US" dirty="0"/>
              <a:t>에 접근할 수 있도록 </a:t>
            </a:r>
            <a:r>
              <a:rPr lang="en-US" altLang="ko-KR" dirty="0"/>
              <a:t>MMIO </a:t>
            </a:r>
            <a:r>
              <a:rPr lang="ko-KR" altLang="en-US" dirty="0"/>
              <a:t>매핑 생성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커맨드 버퍼를 통해 연산 오프로딩 명령어 내림</a:t>
            </a:r>
            <a:r>
              <a:rPr lang="en-US" altLang="ko-KR" dirty="0"/>
              <a:t>/IOMMU</a:t>
            </a:r>
            <a:r>
              <a:rPr lang="ko-KR" altLang="en-US" dirty="0"/>
              <a:t>를 통해 </a:t>
            </a:r>
            <a:r>
              <a:rPr lang="en-US" altLang="ko-KR" dirty="0"/>
              <a:t>DMA </a:t>
            </a:r>
            <a:r>
              <a:rPr lang="ko-KR" altLang="en-US" dirty="0"/>
              <a:t>접근 권한 가짐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사용자가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인스턴스를 분리 및 해제하거나 다른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구성 요청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E51B2BF6-5052-B0AC-60D7-C6793436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Towards NPU Virtualization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241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370B-A719-052B-7DDB-D5668159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E5BD1-FB78-C88A-DDFF-7F2B94551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2547"/>
            <a:ext cx="5045242" cy="4134853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할당기는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인스턴스에 </a:t>
            </a:r>
            <a:r>
              <a:rPr lang="en-US" altLang="ko-KR" dirty="0"/>
              <a:t>SA, VU, SRAM/HBM </a:t>
            </a:r>
            <a:r>
              <a:rPr lang="ko-KR" altLang="en-US" dirty="0"/>
              <a:t>적절한 조합 할당</a:t>
            </a:r>
            <a:endParaRPr lang="en-US" altLang="ko-KR" dirty="0"/>
          </a:p>
          <a:p>
            <a:r>
              <a:rPr lang="en-US" altLang="ko-KR" dirty="0"/>
              <a:t>x: SA </a:t>
            </a:r>
            <a:r>
              <a:rPr lang="ko-KR" altLang="en-US" dirty="0"/>
              <a:t>활성 실행 시간</a:t>
            </a:r>
            <a:br>
              <a:rPr lang="en-US" altLang="ko-KR" dirty="0"/>
            </a:br>
            <a:r>
              <a:rPr lang="en-US" altLang="ko-KR" dirty="0"/>
              <a:t>y: VU </a:t>
            </a:r>
            <a:r>
              <a:rPr lang="ko-KR" altLang="en-US" dirty="0"/>
              <a:t>활성 실행 시간</a:t>
            </a:r>
            <a:br>
              <a:rPr lang="en-US" altLang="ko-KR" dirty="0"/>
            </a:br>
            <a:r>
              <a:rPr lang="en-US" altLang="ko-KR" dirty="0"/>
              <a:t>S: </a:t>
            </a:r>
            <a:r>
              <a:rPr lang="ko-KR" altLang="en-US" dirty="0"/>
              <a:t>예상 가속도</a:t>
            </a:r>
            <a:br>
              <a:rPr lang="en-US" altLang="ko-KR" dirty="0"/>
            </a:br>
            <a:r>
              <a:rPr lang="en-US" altLang="ko-KR" dirty="0"/>
              <a:t>U: </a:t>
            </a:r>
            <a:r>
              <a:rPr lang="en-US" altLang="ko-KR" dirty="0" err="1"/>
              <a:t>nx</a:t>
            </a:r>
            <a:r>
              <a:rPr lang="ko-KR" altLang="en-US" dirty="0"/>
              <a:t>개의 </a:t>
            </a:r>
            <a:r>
              <a:rPr lang="en-US" altLang="ko-KR" dirty="0"/>
              <a:t>SA</a:t>
            </a:r>
            <a:r>
              <a:rPr lang="ko-KR" altLang="en-US" dirty="0"/>
              <a:t>와 </a:t>
            </a:r>
            <a:r>
              <a:rPr lang="en-US" altLang="ko-KR" dirty="0" err="1"/>
              <a:t>ny</a:t>
            </a:r>
            <a:r>
              <a:rPr lang="ko-KR" altLang="en-US" dirty="0"/>
              <a:t>개의 </a:t>
            </a:r>
            <a:r>
              <a:rPr lang="en-US" altLang="ko-KR" dirty="0"/>
              <a:t>VU</a:t>
            </a:r>
            <a:r>
              <a:rPr lang="ko-KR" altLang="en-US" dirty="0"/>
              <a:t>에서 워크로드 실행했을 때의 활용도</a:t>
            </a:r>
            <a:br>
              <a:rPr lang="en-US" altLang="ko-KR" dirty="0"/>
            </a:br>
            <a:r>
              <a:rPr lang="en-US" altLang="ko-KR" dirty="0"/>
              <a:t>k: </a:t>
            </a:r>
            <a:r>
              <a:rPr lang="en-US" altLang="ko-KR" dirty="0" err="1"/>
              <a:t>nx</a:t>
            </a:r>
            <a:r>
              <a:rPr lang="en-US" altLang="ko-KR" dirty="0"/>
              <a:t>/</a:t>
            </a:r>
            <a:r>
              <a:rPr lang="en-US" altLang="ko-KR" dirty="0" err="1"/>
              <a:t>ny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전체 </a:t>
            </a:r>
            <a:r>
              <a:rPr lang="en-US" altLang="ko-KR" dirty="0"/>
              <a:t>EU </a:t>
            </a:r>
            <a:r>
              <a:rPr lang="ko-KR" altLang="en-US" dirty="0"/>
              <a:t>수량은 게스트 </a:t>
            </a:r>
            <a:r>
              <a:rPr lang="en-US" altLang="ko-KR" dirty="0"/>
              <a:t>VM</a:t>
            </a:r>
            <a:r>
              <a:rPr lang="ko-KR" altLang="en-US" dirty="0"/>
              <a:t>에서 실행되는 </a:t>
            </a:r>
            <a:r>
              <a:rPr lang="en-US" altLang="ko-KR" dirty="0"/>
              <a:t>ML </a:t>
            </a:r>
            <a:r>
              <a:rPr lang="ko-KR" altLang="en-US" dirty="0"/>
              <a:t>워크로드의 </a:t>
            </a:r>
            <a:r>
              <a:rPr lang="en-US" altLang="ko-KR" dirty="0"/>
              <a:t>SLO</a:t>
            </a:r>
            <a:r>
              <a:rPr lang="ko-KR" altLang="en-US" dirty="0"/>
              <a:t>를 만족하는 가장 작은 값으로 결정됨</a:t>
            </a:r>
            <a:endParaRPr lang="en-US" altLang="ko-KR" dirty="0"/>
          </a:p>
          <a:p>
            <a:r>
              <a:rPr lang="ko-KR" altLang="ko-KR" dirty="0">
                <a:solidFill>
                  <a:schemeClr val="tx1"/>
                </a:solidFill>
                <a:latin typeface="Arial" panose="020B0604020202020204" pitchFamily="34" charset="0"/>
              </a:rPr>
              <a:t>모델별로 최적의 </a:t>
            </a:r>
            <a:r>
              <a:rPr lang="ko-KR" altLang="ko-KR" dirty="0" err="1">
                <a:solidFill>
                  <a:schemeClr val="tx1"/>
                </a:solidFill>
                <a:latin typeface="Arial" panose="020B0604020202020204" pitchFamily="34" charset="0"/>
              </a:rPr>
              <a:t>SA와</a:t>
            </a:r>
            <a:r>
              <a:rPr lang="ko-KR" altLang="ko-KR" dirty="0">
                <a:solidFill>
                  <a:schemeClr val="tx1"/>
                </a:solidFill>
                <a:latin typeface="Arial" panose="020B0604020202020204" pitchFamily="34" charset="0"/>
              </a:rPr>
              <a:t> VU 비율을 계산하여 </a:t>
            </a:r>
            <a:r>
              <a:rPr lang="ko-KR" altLang="ko-KR" dirty="0" err="1">
                <a:solidFill>
                  <a:schemeClr val="tx1"/>
                </a:solidFill>
                <a:latin typeface="Arial" panose="020B0604020202020204" pitchFamily="34" charset="0"/>
              </a:rPr>
              <a:t>암달의</a:t>
            </a:r>
            <a:r>
              <a:rPr lang="ko-KR" altLang="ko-KR" dirty="0">
                <a:solidFill>
                  <a:schemeClr val="tx1"/>
                </a:solidFill>
                <a:latin typeface="Arial" panose="020B0604020202020204" pitchFamily="34" charset="0"/>
              </a:rPr>
              <a:t> 법칙에 의한 성능 한계를 극복하고 자원 낭비를 최소화</a:t>
            </a:r>
          </a:p>
          <a:p>
            <a:br>
              <a:rPr lang="en-US" altLang="ko-KR" dirty="0"/>
            </a:b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A74FAF5-BC53-8800-2837-0B21ECA0B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Towards NPU Virtualization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9" name="그림 8" descr="폰트, 친필, 화이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D71862-D667-C94E-7839-F6D84AD8E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44" b="11370"/>
          <a:stretch>
            <a:fillRect/>
          </a:stretch>
        </p:blipFill>
        <p:spPr>
          <a:xfrm>
            <a:off x="7009397" y="1732547"/>
            <a:ext cx="4909888" cy="1316958"/>
          </a:xfrm>
          <a:prstGeom prst="rect">
            <a:avLst/>
          </a:prstGeom>
        </p:spPr>
      </p:pic>
      <p:pic>
        <p:nvPicPr>
          <p:cNvPr id="11" name="그림 10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476FC4-4565-D662-5631-C4BEBDE07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281" y="3296152"/>
            <a:ext cx="4814777" cy="1123448"/>
          </a:xfrm>
          <a:prstGeom prst="rect">
            <a:avLst/>
          </a:prstGeom>
        </p:spPr>
      </p:pic>
      <p:pic>
        <p:nvPicPr>
          <p:cNvPr id="13" name="그림 12" descr="폰트, 텍스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3E69A8-29D1-E10C-35FB-8C095605C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397" y="4886528"/>
            <a:ext cx="4830826" cy="112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8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F3EA-1474-361A-B3B5-90BC7339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6428A-9102-026D-74DB-4BB62373E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32547"/>
            <a:ext cx="9681411" cy="4134853"/>
          </a:xfrm>
        </p:spPr>
        <p:txBody>
          <a:bodyPr>
            <a:normAutofit/>
          </a:bodyPr>
          <a:lstStyle/>
          <a:p>
            <a:r>
              <a:rPr lang="ko-KR" altLang="en-US" dirty="0"/>
              <a:t>초기 매핑</a:t>
            </a:r>
            <a:r>
              <a:rPr lang="en-US" altLang="ko-KR" dirty="0"/>
              <a:t>(Initial mapping):</a:t>
            </a:r>
            <a:r>
              <a:rPr lang="ko-KR" altLang="en-US" dirty="0"/>
              <a:t> 새로운 </a:t>
            </a:r>
            <a:r>
              <a:rPr lang="en-US" altLang="ko-KR" dirty="0" err="1"/>
              <a:t>vNPU</a:t>
            </a:r>
            <a:r>
              <a:rPr lang="ko-KR" altLang="en-US" dirty="0"/>
              <a:t>를 할당하기 위해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매니저는 </a:t>
            </a:r>
            <a:r>
              <a:rPr lang="en-US" altLang="ko-KR" dirty="0"/>
              <a:t>SA/VU </a:t>
            </a:r>
            <a:r>
              <a:rPr lang="ko-KR" altLang="en-US" dirty="0"/>
              <a:t>구성과 요청된 메모리 크기를 입력으로 받음</a:t>
            </a:r>
            <a:endParaRPr lang="en-US" altLang="ko-KR" dirty="0"/>
          </a:p>
          <a:p>
            <a:r>
              <a:rPr lang="en-US" altLang="ko-KR" dirty="0"/>
              <a:t>EU </a:t>
            </a:r>
            <a:r>
              <a:rPr lang="ko-KR" altLang="en-US" dirty="0"/>
              <a:t>활용도를 최대화하기 위해 </a:t>
            </a:r>
            <a:r>
              <a:rPr lang="en-US" altLang="ko-KR" dirty="0" err="1"/>
              <a:t>NeuCloud</a:t>
            </a:r>
            <a:r>
              <a:rPr lang="ko-KR" altLang="en-US" dirty="0"/>
              <a:t>의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매니저는 모든 </a:t>
            </a:r>
            <a:r>
              <a:rPr lang="en-US" altLang="ko-KR" dirty="0" err="1"/>
              <a:t>vNPU</a:t>
            </a:r>
            <a:r>
              <a:rPr lang="ko-KR" altLang="en-US" dirty="0"/>
              <a:t>의 총 </a:t>
            </a:r>
            <a:r>
              <a:rPr lang="en-US" altLang="ko-KR" dirty="0"/>
              <a:t>EU </a:t>
            </a:r>
            <a:r>
              <a:rPr lang="ko-KR" altLang="en-US" dirty="0"/>
              <a:t>수가 </a:t>
            </a:r>
            <a:r>
              <a:rPr lang="en-US" altLang="ko-KR" dirty="0"/>
              <a:t>NPU </a:t>
            </a:r>
            <a:r>
              <a:rPr lang="ko-KR" altLang="en-US" dirty="0"/>
              <a:t>코어의 가용 </a:t>
            </a:r>
            <a:r>
              <a:rPr lang="en-US" altLang="ko-KR" dirty="0"/>
              <a:t>EU </a:t>
            </a:r>
            <a:r>
              <a:rPr lang="ko-KR" altLang="en-US" dirty="0"/>
              <a:t>수를 초과하지 않는 범위 내에서 </a:t>
            </a:r>
            <a:r>
              <a:rPr lang="en-US" altLang="ko-KR" dirty="0" err="1"/>
              <a:t>vNPU</a:t>
            </a:r>
            <a:r>
              <a:rPr lang="ko-KR" altLang="en-US" dirty="0"/>
              <a:t>들을 그룹화</a:t>
            </a:r>
            <a:endParaRPr lang="en-US" altLang="ko-KR" dirty="0"/>
          </a:p>
          <a:p>
            <a:r>
              <a:rPr lang="ko-KR" altLang="en-US" dirty="0"/>
              <a:t>초기 매핑 이후 워크로드 패턴이 시간이 지나면서 변할 수 있으므로 스케줄러는 </a:t>
            </a:r>
            <a:r>
              <a:rPr lang="en-US" altLang="ko-KR" dirty="0" err="1"/>
              <a:t>vNPU</a:t>
            </a:r>
            <a:r>
              <a:rPr lang="ko-KR" altLang="en-US" dirty="0"/>
              <a:t>를 재배치함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84E710C8-54F6-8DE4-A60C-5577BA4C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Towards NPU Virtualization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8442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EB04D-C77A-725F-C693-7456EE6D8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E0416-75DF-812A-2991-3C919E71C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32547"/>
            <a:ext cx="9681411" cy="4134853"/>
          </a:xfrm>
        </p:spPr>
        <p:txBody>
          <a:bodyPr>
            <a:normAutofit/>
          </a:bodyPr>
          <a:lstStyle/>
          <a:p>
            <a:r>
              <a:rPr lang="en-US" altLang="ko-KR" dirty="0"/>
              <a:t>NPU </a:t>
            </a:r>
            <a:r>
              <a:rPr lang="ko-KR" altLang="en-US" dirty="0"/>
              <a:t>코어의 서로 다른 실행 유닛</a:t>
            </a:r>
            <a:r>
              <a:rPr lang="en-US" altLang="ko-KR" dirty="0"/>
              <a:t>(EU)</a:t>
            </a:r>
            <a:r>
              <a:rPr lang="ko-KR" altLang="en-US" dirty="0"/>
              <a:t>에 </a:t>
            </a:r>
            <a:r>
              <a:rPr lang="en-US" altLang="ko-KR" dirty="0" err="1"/>
              <a:t>vNPU</a:t>
            </a:r>
            <a:r>
              <a:rPr lang="ko-KR" altLang="en-US" dirty="0"/>
              <a:t>를 할당한 후에도</a:t>
            </a:r>
            <a:r>
              <a:rPr lang="en-US" altLang="ko-KR" dirty="0"/>
              <a:t>, </a:t>
            </a:r>
            <a:r>
              <a:rPr lang="ko-KR" altLang="en-US" dirty="0" err="1"/>
              <a:t>오프로드된</a:t>
            </a:r>
            <a:r>
              <a:rPr lang="ko-KR" altLang="en-US" dirty="0"/>
              <a:t> 워크로드가 없을 때 이러한 </a:t>
            </a:r>
            <a:r>
              <a:rPr lang="en-US" altLang="ko-KR" dirty="0" err="1"/>
              <a:t>vNPU</a:t>
            </a:r>
            <a:r>
              <a:rPr lang="ko-KR" altLang="en-US" dirty="0"/>
              <a:t>들은 유휴 상태가 될 수 있습니다</a:t>
            </a:r>
            <a:r>
              <a:rPr lang="en-US" altLang="ko-KR" dirty="0"/>
              <a:t>. </a:t>
            </a:r>
            <a:r>
              <a:rPr lang="ko-KR" altLang="en-US" dirty="0"/>
              <a:t>이는 시간적인 </a:t>
            </a:r>
            <a:r>
              <a:rPr lang="ko-KR" altLang="en-US" dirty="0" err="1"/>
              <a:t>저활용</a:t>
            </a:r>
            <a:r>
              <a:rPr lang="en-US" altLang="ko-KR" dirty="0"/>
              <a:t>(temporal underutilization) </a:t>
            </a:r>
            <a:r>
              <a:rPr lang="ko-KR" altLang="en-US" dirty="0"/>
              <a:t>야기함 </a:t>
            </a:r>
            <a:r>
              <a:rPr lang="en-US" altLang="ko-KR" dirty="0"/>
              <a:t>-&gt; </a:t>
            </a:r>
            <a:r>
              <a:rPr lang="en-US" altLang="ko-KR" dirty="0" err="1"/>
              <a:t>NeuCloud</a:t>
            </a:r>
            <a:r>
              <a:rPr lang="ko-KR" altLang="en-US" dirty="0"/>
              <a:t>는 코어에 더 많은 </a:t>
            </a:r>
            <a:r>
              <a:rPr lang="en-US" altLang="ko-KR" dirty="0" err="1"/>
              <a:t>vNPU</a:t>
            </a:r>
            <a:r>
              <a:rPr lang="ko-KR" altLang="en-US" dirty="0"/>
              <a:t>를 매핑</a:t>
            </a:r>
            <a:r>
              <a:rPr lang="en-US" altLang="ko-KR" dirty="0"/>
              <a:t>(</a:t>
            </a:r>
            <a:r>
              <a:rPr lang="ko-KR" altLang="en-US" dirty="0"/>
              <a:t>과다 할당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가지 경우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en-US" altLang="ko-KR" dirty="0" err="1"/>
              <a:t>NeuCloud</a:t>
            </a:r>
            <a:r>
              <a:rPr lang="ko-KR" altLang="en-US" dirty="0"/>
              <a:t>는 동일한 </a:t>
            </a:r>
            <a:r>
              <a:rPr lang="en-US" altLang="ko-KR" dirty="0"/>
              <a:t>SA/VU </a:t>
            </a:r>
            <a:r>
              <a:rPr lang="ko-KR" altLang="en-US" dirty="0"/>
              <a:t>구성을 가진 </a:t>
            </a:r>
            <a:r>
              <a:rPr lang="en-US" altLang="ko-KR" dirty="0" err="1"/>
              <a:t>vNPU</a:t>
            </a:r>
            <a:r>
              <a:rPr lang="ko-KR" altLang="en-US" dirty="0"/>
              <a:t>들만 동일한 </a:t>
            </a:r>
            <a:r>
              <a:rPr lang="en-US" altLang="ko-KR" dirty="0"/>
              <a:t>NPU </a:t>
            </a:r>
            <a:r>
              <a:rPr lang="ko-KR" altLang="en-US" dirty="0"/>
              <a:t>코어에 할당</a:t>
            </a:r>
            <a:br>
              <a:rPr lang="en-US" altLang="ko-KR" dirty="0"/>
            </a:br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 err="1"/>
              <a:t>vNPU</a:t>
            </a:r>
            <a:r>
              <a:rPr lang="ko-KR" altLang="en-US" dirty="0"/>
              <a:t>들이 임의의 </a:t>
            </a:r>
            <a:r>
              <a:rPr lang="en-US" altLang="ko-KR" dirty="0"/>
              <a:t>SA/VU </a:t>
            </a:r>
            <a:r>
              <a:rPr lang="ko-KR" altLang="en-US" dirty="0"/>
              <a:t>구성을 가질 수 있는 경우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BF23905-9B60-9A43-BE74-B73DDC9AB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Towards NPU Virtualization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9807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C4636-89C8-8B7C-6727-B8A6995B1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9EC449-2126-A761-FA61-2BAAB0D58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32547"/>
            <a:ext cx="9681411" cy="4134853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인스턴스 간의 런타임 격리 강제해야 함</a:t>
            </a:r>
            <a:r>
              <a:rPr lang="en-US" altLang="ko-KR" dirty="0"/>
              <a:t>-&gt; </a:t>
            </a:r>
            <a:r>
              <a:rPr lang="ko-KR" altLang="en-US" dirty="0"/>
              <a:t>보안 격리 </a:t>
            </a:r>
            <a:r>
              <a:rPr lang="en-US" altLang="ko-KR" dirty="0"/>
              <a:t>+ </a:t>
            </a:r>
            <a:r>
              <a:rPr lang="ko-KR" altLang="en-US" dirty="0"/>
              <a:t>성능 격리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보안 격리</a:t>
            </a:r>
            <a:r>
              <a:rPr lang="en-US" altLang="ko-KR" dirty="0"/>
              <a:t>: </a:t>
            </a:r>
            <a:r>
              <a:rPr lang="ko-KR" altLang="en-US" dirty="0"/>
              <a:t>메모리 주소 공간 격리를 통해 강제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성능 격리</a:t>
            </a:r>
            <a:r>
              <a:rPr lang="en-US" altLang="ko-KR" dirty="0"/>
              <a:t>: </a:t>
            </a:r>
            <a:r>
              <a:rPr lang="ko-KR" altLang="en-US" dirty="0"/>
              <a:t>하드웨어와 소프트웨어 기술의 협력을 통해 강제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D5B4F520-1C3B-B3F7-20B3-655E9388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Towards NPU Virtualization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8456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67EA26-865F-37B2-02E5-52987A68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Conclusion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D3D769-8CBB-C765-24E2-1585CADD3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258962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8219B-B7BA-9956-7A88-B95D6A430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70C15C-C549-ACA5-CBD2-E205D0B3B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43789"/>
            <a:ext cx="9601200" cy="4423611"/>
          </a:xfrm>
        </p:spPr>
        <p:txBody>
          <a:bodyPr/>
          <a:lstStyle/>
          <a:p>
            <a:r>
              <a:rPr lang="ko-KR" altLang="en-US" dirty="0"/>
              <a:t>본 논문에서 우리는 </a:t>
            </a:r>
            <a:r>
              <a:rPr lang="en-US" altLang="ko-KR" dirty="0"/>
              <a:t>NPU </a:t>
            </a:r>
            <a:r>
              <a:rPr lang="ko-KR" altLang="en-US" dirty="0"/>
              <a:t>가상화를 실용적으로 만들기 위해 필요한 하드웨어 지원에 대해 논의함</a:t>
            </a:r>
            <a:endParaRPr lang="en-US" altLang="ko-KR" dirty="0"/>
          </a:p>
          <a:p>
            <a:r>
              <a:rPr lang="ko-KR" altLang="en-US" dirty="0"/>
              <a:t>세밀한</a:t>
            </a:r>
            <a:r>
              <a:rPr lang="en-US" altLang="ko-KR" dirty="0"/>
              <a:t> </a:t>
            </a:r>
            <a:r>
              <a:rPr lang="ko-KR" altLang="en-US" dirty="0"/>
              <a:t>자원 할당의 필요성 뿐만 아니라</a:t>
            </a:r>
            <a:r>
              <a:rPr lang="en-US" altLang="ko-KR" dirty="0"/>
              <a:t>, </a:t>
            </a:r>
            <a:r>
              <a:rPr lang="en-US" altLang="ko-KR" dirty="0" err="1"/>
              <a:t>vNPU</a:t>
            </a:r>
            <a:r>
              <a:rPr lang="en-US" altLang="ko-KR" dirty="0"/>
              <a:t> </a:t>
            </a:r>
            <a:r>
              <a:rPr lang="ko-KR" altLang="en-US" dirty="0"/>
              <a:t>간의 보안 및 성능 격리와 같은 </a:t>
            </a:r>
            <a:r>
              <a:rPr lang="en-US" altLang="ko-KR" dirty="0"/>
              <a:t>NPU </a:t>
            </a:r>
            <a:r>
              <a:rPr lang="ko-KR" altLang="en-US" dirty="0"/>
              <a:t>가상화의 주요 도전 과제들을 확인함</a:t>
            </a:r>
            <a:endParaRPr lang="en-US" altLang="ko-KR" dirty="0"/>
          </a:p>
          <a:p>
            <a:r>
              <a:rPr lang="ko-KR" altLang="en-US" dirty="0"/>
              <a:t>향후 실제 작동하는 프로토타입을 제작하기 위해 계획하고 있음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구축된 시스템을 실제 </a:t>
            </a:r>
            <a:r>
              <a:rPr lang="en-US" altLang="ko-KR" dirty="0"/>
              <a:t>ML </a:t>
            </a:r>
            <a:r>
              <a:rPr lang="ko-KR" altLang="en-US" dirty="0"/>
              <a:t>서비스에 적용 </a:t>
            </a:r>
            <a:r>
              <a:rPr lang="en-US" altLang="ko-KR" dirty="0"/>
              <a:t>-&gt; </a:t>
            </a:r>
            <a:r>
              <a:rPr lang="ko-KR" altLang="en-US" dirty="0"/>
              <a:t>성능을 증명</a:t>
            </a:r>
          </a:p>
        </p:txBody>
      </p:sp>
    </p:spTree>
    <p:extLst>
      <p:ext uri="{BB962C8B-B14F-4D97-AF65-F5344CB8AC3E}">
        <p14:creationId xmlns:p14="http://schemas.microsoft.com/office/powerpoint/2010/main" val="355623429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1398</TotalTime>
  <Words>960</Words>
  <Application>Microsoft Office PowerPoint</Application>
  <PresentationFormat>와이드스크린</PresentationFormat>
  <Paragraphs>77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Arial</vt:lpstr>
      <vt:lpstr>Franklin Gothic Book</vt:lpstr>
      <vt:lpstr>자르기</vt:lpstr>
      <vt:lpstr>System Virtualization for Neural Processing Units  논문 리뷰</vt:lpstr>
      <vt:lpstr>목차</vt:lpstr>
      <vt:lpstr>Abstract</vt:lpstr>
      <vt:lpstr>Abstract</vt:lpstr>
      <vt:lpstr>Introduction</vt:lpstr>
      <vt:lpstr>Introduction</vt:lpstr>
      <vt:lpstr>Introduction</vt:lpstr>
      <vt:lpstr>Introduction</vt:lpstr>
      <vt:lpstr>Background and Motivation</vt:lpstr>
      <vt:lpstr>Background and Motivation</vt:lpstr>
      <vt:lpstr>Background and Motivation</vt:lpstr>
      <vt:lpstr>Background and Motivation</vt:lpstr>
      <vt:lpstr>Towards NPU Virtualization </vt:lpstr>
      <vt:lpstr>Towards NPU Virtualization </vt:lpstr>
      <vt:lpstr>Towards NPU Virtualization </vt:lpstr>
      <vt:lpstr>Towards NPU Virtualization </vt:lpstr>
      <vt:lpstr>Towards NPU Virtualization </vt:lpstr>
      <vt:lpstr>Towards NPU Virtualization </vt:lpstr>
      <vt:lpstr>Towards NPU Virtualization </vt:lpstr>
      <vt:lpstr>Towards NPU Virtualization </vt:lpstr>
      <vt:lpstr>Towards NPU Virtualization 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52</cp:revision>
  <dcterms:created xsi:type="dcterms:W3CDTF">2026-01-13T17:15:40Z</dcterms:created>
  <dcterms:modified xsi:type="dcterms:W3CDTF">2026-01-22T04:38:50Z</dcterms:modified>
</cp:coreProperties>
</file>
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5" r:id="rId18"/>
    <p:sldId id="276" r:id="rId19"/>
    <p:sldId id="277" r:id="rId20"/>
    <p:sldId id="278" r:id="rId21"/>
    <p:sldId id="279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DEE2D-E336-4D30-B8D7-601DA2AFCDC9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B7498-6C32-49D0-9D98-F2B783EA5A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645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B7498-6C32-49D0-9D98-F2B783EA5AE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724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B7498-6C32-49D0-9D98-F2B783EA5A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52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B7498-6C32-49D0-9D98-F2B783EA5A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222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B7498-6C32-49D0-9D98-F2B783EA5A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59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7566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19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37183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09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34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8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025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5367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021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582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4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9B46074-5774-454B-816B-0AD1CEE71A4D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ADEDC39-0B84-4A8E-97DA-7FBA1D0AD48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25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3629C-D265-5DE0-2CF1-F3D836DB2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TPU_v4 </a:t>
            </a:r>
            <a:r>
              <a:rPr lang="ko-KR" altLang="en-US" dirty="0"/>
              <a:t>논문 리뷰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F4D0E4-FC9A-BEE0-795F-C311A08422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26/01/07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352645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2F6EBE6-57CE-595D-A2E7-191B9F52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DAD53E-7B34-162B-0A6E-BB823228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Abstract</a:t>
            </a:r>
          </a:p>
          <a:p>
            <a:r>
              <a:rPr lang="en-US" altLang="ko-KR" sz="1800" dirty="0"/>
              <a:t>2. Introduction</a:t>
            </a:r>
          </a:p>
          <a:p>
            <a:r>
              <a:rPr lang="en-US" altLang="ko-KR" sz="1800" dirty="0"/>
              <a:t>3. TPU</a:t>
            </a:r>
            <a:r>
              <a:rPr lang="ko-KR" altLang="en-US" sz="1800" dirty="0"/>
              <a:t> </a:t>
            </a:r>
            <a:r>
              <a:rPr lang="en-US" altLang="ko-KR" sz="1800" dirty="0"/>
              <a:t>v1</a:t>
            </a:r>
          </a:p>
          <a:p>
            <a:r>
              <a:rPr lang="en-US" altLang="ko-KR" sz="1800" dirty="0"/>
              <a:t>4. Optical Circuit Switching</a:t>
            </a:r>
          </a:p>
          <a:p>
            <a:r>
              <a:rPr lang="en-US" altLang="ko-KR" sz="1800" dirty="0"/>
              <a:t>5. </a:t>
            </a:r>
            <a:r>
              <a:rPr lang="en-US" altLang="ko-KR" sz="1800" dirty="0" err="1"/>
              <a:t>SparseCore</a:t>
            </a:r>
            <a:endParaRPr lang="en-US" altLang="ko-KR" sz="1800" dirty="0"/>
          </a:p>
          <a:p>
            <a:r>
              <a:rPr lang="en-US" altLang="ko-KR" sz="1800" dirty="0"/>
              <a:t>6. TPU </a:t>
            </a:r>
            <a:r>
              <a:rPr lang="ko-KR" altLang="en-US" sz="1800" dirty="0"/>
              <a:t>관련 지표</a:t>
            </a:r>
            <a:endParaRPr lang="en-US" altLang="ko-KR" sz="1800" dirty="0"/>
          </a:p>
          <a:p>
            <a:r>
              <a:rPr lang="en-US" altLang="ko-KR" sz="1800" dirty="0"/>
              <a:t>7. Summary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7757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A687D2-4E33-FC75-A8A1-4BABAC4F2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Abstract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8A14C8-174E-A4DE-23AC-27CF3F48E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5982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6BE3B-A95C-683C-6F40-6BCB04782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471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480E23-6B90-8F8B-2A64-34060F0BF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36970"/>
            <a:ext cx="9601200" cy="4330430"/>
          </a:xfrm>
        </p:spPr>
        <p:txBody>
          <a:bodyPr/>
          <a:lstStyle/>
          <a:p>
            <a:r>
              <a:rPr lang="en-US" altLang="ko-KR" dirty="0"/>
              <a:t>TPU v4: </a:t>
            </a:r>
            <a:r>
              <a:rPr lang="ko-KR" altLang="en-US" dirty="0"/>
              <a:t>구글의 다섯 번째 </a:t>
            </a:r>
            <a:r>
              <a:rPr lang="en-US" altLang="ko-KR" dirty="0"/>
              <a:t>DSA</a:t>
            </a:r>
            <a:r>
              <a:rPr lang="ko-KR" altLang="en-US" dirty="0"/>
              <a:t>이자</a:t>
            </a:r>
            <a:r>
              <a:rPr lang="en-US" altLang="ko-KR" dirty="0"/>
              <a:t> </a:t>
            </a:r>
            <a:r>
              <a:rPr lang="ko-KR" altLang="en-US" dirty="0"/>
              <a:t>이러한 </a:t>
            </a:r>
            <a:r>
              <a:rPr lang="en-US" altLang="ko-KR" dirty="0"/>
              <a:t>ML </a:t>
            </a:r>
            <a:r>
              <a:rPr lang="ko-KR" altLang="en-US" dirty="0"/>
              <a:t>모델을 위한 세 번째 슈퍼컴퓨터</a:t>
            </a:r>
            <a:endParaRPr lang="en-US" altLang="ko-KR" dirty="0"/>
          </a:p>
          <a:p>
            <a:r>
              <a:rPr lang="ko-KR" altLang="en-US" dirty="0"/>
              <a:t>광학 회로 스위치</a:t>
            </a:r>
            <a:r>
              <a:rPr lang="en-US" altLang="ko-KR" dirty="0"/>
              <a:t>(OCS)</a:t>
            </a:r>
            <a:r>
              <a:rPr lang="ko-KR" altLang="en-US" dirty="0"/>
              <a:t>의 도입 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동적 재구성</a:t>
            </a:r>
            <a:br>
              <a:rPr lang="en-US" altLang="ko-KR" dirty="0"/>
            </a:br>
            <a:r>
              <a:rPr lang="en-US" altLang="ko-KR" dirty="0"/>
              <a:t>2. Twisted 3D Torus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비용 및 전력 효율</a:t>
            </a:r>
            <a:endParaRPr lang="en-US" altLang="ko-KR" dirty="0"/>
          </a:p>
          <a:p>
            <a:r>
              <a:rPr lang="ko-KR" altLang="en-US" dirty="0" err="1"/>
              <a:t>임베딩</a:t>
            </a:r>
            <a:r>
              <a:rPr lang="ko-KR" altLang="en-US" dirty="0"/>
              <a:t> 가속기</a:t>
            </a:r>
            <a:r>
              <a:rPr lang="en-US" altLang="ko-KR" dirty="0"/>
              <a:t>: </a:t>
            </a:r>
            <a:r>
              <a:rPr lang="ko-KR" altLang="en-US" dirty="0" err="1"/>
              <a:t>스파스코어</a:t>
            </a:r>
            <a:r>
              <a:rPr lang="en-US" altLang="ko-KR" dirty="0"/>
              <a:t>(</a:t>
            </a:r>
            <a:r>
              <a:rPr lang="en-US" altLang="ko-KR" dirty="0" err="1"/>
              <a:t>SparseCore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거대한 </a:t>
            </a:r>
            <a:r>
              <a:rPr lang="ko-KR" altLang="en-US" dirty="0" err="1"/>
              <a:t>시스템으로서의</a:t>
            </a:r>
            <a:r>
              <a:rPr lang="ko-KR" altLang="en-US" dirty="0"/>
              <a:t> 성능 극대화</a:t>
            </a:r>
            <a:endParaRPr lang="en-US" altLang="ko-KR" dirty="0"/>
          </a:p>
          <a:p>
            <a:r>
              <a:rPr lang="ko-KR" altLang="en-US" dirty="0"/>
              <a:t>경쟁 모델과의 비교</a:t>
            </a:r>
            <a:br>
              <a:rPr lang="en-US" altLang="ko-KR" dirty="0"/>
            </a:br>
            <a:r>
              <a:rPr lang="en-US" altLang="ko-KR" dirty="0"/>
              <a:t>Nvidia A100 </a:t>
            </a:r>
            <a:r>
              <a:rPr lang="ko-KR" altLang="en-US" dirty="0"/>
              <a:t>대비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1.2~1.7</a:t>
            </a:r>
            <a:r>
              <a:rPr lang="ko-KR" altLang="en-US" dirty="0"/>
              <a:t>배 빠르고</a:t>
            </a:r>
            <a:r>
              <a:rPr lang="en-US" altLang="ko-KR" dirty="0"/>
              <a:t>, 1.3</a:t>
            </a:r>
            <a:r>
              <a:rPr lang="ko-KR" altLang="en-US" dirty="0"/>
              <a:t>배</a:t>
            </a:r>
            <a:r>
              <a:rPr lang="en-US" altLang="ko-KR" dirty="0"/>
              <a:t>~1.9</a:t>
            </a:r>
            <a:r>
              <a:rPr lang="ko-KR" altLang="en-US" dirty="0"/>
              <a:t>배 전력 소모 적음</a:t>
            </a:r>
            <a:br>
              <a:rPr lang="en-US" altLang="ko-KR" dirty="0"/>
            </a:br>
            <a:r>
              <a:rPr lang="en-US" altLang="ko-KR" dirty="0" err="1"/>
              <a:t>Graphcore</a:t>
            </a:r>
            <a:r>
              <a:rPr lang="en-US" altLang="ko-KR" dirty="0"/>
              <a:t> IPU Bow </a:t>
            </a:r>
            <a:r>
              <a:rPr lang="ko-KR" altLang="en-US" dirty="0"/>
              <a:t>대비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4.3</a:t>
            </a:r>
            <a:r>
              <a:rPr lang="ko-KR" altLang="en-US" dirty="0"/>
              <a:t>배</a:t>
            </a:r>
            <a:r>
              <a:rPr lang="en-US" altLang="ko-KR" dirty="0"/>
              <a:t>~4.5</a:t>
            </a:r>
            <a:r>
              <a:rPr lang="ko-KR" altLang="en-US" dirty="0"/>
              <a:t>배 더 빠른 성능</a:t>
            </a:r>
            <a:endParaRPr lang="en-US" altLang="ko-KR" dirty="0"/>
          </a:p>
          <a:p>
            <a:r>
              <a:rPr lang="ko-KR" altLang="en-US" dirty="0"/>
              <a:t>친환경 및 에너지 효율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438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D35C9F-CC93-78F2-0E48-63DF33889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Introduction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CA63F-3425-80E4-FBA8-1B241225C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217262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61608-1C02-3CE3-BDA0-87FD9B923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1947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4FEE0-B9AA-0568-5C76-63718107C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7747"/>
            <a:ext cx="9601200" cy="4439653"/>
          </a:xfrm>
        </p:spPr>
        <p:txBody>
          <a:bodyPr/>
          <a:lstStyle/>
          <a:p>
            <a:r>
              <a:rPr lang="en-US" altLang="ko-KR" dirty="0"/>
              <a:t>TPU</a:t>
            </a:r>
            <a:r>
              <a:rPr lang="ko-KR" altLang="en-US" dirty="0"/>
              <a:t>의 세가지 주요 기능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광학 회로 스위치</a:t>
            </a:r>
            <a:r>
              <a:rPr lang="en-US" altLang="ko-KR" dirty="0"/>
              <a:t>(OCS) </a:t>
            </a:r>
            <a:r>
              <a:rPr lang="ko-KR" altLang="en-US" dirty="0"/>
              <a:t>도입</a:t>
            </a:r>
            <a:br>
              <a:rPr lang="en-US" altLang="ko-KR" dirty="0"/>
            </a:br>
            <a:r>
              <a:rPr lang="en-US" altLang="ko-KR" dirty="0"/>
              <a:t>2. DLRM</a:t>
            </a:r>
            <a:r>
              <a:rPr lang="ko-KR" altLang="en-US" dirty="0"/>
              <a:t>의 </a:t>
            </a:r>
            <a:r>
              <a:rPr lang="ko-KR" altLang="en-US" dirty="0" err="1"/>
              <a:t>임베딩에</a:t>
            </a:r>
            <a:r>
              <a:rPr lang="ko-KR" altLang="en-US" dirty="0"/>
              <a:t> 대한 하드웨어 지원</a:t>
            </a:r>
            <a:r>
              <a:rPr lang="en-US" altLang="ko-KR" dirty="0"/>
              <a:t>(</a:t>
            </a:r>
            <a:r>
              <a:rPr lang="en-US" altLang="ko-KR" dirty="0" err="1"/>
              <a:t>SparseCore</a:t>
            </a:r>
            <a:r>
              <a:rPr lang="en-US" altLang="ko-KR" dirty="0"/>
              <a:t>) </a:t>
            </a:r>
            <a:r>
              <a:rPr lang="ko-KR" altLang="en-US" dirty="0"/>
              <a:t>공개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위 두 기능을 결합한 </a:t>
            </a:r>
            <a:r>
              <a:rPr lang="en-US" altLang="ko-KR" dirty="0"/>
              <a:t>all-to-all </a:t>
            </a:r>
            <a:r>
              <a:rPr lang="ko-KR" altLang="en-US" dirty="0"/>
              <a:t>통신 패턴 추가</a:t>
            </a:r>
            <a:endParaRPr lang="en-US" altLang="ko-KR" dirty="0"/>
          </a:p>
          <a:p>
            <a:r>
              <a:rPr lang="ko-KR" altLang="en-US" dirty="0"/>
              <a:t>최근 </a:t>
            </a:r>
            <a:r>
              <a:rPr lang="en-US" altLang="ko-KR" dirty="0"/>
              <a:t>LLM</a:t>
            </a:r>
            <a:r>
              <a:rPr lang="ko-KR" altLang="en-US" dirty="0"/>
              <a:t>의 규모는 기존 </a:t>
            </a:r>
            <a:r>
              <a:rPr lang="en-US" altLang="ko-KR" dirty="0"/>
              <a:t>ML </a:t>
            </a:r>
            <a:r>
              <a:rPr lang="ko-KR" altLang="en-US" dirty="0"/>
              <a:t>슈퍼컴퓨터 규모를 </a:t>
            </a:r>
            <a:r>
              <a:rPr lang="en-US" altLang="ko-KR" dirty="0"/>
              <a:t>256</a:t>
            </a:r>
            <a:r>
              <a:rPr lang="ko-KR" altLang="en-US" dirty="0"/>
              <a:t>개</a:t>
            </a:r>
            <a:r>
              <a:rPr lang="en-US" altLang="ko-KR" dirty="0"/>
              <a:t>(TPU v2)</a:t>
            </a:r>
            <a:r>
              <a:rPr lang="ko-KR" altLang="en-US" dirty="0"/>
              <a:t> 노드에서 </a:t>
            </a:r>
            <a:r>
              <a:rPr lang="en-US" altLang="ko-KR" dirty="0"/>
              <a:t>4096</a:t>
            </a:r>
            <a:r>
              <a:rPr lang="ko-KR" altLang="en-US" dirty="0"/>
              <a:t>개</a:t>
            </a:r>
            <a:r>
              <a:rPr lang="en-US" altLang="ko-KR" dirty="0"/>
              <a:t>(TPU v4)</a:t>
            </a:r>
            <a:r>
              <a:rPr lang="ko-KR" altLang="en-US" dirty="0"/>
              <a:t> 노드로 </a:t>
            </a:r>
            <a:r>
              <a:rPr lang="ko-KR" altLang="en-US" dirty="0" err="1"/>
              <a:t>확장시킨다</a:t>
            </a:r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6419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AAA70B0-F109-7772-BBFE-F7ED6D8E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TPU</a:t>
            </a:r>
            <a:r>
              <a:rPr lang="ko-KR" altLang="en-US" sz="5400" dirty="0">
                <a:solidFill>
                  <a:schemeClr val="bg2"/>
                </a:solidFill>
              </a:rPr>
              <a:t> </a:t>
            </a:r>
            <a:r>
              <a:rPr lang="en-US" altLang="ko-KR" sz="5400" dirty="0">
                <a:solidFill>
                  <a:schemeClr val="bg2"/>
                </a:solidFill>
              </a:rPr>
              <a:t>v1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80D76E-FDCE-92DC-6009-77915A82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78244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2CCFE-43BF-16D8-44B6-129DE418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6116"/>
          </a:xfrm>
        </p:spPr>
        <p:txBody>
          <a:bodyPr/>
          <a:lstStyle/>
          <a:p>
            <a:r>
              <a:rPr lang="en-US" altLang="ko-KR" dirty="0"/>
              <a:t>TPU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0A6D3-78B8-BF16-36AE-3F8875D2C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91916"/>
            <a:ext cx="9601200" cy="4375484"/>
          </a:xfrm>
        </p:spPr>
        <p:txBody>
          <a:bodyPr/>
          <a:lstStyle/>
          <a:p>
            <a:r>
              <a:rPr lang="en-US" altLang="ko-KR" dirty="0"/>
              <a:t>DNN </a:t>
            </a:r>
            <a:r>
              <a:rPr lang="ko-KR" altLang="en-US" dirty="0"/>
              <a:t>기술의 발전으로 다양한 서비스들이 발전했는데 이로 인해 엄청난 계산 능력이 필요해짐 </a:t>
            </a:r>
            <a:r>
              <a:rPr lang="en-US" altLang="ko-KR" dirty="0"/>
              <a:t>-&gt; </a:t>
            </a:r>
            <a:r>
              <a:rPr lang="ko-KR" altLang="en-US" dirty="0"/>
              <a:t>기존 </a:t>
            </a:r>
            <a:r>
              <a:rPr lang="en-US" altLang="ko-KR" dirty="0"/>
              <a:t>CPU</a:t>
            </a:r>
            <a:r>
              <a:rPr lang="ko-KR" altLang="en-US" dirty="0"/>
              <a:t>나 </a:t>
            </a:r>
            <a:r>
              <a:rPr lang="en-US" altLang="ko-KR" dirty="0"/>
              <a:t>GPU</a:t>
            </a:r>
            <a:r>
              <a:rPr lang="ko-KR" altLang="en-US" dirty="0"/>
              <a:t>로는 비용과 전력 효율 면에서 한계 있음</a:t>
            </a:r>
            <a:br>
              <a:rPr lang="en-US" altLang="ko-KR" dirty="0"/>
            </a:br>
            <a:r>
              <a:rPr lang="en-US" altLang="ko-KR" dirty="0"/>
              <a:t>-&gt; ‘</a:t>
            </a:r>
            <a:r>
              <a:rPr lang="ko-KR" altLang="en-US" dirty="0"/>
              <a:t>신경망 전용</a:t>
            </a:r>
            <a:r>
              <a:rPr lang="en-US" altLang="ko-KR" dirty="0"/>
              <a:t>＇</a:t>
            </a:r>
            <a:r>
              <a:rPr lang="ko-KR" altLang="en-US" dirty="0"/>
              <a:t>하드웨어 필요해짐</a:t>
            </a:r>
            <a:endParaRPr lang="en-US" altLang="ko-KR" dirty="0"/>
          </a:p>
          <a:p>
            <a:r>
              <a:rPr lang="en-US" altLang="ko-KR" dirty="0"/>
              <a:t>TPU</a:t>
            </a:r>
            <a:r>
              <a:rPr lang="ko-KR" altLang="en-US" dirty="0"/>
              <a:t>는 구글이 신경만 추론 연산이라는 특정 작업을 가속화하기 위해 설계한 맞춤형 칩인 </a:t>
            </a:r>
            <a:r>
              <a:rPr lang="en-US" altLang="ko-KR" dirty="0"/>
              <a:t>ASIC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665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0F7A-A53A-06A4-E183-D27D9015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136AE-B83F-44B7-4978-084DC1BD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72440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TPU</a:t>
            </a:r>
            <a:r>
              <a:rPr lang="ko-KR" altLang="en-US" dirty="0"/>
              <a:t> 구조</a:t>
            </a:r>
            <a:r>
              <a:rPr lang="en-US" altLang="ko-KR" dirty="0"/>
              <a:t>(Interface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02B2A1-0480-562E-B155-81189C51B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428" y="1780674"/>
            <a:ext cx="3659866" cy="4086726"/>
          </a:xfrm>
        </p:spPr>
        <p:txBody>
          <a:bodyPr>
            <a:normAutofit/>
          </a:bodyPr>
          <a:lstStyle/>
          <a:p>
            <a:r>
              <a:rPr lang="en-US" altLang="ko-KR" dirty="0"/>
              <a:t>Host Interface: TPU</a:t>
            </a:r>
            <a:r>
              <a:rPr lang="ko-KR" altLang="en-US" dirty="0"/>
              <a:t>가 서버의 호스트 </a:t>
            </a:r>
            <a:r>
              <a:rPr lang="en-US" altLang="ko-KR" dirty="0"/>
              <a:t>CPU</a:t>
            </a:r>
            <a:r>
              <a:rPr lang="ko-KR" altLang="en-US" dirty="0"/>
              <a:t>와 소통하는 통로</a:t>
            </a:r>
            <a:r>
              <a:rPr lang="en-US" altLang="ko-KR" dirty="0"/>
              <a:t>(</a:t>
            </a:r>
            <a:r>
              <a:rPr lang="en-US" altLang="ko-KR" dirty="0" err="1"/>
              <a:t>Pcle</a:t>
            </a:r>
            <a:r>
              <a:rPr lang="en-US" altLang="ko-KR" dirty="0"/>
              <a:t> </a:t>
            </a:r>
            <a:r>
              <a:rPr lang="ko-KR" altLang="en-US" dirty="0"/>
              <a:t>버스를 통해 명령어를 전달받고 연산할 데이터 주고받음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DMA Controller(Host Interface </a:t>
            </a:r>
            <a:r>
              <a:rPr lang="ko-KR" altLang="en-US" dirty="0"/>
              <a:t>내부</a:t>
            </a:r>
            <a:r>
              <a:rPr lang="en-US" altLang="ko-KR" dirty="0"/>
              <a:t>): CPU </a:t>
            </a:r>
            <a:r>
              <a:rPr lang="ko-KR" altLang="en-US" dirty="0"/>
              <a:t>간섭 없이 호스트 메모리와 </a:t>
            </a:r>
            <a:r>
              <a:rPr lang="en-US" altLang="ko-KR" dirty="0"/>
              <a:t>Unified Buffer </a:t>
            </a:r>
            <a:r>
              <a:rPr lang="ko-KR" altLang="en-US" dirty="0"/>
              <a:t>사이에서 데이터를 직접 전송하여 전송 속도 높임</a:t>
            </a: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8011BB-4D31-4945-7D05-5098A119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67" y="2038883"/>
            <a:ext cx="6517065" cy="24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04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549DE-F6A8-0BF8-5811-E0E43621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875AA-5250-E30C-F112-D7A6B03C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6392779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TPU</a:t>
            </a:r>
            <a:r>
              <a:rPr lang="ko-KR" altLang="en-US" dirty="0"/>
              <a:t> 구조</a:t>
            </a:r>
            <a:r>
              <a:rPr lang="en-US" altLang="ko-KR" dirty="0"/>
              <a:t>(Memory System)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AF37C-6E03-897C-1944-CE1DC2AFB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428" y="1780674"/>
            <a:ext cx="3659866" cy="4086726"/>
          </a:xfrm>
        </p:spPr>
        <p:txBody>
          <a:bodyPr>
            <a:normAutofit/>
          </a:bodyPr>
          <a:lstStyle/>
          <a:p>
            <a:r>
              <a:rPr lang="en-US" altLang="ko-KR" dirty="0"/>
              <a:t>Unified Buffer: SRAM, </a:t>
            </a:r>
            <a:r>
              <a:rPr lang="ko-KR" altLang="en-US" dirty="0"/>
              <a:t>신경망의 입력 데이터 저장</a:t>
            </a:r>
            <a:endParaRPr lang="en-US" altLang="ko-KR" dirty="0"/>
          </a:p>
          <a:p>
            <a:r>
              <a:rPr lang="en-US" altLang="ko-KR" dirty="0"/>
              <a:t>Weight Memory(DDR3): </a:t>
            </a:r>
            <a:r>
              <a:rPr lang="ko-KR" altLang="en-US" dirty="0"/>
              <a:t>칩 외부에 위치한 메모리</a:t>
            </a:r>
            <a:r>
              <a:rPr lang="en-US" altLang="ko-KR" dirty="0"/>
              <a:t>, </a:t>
            </a:r>
            <a:r>
              <a:rPr lang="ko-KR" altLang="en-US" dirty="0"/>
              <a:t>신경망의 가중치 저장</a:t>
            </a:r>
            <a:endParaRPr lang="en-US" altLang="ko-KR" dirty="0"/>
          </a:p>
          <a:p>
            <a:r>
              <a:rPr lang="en-US" altLang="ko-KR" dirty="0"/>
              <a:t>Weight FIFO: </a:t>
            </a:r>
            <a:r>
              <a:rPr lang="ko-KR" altLang="en-US" dirty="0"/>
              <a:t>외부 </a:t>
            </a:r>
            <a:r>
              <a:rPr lang="en-US" altLang="ko-KR" dirty="0"/>
              <a:t>DDR3 </a:t>
            </a:r>
            <a:r>
              <a:rPr lang="ko-KR" altLang="en-US" dirty="0"/>
              <a:t>메모리에서 읽어온 가중치를 </a:t>
            </a:r>
            <a:r>
              <a:rPr lang="en-US" altLang="ko-KR" dirty="0"/>
              <a:t>MMU</a:t>
            </a:r>
            <a:r>
              <a:rPr lang="ko-KR" altLang="en-US" dirty="0"/>
              <a:t>에 전달하기 전에 임시로 보관하는 버퍼</a:t>
            </a: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21FC4F-1C71-5957-15F0-3A67F55B7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67" y="2038883"/>
            <a:ext cx="6517065" cy="24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4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0FDBD-8EE5-B7DA-6A11-F7EE4DD8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AE496-1D1F-D05B-6801-05BF6AAE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831305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TPU</a:t>
            </a:r>
            <a:r>
              <a:rPr lang="ko-KR" altLang="en-US" dirty="0"/>
              <a:t> 구조</a:t>
            </a:r>
            <a:r>
              <a:rPr lang="en-US" altLang="ko-KR" dirty="0"/>
              <a:t>(Compute Unit)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B32C91-4EC2-B3A0-CC73-200E8F634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428" y="1780674"/>
            <a:ext cx="3659866" cy="4636168"/>
          </a:xfrm>
        </p:spPr>
        <p:txBody>
          <a:bodyPr>
            <a:normAutofit/>
          </a:bodyPr>
          <a:lstStyle/>
          <a:p>
            <a:r>
              <a:rPr lang="en-US" altLang="ko-KR" dirty="0"/>
              <a:t>Matrix Multiply Unit(MMU):</a:t>
            </a:r>
            <a:br>
              <a:rPr lang="en-US" altLang="ko-KR" dirty="0"/>
            </a:br>
            <a:r>
              <a:rPr lang="en-US" altLang="ko-KR" dirty="0"/>
              <a:t>TPU</a:t>
            </a:r>
            <a:r>
              <a:rPr lang="ko-KR" altLang="en-US" dirty="0"/>
              <a:t>의 가장 중요한 부분으로</a:t>
            </a:r>
            <a:r>
              <a:rPr lang="en-US" altLang="ko-KR" dirty="0"/>
              <a:t>, Buffer</a:t>
            </a:r>
            <a:r>
              <a:rPr lang="ko-KR" altLang="en-US" dirty="0"/>
              <a:t>의 </a:t>
            </a:r>
            <a:r>
              <a:rPr lang="ko-KR" altLang="en-US" dirty="0" err="1"/>
              <a:t>입력값과</a:t>
            </a:r>
            <a:r>
              <a:rPr lang="ko-KR" altLang="en-US" dirty="0"/>
              <a:t> </a:t>
            </a:r>
            <a:r>
              <a:rPr lang="en-US" altLang="ko-KR" dirty="0"/>
              <a:t>FIFO</a:t>
            </a:r>
            <a:r>
              <a:rPr lang="ko-KR" altLang="en-US" dirty="0"/>
              <a:t>의 가중치가 만나서 행렬 곱셈이 일어나는 곳</a:t>
            </a:r>
            <a:endParaRPr lang="en-US" altLang="ko-KR" dirty="0"/>
          </a:p>
          <a:p>
            <a:r>
              <a:rPr lang="en-US" altLang="ko-KR" dirty="0"/>
              <a:t>Accumulator: MMU</a:t>
            </a:r>
            <a:r>
              <a:rPr lang="ko-KR" altLang="en-US" dirty="0"/>
              <a:t>에서 계산된 </a:t>
            </a:r>
            <a:r>
              <a:rPr lang="en-US" altLang="ko-KR" dirty="0"/>
              <a:t>16</a:t>
            </a:r>
            <a:r>
              <a:rPr lang="ko-KR" altLang="en-US" dirty="0"/>
              <a:t>비트 결과값들을 더해서 </a:t>
            </a:r>
            <a:r>
              <a:rPr lang="en-US" altLang="ko-KR" dirty="0"/>
              <a:t>32</a:t>
            </a:r>
            <a:r>
              <a:rPr lang="ko-KR" altLang="en-US" dirty="0"/>
              <a:t>비트 정밀도로 저장하는 공간</a:t>
            </a:r>
            <a:endParaRPr lang="en-US" altLang="ko-KR" dirty="0"/>
          </a:p>
          <a:p>
            <a:r>
              <a:rPr lang="en-US" altLang="ko-KR" dirty="0"/>
              <a:t>Activation Unit: Accumulator</a:t>
            </a:r>
            <a:r>
              <a:rPr lang="ko-KR" altLang="en-US" dirty="0"/>
              <a:t>에 저장된 결과값에 </a:t>
            </a:r>
            <a:r>
              <a:rPr lang="en-US" altLang="ko-KR" dirty="0" err="1"/>
              <a:t>ReLU</a:t>
            </a:r>
            <a:r>
              <a:rPr lang="en-US" altLang="ko-KR" dirty="0"/>
              <a:t>, Sigmoid</a:t>
            </a:r>
            <a:r>
              <a:rPr lang="ko-KR" altLang="en-US" dirty="0"/>
              <a:t>와 같은 비선형 함수를 적용하는 곳</a:t>
            </a:r>
          </a:p>
        </p:txBody>
      </p:sp>
      <p:pic>
        <p:nvPicPr>
          <p:cNvPr id="7" name="그림 6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912C41-87E4-3BDC-0CB5-43ADC7B64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67" y="2038883"/>
            <a:ext cx="6517065" cy="24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02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A47E-F447-0EE9-794B-C2CE1A85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81211-6B5E-B050-C075-E4F5576A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531895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TPU</a:t>
            </a:r>
            <a:r>
              <a:rPr lang="ko-KR" altLang="en-US" dirty="0"/>
              <a:t> 구조</a:t>
            </a:r>
            <a:r>
              <a:rPr lang="en-US" altLang="ko-KR" dirty="0"/>
              <a:t>(Control)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8D1479-4393-E20F-EB4B-7964AC248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428" y="1780674"/>
            <a:ext cx="3659866" cy="4086726"/>
          </a:xfrm>
        </p:spPr>
        <p:txBody>
          <a:bodyPr>
            <a:normAutofit/>
          </a:bodyPr>
          <a:lstStyle/>
          <a:p>
            <a:r>
              <a:rPr lang="en-US" altLang="ko-KR" dirty="0"/>
              <a:t>Control Unit: </a:t>
            </a:r>
            <a:r>
              <a:rPr lang="ko-KR" altLang="en-US" dirty="0"/>
              <a:t>호스트 </a:t>
            </a:r>
            <a:r>
              <a:rPr lang="en-US" altLang="ko-KR" dirty="0"/>
              <a:t>CPU</a:t>
            </a:r>
            <a:r>
              <a:rPr lang="ko-KR" altLang="en-US" dirty="0"/>
              <a:t>로부터 받은 </a:t>
            </a:r>
            <a:r>
              <a:rPr lang="en-US" altLang="ko-KR" dirty="0"/>
              <a:t>CISC </a:t>
            </a:r>
            <a:r>
              <a:rPr lang="ko-KR" altLang="en-US" dirty="0"/>
              <a:t>명령어를 해석하여 각 유닛에 동작 신호 보냄</a:t>
            </a: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B16D96-EB2B-5C5B-E731-552894544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67" y="2038883"/>
            <a:ext cx="6517065" cy="24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049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06B5FB-06A1-38D6-A4D2-8CFCD2EA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Optical Circuit Switching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714038-F26C-6A59-F17A-AC36E3FB3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34469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>
            <a:extLst>
              <a:ext uri="{FF2B5EF4-FFF2-40B4-BE49-F238E27FC236}">
                <a16:creationId xmlns:a16="http://schemas.microsoft.com/office/drawing/2014/main" id="{9A204626-2220-4678-A939-FD94EA7B5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AC21D7-9142-1B4E-B128-A51873D3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958837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Optical Circuit Switching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DE167-982C-E34D-40C5-0B3A4519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1780674"/>
            <a:ext cx="6386078" cy="4086726"/>
          </a:xfrm>
        </p:spPr>
        <p:txBody>
          <a:bodyPr>
            <a:normAutofit/>
          </a:bodyPr>
          <a:lstStyle/>
          <a:p>
            <a:r>
              <a:rPr lang="ko-KR" altLang="en-US" dirty="0"/>
              <a:t>도입 배경</a:t>
            </a:r>
            <a:br>
              <a:rPr lang="en-US" altLang="ko-KR" dirty="0"/>
            </a:br>
            <a:r>
              <a:rPr lang="ko-KR" altLang="en-US" dirty="0"/>
              <a:t>기존 </a:t>
            </a:r>
            <a:r>
              <a:rPr lang="en-US" altLang="ko-KR" dirty="0"/>
              <a:t>TPU v3</a:t>
            </a:r>
            <a:r>
              <a:rPr lang="ko-KR" altLang="en-US" dirty="0"/>
              <a:t>는 </a:t>
            </a:r>
            <a:r>
              <a:rPr lang="en-US" altLang="ko-KR" dirty="0"/>
              <a:t>2D </a:t>
            </a:r>
            <a:r>
              <a:rPr lang="ko-KR" altLang="en-US" dirty="0" err="1"/>
              <a:t>토러스</a:t>
            </a:r>
            <a:r>
              <a:rPr lang="ko-KR" altLang="en-US" dirty="0"/>
              <a:t> 구조를 사용했는데</a:t>
            </a:r>
            <a:r>
              <a:rPr lang="en-US" altLang="ko-KR" dirty="0"/>
              <a:t>, </a:t>
            </a:r>
            <a:r>
              <a:rPr lang="ko-KR" altLang="en-US" dirty="0"/>
              <a:t>시스템 규모를 </a:t>
            </a:r>
            <a:r>
              <a:rPr lang="en-US" altLang="ko-KR" dirty="0"/>
              <a:t>4</a:t>
            </a:r>
            <a:r>
              <a:rPr lang="ko-KR" altLang="en-US" dirty="0"/>
              <a:t>배로 키우면서 비용</a:t>
            </a:r>
            <a:r>
              <a:rPr lang="en-US" altLang="ko-KR" dirty="0"/>
              <a:t>/</a:t>
            </a:r>
            <a:r>
              <a:rPr lang="ko-KR" altLang="en-US" dirty="0"/>
              <a:t>가용성 문제가 생김</a:t>
            </a:r>
            <a:endParaRPr lang="en-US" altLang="ko-KR" dirty="0"/>
          </a:p>
          <a:p>
            <a:r>
              <a:rPr lang="en-US" altLang="ko-KR" dirty="0"/>
              <a:t>3D </a:t>
            </a:r>
            <a:r>
              <a:rPr lang="ko-KR" altLang="en-US" dirty="0" err="1"/>
              <a:t>토러스</a:t>
            </a:r>
            <a:r>
              <a:rPr lang="ko-KR" altLang="en-US" dirty="0"/>
              <a:t> 구조를 채택하여 통로를 넓히고</a:t>
            </a:r>
            <a:r>
              <a:rPr lang="en-US" altLang="ko-KR" dirty="0"/>
              <a:t>, OCS</a:t>
            </a:r>
            <a:r>
              <a:rPr lang="ko-KR" altLang="en-US" dirty="0"/>
              <a:t>를 도입하여 고장 난 칩을 소프트웨어로 즉시 건너뛰게 할 수 있게 </a:t>
            </a:r>
            <a:r>
              <a:rPr lang="ko-KR" altLang="en-US" dirty="0" err="1"/>
              <a:t>만듬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2D </a:t>
            </a:r>
            <a:r>
              <a:rPr lang="ko-KR" altLang="ko-KR" dirty="0" err="1"/>
              <a:t>토러스</a:t>
            </a:r>
            <a:r>
              <a:rPr lang="en-US" altLang="ko-KR" dirty="0"/>
              <a:t> vs 3D </a:t>
            </a:r>
            <a:r>
              <a:rPr lang="ko-KR" altLang="ko-KR" dirty="0" err="1"/>
              <a:t>토러스</a:t>
            </a:r>
            <a:r>
              <a:rPr lang="en-US" altLang="ko-KR" dirty="0"/>
              <a:t> (Bisection Bandwidth)</a:t>
            </a:r>
            <a:br>
              <a:rPr lang="en-US" altLang="ko-KR" dirty="0"/>
            </a:br>
            <a:r>
              <a:rPr lang="en-US" altLang="ko-KR" dirty="0"/>
              <a:t>2D(</a:t>
            </a:r>
            <a:r>
              <a:rPr lang="ko-KR" altLang="ko-KR" dirty="0"/>
              <a:t>가로</a:t>
            </a:r>
            <a:r>
              <a:rPr lang="en-US" altLang="ko-KR" dirty="0"/>
              <a:t>, </a:t>
            </a:r>
            <a:r>
              <a:rPr lang="ko-KR" altLang="ko-KR" dirty="0"/>
              <a:t>세로</a:t>
            </a:r>
            <a:r>
              <a:rPr lang="en-US" altLang="ko-KR" dirty="0"/>
              <a:t>)</a:t>
            </a:r>
            <a:r>
              <a:rPr lang="ko-KR" altLang="ko-KR" dirty="0"/>
              <a:t>보다</a:t>
            </a:r>
            <a:r>
              <a:rPr lang="en-US" altLang="ko-KR" dirty="0"/>
              <a:t> 3D(</a:t>
            </a:r>
            <a:r>
              <a:rPr lang="ko-KR" altLang="ko-KR" dirty="0"/>
              <a:t>가로</a:t>
            </a:r>
            <a:r>
              <a:rPr lang="en-US" altLang="ko-KR" dirty="0"/>
              <a:t>, </a:t>
            </a:r>
            <a:r>
              <a:rPr lang="ko-KR" altLang="ko-KR" dirty="0"/>
              <a:t>세로</a:t>
            </a:r>
            <a:r>
              <a:rPr lang="en-US" altLang="ko-KR" dirty="0"/>
              <a:t>, </a:t>
            </a:r>
            <a:r>
              <a:rPr lang="ko-KR" altLang="ko-KR" dirty="0"/>
              <a:t>높이</a:t>
            </a:r>
            <a:r>
              <a:rPr lang="en-US" altLang="ko-KR" dirty="0"/>
              <a:t>) </a:t>
            </a:r>
            <a:r>
              <a:rPr lang="ko-KR" altLang="ko-KR" dirty="0"/>
              <a:t>격자 구조로 연결하면 노드 간의 평균 거리가 짧아지고 이분 대역폭이 크게 늘어납니다</a:t>
            </a:r>
            <a:r>
              <a:rPr lang="en-US" altLang="ko-KR" dirty="0"/>
              <a:t>. </a:t>
            </a:r>
            <a:r>
              <a:rPr lang="ko-KR" altLang="ko-KR" dirty="0"/>
              <a:t>즉</a:t>
            </a:r>
            <a:r>
              <a:rPr lang="en-US" altLang="ko-KR" dirty="0"/>
              <a:t>, </a:t>
            </a:r>
            <a:r>
              <a:rPr lang="ko-KR" altLang="ko-KR" dirty="0"/>
              <a:t>데이터 병목 현상이 줄어들어 대규모 학습 효율이 극대화됩니다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EB97D8A6-1C5A-42B6-AE78-F3D0F9BDF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7" name="그림 6" descr="도표, 평면도, 텍스트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ABD319-8F62-7AE5-0C9A-C7A9BD377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340" y="820261"/>
            <a:ext cx="3299579" cy="52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67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307D-E43A-742E-66B0-85742487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5509D-F228-F972-46EF-27C0DBFB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958837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Optical Circuit Switching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43BA9-EC20-0704-92E1-43C8107A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1780674"/>
            <a:ext cx="6386078" cy="4086726"/>
          </a:xfrm>
        </p:spPr>
        <p:txBody>
          <a:bodyPr>
            <a:normAutofit/>
          </a:bodyPr>
          <a:lstStyle/>
          <a:p>
            <a:r>
              <a:rPr lang="en-US" altLang="ko-KR" dirty="0"/>
              <a:t>OCS</a:t>
            </a:r>
            <a:r>
              <a:rPr lang="ko-KR" altLang="en-US" dirty="0"/>
              <a:t>의 도입</a:t>
            </a:r>
            <a:br>
              <a:rPr lang="en-US" altLang="ko-KR" dirty="0"/>
            </a:br>
            <a:r>
              <a:rPr lang="en-US" altLang="ko-KR" dirty="0"/>
              <a:t>1. OCS</a:t>
            </a:r>
            <a:r>
              <a:rPr lang="ko-KR" altLang="ko-KR" dirty="0"/>
              <a:t>를 사용하면 비싼 광학 부품을 모든 곳에 도배할 필요 없이</a:t>
            </a:r>
            <a:r>
              <a:rPr lang="en-US" altLang="ko-KR" dirty="0"/>
              <a:t>, </a:t>
            </a:r>
            <a:r>
              <a:rPr lang="ko-KR" altLang="ko-KR" dirty="0"/>
              <a:t>필요한 핵심 경로에만 효율적으로 배치할 수 있습니다</a:t>
            </a:r>
            <a:r>
              <a:rPr lang="en-US" altLang="ko-KR" dirty="0"/>
              <a:t>. </a:t>
            </a:r>
            <a:r>
              <a:rPr lang="ko-KR" altLang="ko-KR" dirty="0"/>
              <a:t>이 광학 시스템은 전체 비용의</a:t>
            </a:r>
            <a:r>
              <a:rPr lang="en-US" altLang="ko-KR" dirty="0"/>
              <a:t> 5% </a:t>
            </a:r>
            <a:r>
              <a:rPr lang="ko-KR" altLang="ko-KR" dirty="0"/>
              <a:t>미만으로 억제</a:t>
            </a:r>
            <a:r>
              <a:rPr lang="ko-KR" altLang="en-US" dirty="0"/>
              <a:t>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ko-KR" dirty="0"/>
              <a:t>토폴로지 가변성</a:t>
            </a:r>
            <a:r>
              <a:rPr lang="en-US" altLang="ko-KR" dirty="0"/>
              <a:t>: </a:t>
            </a:r>
            <a:r>
              <a:rPr lang="ko-KR" altLang="ko-KR" dirty="0"/>
              <a:t>사용자는 자신의 모델 특성에 맞춰 네트워크 모양을 최적의 상태</a:t>
            </a:r>
            <a:r>
              <a:rPr lang="en-US" altLang="ko-KR" dirty="0"/>
              <a:t>(</a:t>
            </a:r>
            <a:r>
              <a:rPr lang="ko-KR" altLang="ko-KR" dirty="0"/>
              <a:t>예</a:t>
            </a:r>
            <a:r>
              <a:rPr lang="en-US" altLang="ko-KR" dirty="0"/>
              <a:t>: twisted 3D </a:t>
            </a:r>
            <a:r>
              <a:rPr lang="ko-KR" altLang="ko-KR" dirty="0" err="1"/>
              <a:t>토러스</a:t>
            </a:r>
            <a:r>
              <a:rPr lang="en-US" altLang="ko-KR" dirty="0"/>
              <a:t>)</a:t>
            </a:r>
            <a:r>
              <a:rPr lang="ko-KR" altLang="ko-KR" dirty="0"/>
              <a:t>로 설정할 수 있는 유연성까지 얻</a:t>
            </a:r>
            <a:r>
              <a:rPr lang="ko-KR" altLang="en-US" dirty="0"/>
              <a:t>음</a:t>
            </a:r>
            <a:endParaRPr lang="ko-KR" altLang="ko-KR" dirty="0"/>
          </a:p>
          <a:p>
            <a:endParaRPr lang="ko-KR" altLang="ko-KR" dirty="0"/>
          </a:p>
          <a:p>
            <a:endParaRPr lang="ko-KR" altLang="en-US" dirty="0"/>
          </a:p>
        </p:txBody>
      </p:sp>
      <p:pic>
        <p:nvPicPr>
          <p:cNvPr id="7" name="그림 6" descr="도표, 평면도, 텍스트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0DD3B4-B3BA-8F09-139F-351BDC536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340" y="820261"/>
            <a:ext cx="3299579" cy="52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72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FD6B-41E9-6FF8-97CE-AF419ADB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842C4-FEAC-5736-B0A2-9FDB9D4E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958837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Optical Circuit Switching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028F2-C1A0-A666-982D-42030D011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1780674"/>
            <a:ext cx="6386078" cy="4086726"/>
          </a:xfrm>
        </p:spPr>
        <p:txBody>
          <a:bodyPr>
            <a:normAutofit/>
          </a:bodyPr>
          <a:lstStyle/>
          <a:p>
            <a:r>
              <a:rPr lang="ko-KR" altLang="en-US" dirty="0"/>
              <a:t>상단 그림</a:t>
            </a:r>
            <a:r>
              <a:rPr lang="en-US" altLang="ko-KR" dirty="0"/>
              <a:t>: 4x4x4 </a:t>
            </a:r>
            <a:r>
              <a:rPr lang="ko-KR" altLang="en-US" dirty="0"/>
              <a:t>큐브</a:t>
            </a:r>
            <a:endParaRPr lang="ko-KR" altLang="ko-KR" dirty="0"/>
          </a:p>
          <a:p>
            <a:r>
              <a:rPr lang="ko-KR" altLang="en-US" dirty="0"/>
              <a:t>구성</a:t>
            </a:r>
            <a:r>
              <a:rPr lang="en-US" altLang="ko-KR" dirty="0"/>
              <a:t> </a:t>
            </a:r>
            <a:r>
              <a:rPr lang="ko-KR" altLang="en-US" dirty="0"/>
              <a:t>요소</a:t>
            </a:r>
            <a:r>
              <a:rPr lang="en-US" altLang="ko-KR" dirty="0"/>
              <a:t>: 64</a:t>
            </a:r>
            <a:r>
              <a:rPr lang="ko-KR" altLang="en-US" dirty="0"/>
              <a:t>개의 </a:t>
            </a:r>
            <a:r>
              <a:rPr lang="en-US" altLang="ko-KR" dirty="0"/>
              <a:t>TPU v4 </a:t>
            </a:r>
            <a:r>
              <a:rPr lang="ko-KR" altLang="en-US" dirty="0"/>
              <a:t>칩과 이를 제어하는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CPU </a:t>
            </a:r>
            <a:r>
              <a:rPr lang="ko-KR" altLang="en-US" dirty="0"/>
              <a:t>호스트가 하나의 </a:t>
            </a:r>
            <a:r>
              <a:rPr lang="en-US" altLang="ko-KR" dirty="0"/>
              <a:t>rack </a:t>
            </a:r>
            <a:r>
              <a:rPr lang="ko-KR" altLang="en-US" dirty="0"/>
              <a:t>안에 포함된 구조</a:t>
            </a:r>
            <a:endParaRPr lang="en-US" altLang="ko-KR" dirty="0"/>
          </a:p>
          <a:p>
            <a:r>
              <a:rPr lang="en-US" altLang="ko-KR" dirty="0"/>
              <a:t>6</a:t>
            </a:r>
            <a:r>
              <a:rPr lang="ko-KR" altLang="en-US" dirty="0"/>
              <a:t>개의 면</a:t>
            </a:r>
            <a:r>
              <a:rPr lang="en-US" altLang="ko-KR" dirty="0"/>
              <a:t>: </a:t>
            </a:r>
            <a:r>
              <a:rPr lang="ko-KR" altLang="en-US" dirty="0"/>
              <a:t>큐브의 </a:t>
            </a:r>
            <a:r>
              <a:rPr lang="en-US" altLang="ko-KR" dirty="0"/>
              <a:t>6</a:t>
            </a:r>
            <a:r>
              <a:rPr lang="ko-KR" altLang="en-US" dirty="0"/>
              <a:t>개 면에는 </a:t>
            </a:r>
            <a:r>
              <a:rPr lang="en-US" altLang="ko-KR" dirty="0"/>
              <a:t>16</a:t>
            </a:r>
            <a:r>
              <a:rPr lang="ko-KR" altLang="en-US" dirty="0"/>
              <a:t>개의 광학 링크가 각각  연결되어 총 </a:t>
            </a:r>
            <a:r>
              <a:rPr lang="en-US" altLang="ko-KR" dirty="0"/>
              <a:t>96</a:t>
            </a:r>
            <a:r>
              <a:rPr lang="ko-KR" altLang="en-US" dirty="0"/>
              <a:t>개의 광학 링크가 밖으로 나옴</a:t>
            </a:r>
            <a:endParaRPr lang="en-US" altLang="ko-KR" dirty="0"/>
          </a:p>
          <a:p>
            <a:r>
              <a:rPr lang="ko-KR" altLang="en-US" dirty="0"/>
              <a:t>좌표</a:t>
            </a:r>
            <a:r>
              <a:rPr lang="en-US" altLang="ko-KR" dirty="0"/>
              <a:t>: </a:t>
            </a:r>
            <a:r>
              <a:rPr lang="ko-KR" altLang="en-US" dirty="0"/>
              <a:t>각 차원과 방향</a:t>
            </a:r>
            <a:r>
              <a:rPr lang="en-US" altLang="ko-KR" dirty="0"/>
              <a:t>, </a:t>
            </a:r>
            <a:r>
              <a:rPr lang="ko-KR" altLang="en-US" dirty="0"/>
              <a:t>해당 면 내에서의 </a:t>
            </a:r>
            <a:r>
              <a:rPr lang="en-US" altLang="ko-KR" dirty="0"/>
              <a:t>16</a:t>
            </a:r>
            <a:r>
              <a:rPr lang="ko-KR" altLang="en-US" dirty="0"/>
              <a:t>개의 링크 위치를 나타내는 좌표</a:t>
            </a:r>
          </a:p>
        </p:txBody>
      </p:sp>
      <p:pic>
        <p:nvPicPr>
          <p:cNvPr id="7" name="그림 6" descr="도표, 평면도, 텍스트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1020F0-587E-E0B8-E25E-83D05357F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340" y="820261"/>
            <a:ext cx="3299579" cy="52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3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0BEF9-5A08-2440-9EE3-1D2F5CAC2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F6ACE-1EF7-876F-661F-3017C378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958837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Optical Circuit Switching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27661-01ED-53CD-EA97-0B94CF119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1780674"/>
            <a:ext cx="6386078" cy="4086726"/>
          </a:xfrm>
        </p:spPr>
        <p:txBody>
          <a:bodyPr>
            <a:normAutofit/>
          </a:bodyPr>
          <a:lstStyle/>
          <a:p>
            <a:r>
              <a:rPr lang="ko-KR" altLang="en-US" dirty="0"/>
              <a:t>하단 그림</a:t>
            </a:r>
            <a:r>
              <a:rPr lang="en-US" altLang="ko-KR" dirty="0"/>
              <a:t>: 3</a:t>
            </a:r>
            <a:r>
              <a:rPr lang="ko-KR" altLang="en-US" dirty="0"/>
              <a:t>종류의 </a:t>
            </a:r>
            <a:r>
              <a:rPr lang="en-US" altLang="ko-KR" dirty="0"/>
              <a:t>OCS</a:t>
            </a:r>
          </a:p>
          <a:p>
            <a:r>
              <a:rPr lang="ko-KR" altLang="en-US" dirty="0"/>
              <a:t>큐브의 마주 보는 두면에서 나온 링크들이 동일한 </a:t>
            </a:r>
            <a:r>
              <a:rPr lang="en-US" altLang="ko-KR" dirty="0"/>
              <a:t>OCS</a:t>
            </a:r>
            <a:r>
              <a:rPr lang="ko-KR" altLang="en-US" dirty="0"/>
              <a:t>에 연결되어야 함</a:t>
            </a:r>
            <a:endParaRPr lang="en-US" altLang="ko-KR" dirty="0"/>
          </a:p>
          <a:p>
            <a:r>
              <a:rPr lang="ko-KR" altLang="en-US" dirty="0"/>
              <a:t>이 그림을 보면 하나의 </a:t>
            </a:r>
            <a:r>
              <a:rPr lang="en-US" altLang="ko-KR" dirty="0"/>
              <a:t>4x4x4</a:t>
            </a:r>
            <a:r>
              <a:rPr lang="ko-KR" altLang="en-US" dirty="0"/>
              <a:t> 블록은 총 </a:t>
            </a:r>
            <a:r>
              <a:rPr lang="en-US" altLang="ko-KR" dirty="0"/>
              <a:t>48</a:t>
            </a:r>
            <a:r>
              <a:rPr lang="ko-KR" altLang="en-US" dirty="0"/>
              <a:t>개의 </a:t>
            </a:r>
            <a:r>
              <a:rPr lang="en-US" altLang="ko-KR" dirty="0"/>
              <a:t>OCS</a:t>
            </a:r>
            <a:r>
              <a:rPr lang="ko-KR" altLang="en-US" dirty="0"/>
              <a:t>와 연결되며 이러한 연결을 통해 최종적으로 </a:t>
            </a:r>
            <a:r>
              <a:rPr lang="en-US" altLang="ko-KR" dirty="0"/>
              <a:t>4096</a:t>
            </a:r>
            <a:r>
              <a:rPr lang="ko-KR" altLang="en-US" dirty="0"/>
              <a:t>개의 칩이 하나의 거대한 슈퍼 컴퓨터 형성</a:t>
            </a:r>
            <a:br>
              <a:rPr lang="en-US" altLang="ko-KR" dirty="0"/>
            </a:br>
            <a:r>
              <a:rPr lang="en-US" altLang="ko-KR" dirty="0"/>
              <a:t>(48</a:t>
            </a:r>
            <a:r>
              <a:rPr lang="ko-KR" altLang="en-US" dirty="0"/>
              <a:t>이 나오는 과정</a:t>
            </a:r>
            <a:r>
              <a:rPr lang="en-US" altLang="ko-KR" dirty="0"/>
              <a:t>: </a:t>
            </a:r>
            <a:r>
              <a:rPr lang="ko-KR" altLang="en-US" dirty="0"/>
              <a:t>총 외부 링크 수</a:t>
            </a:r>
            <a:r>
              <a:rPr lang="en-US" altLang="ko-KR" dirty="0"/>
              <a:t>: 6x16: 96, </a:t>
            </a:r>
            <a:r>
              <a:rPr lang="ko-KR" altLang="en-US" dirty="0"/>
              <a:t>마주보는 면을 하나의 세트로 묶음</a:t>
            </a:r>
            <a:r>
              <a:rPr lang="en-US" altLang="ko-KR" dirty="0"/>
              <a:t>-&gt; 96/2=48</a:t>
            </a:r>
            <a:r>
              <a:rPr lang="ko-KR" altLang="en-US" dirty="0"/>
              <a:t>개의 케이 </a:t>
            </a:r>
            <a:r>
              <a:rPr lang="ko-KR" altLang="en-US" dirty="0" err="1"/>
              <a:t>블</a:t>
            </a:r>
            <a:r>
              <a:rPr lang="ko-KR" altLang="en-US" dirty="0"/>
              <a:t> 쌍 </a:t>
            </a:r>
            <a:r>
              <a:rPr lang="en-US" altLang="ko-KR" dirty="0"/>
              <a:t>-&gt; </a:t>
            </a:r>
            <a:r>
              <a:rPr lang="ko-KR" altLang="en-US" dirty="0"/>
              <a:t>서로 다른 </a:t>
            </a:r>
            <a:r>
              <a:rPr lang="en-US" altLang="ko-KR" dirty="0"/>
              <a:t>48</a:t>
            </a:r>
            <a:r>
              <a:rPr lang="ko-KR" altLang="en-US" dirty="0"/>
              <a:t>개의 </a:t>
            </a:r>
            <a:r>
              <a:rPr lang="en-US" altLang="ko-KR" dirty="0"/>
              <a:t>OCS</a:t>
            </a:r>
            <a:r>
              <a:rPr lang="ko-KR" altLang="en-US" dirty="0"/>
              <a:t>에 하나씩 연결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좌표 하나하나가 개별 </a:t>
            </a:r>
            <a:r>
              <a:rPr lang="en-US" altLang="ko-KR" dirty="0"/>
              <a:t>TPU </a:t>
            </a:r>
            <a:r>
              <a:rPr lang="ko-KR" altLang="en-US" dirty="0"/>
              <a:t>칩 하나하나에서 나오는 통신 회선</a:t>
            </a:r>
            <a:endParaRPr lang="ko-KR" altLang="ko-KR" dirty="0"/>
          </a:p>
          <a:p>
            <a:endParaRPr lang="ko-KR" altLang="en-US" dirty="0"/>
          </a:p>
        </p:txBody>
      </p:sp>
      <p:pic>
        <p:nvPicPr>
          <p:cNvPr id="7" name="그림 6" descr="도표, 평면도, 텍스트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A5CB9F-A6EC-9F42-ED6D-1BBD64947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340" y="820261"/>
            <a:ext cx="3299579" cy="521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38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B7CFD-F3E7-7767-7E68-33031733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Optical Circuit Switching</a:t>
            </a:r>
            <a:endParaRPr lang="ko-KR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2D4256-1A03-3252-A984-E97600EAB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좌측 그림</a:t>
            </a:r>
            <a:r>
              <a:rPr lang="en-US" altLang="ko-KR" sz="1800" dirty="0"/>
              <a:t>: </a:t>
            </a:r>
            <a:r>
              <a:rPr lang="ko-KR" altLang="en-US" sz="1800" dirty="0"/>
              <a:t>개별 </a:t>
            </a:r>
            <a:r>
              <a:rPr lang="en-US" altLang="ko-KR" sz="1800" dirty="0"/>
              <a:t>TPU v4 </a:t>
            </a:r>
            <a:r>
              <a:rPr lang="ko-KR" altLang="en-US" sz="1800" dirty="0"/>
              <a:t>칩의 패키지 </a:t>
            </a:r>
            <a:br>
              <a:rPr lang="en-US" altLang="ko-KR" sz="1800" dirty="0"/>
            </a:br>
            <a:r>
              <a:rPr lang="ko-KR" altLang="en-US" sz="1800" dirty="0"/>
              <a:t>하나의 패키지 안에 </a:t>
            </a:r>
            <a:r>
              <a:rPr lang="en-US" altLang="ko-KR" sz="1800" dirty="0"/>
              <a:t>2</a:t>
            </a:r>
            <a:r>
              <a:rPr lang="ko-KR" altLang="en-US" sz="1800" dirty="0"/>
              <a:t>개의 </a:t>
            </a:r>
            <a:r>
              <a:rPr lang="en-US" altLang="ko-KR" sz="1800" dirty="0" err="1"/>
              <a:t>TensorCore</a:t>
            </a:r>
            <a:r>
              <a:rPr lang="ko-KR" altLang="en-US" sz="1800" dirty="0"/>
              <a:t>가 들음</a:t>
            </a:r>
            <a:br>
              <a:rPr lang="en-US" altLang="ko-KR" sz="1800" dirty="0"/>
            </a:br>
            <a:r>
              <a:rPr lang="ko-KR" altLang="en-US" sz="1800" dirty="0"/>
              <a:t>칩 주변에는 </a:t>
            </a:r>
            <a:r>
              <a:rPr lang="en-US" altLang="ko-KR" sz="1800" dirty="0"/>
              <a:t>4</a:t>
            </a:r>
            <a:r>
              <a:rPr lang="ko-KR" altLang="en-US" sz="1800" dirty="0"/>
              <a:t>개의 </a:t>
            </a:r>
            <a:r>
              <a:rPr lang="en-US" altLang="ko-KR" sz="1800" dirty="0"/>
              <a:t>HBM2 </a:t>
            </a:r>
            <a:r>
              <a:rPr lang="ko-KR" altLang="en-US" sz="1800" dirty="0"/>
              <a:t>메모리가 배치됨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우측 그림</a:t>
            </a:r>
            <a:r>
              <a:rPr lang="en-US" altLang="ko-KR" sz="1800" dirty="0"/>
              <a:t>: 4</a:t>
            </a:r>
            <a:r>
              <a:rPr lang="ko-KR" altLang="en-US" sz="1800" dirty="0"/>
              <a:t>개의 </a:t>
            </a:r>
            <a:r>
              <a:rPr lang="en-US" altLang="ko-KR" sz="1800" dirty="0"/>
              <a:t>TPU </a:t>
            </a:r>
            <a:r>
              <a:rPr lang="ko-KR" altLang="en-US" sz="1800" dirty="0"/>
              <a:t>패키지가 장착된 하나의 보드</a:t>
            </a:r>
            <a:br>
              <a:rPr lang="en-US" altLang="ko-KR" sz="1800" dirty="0"/>
            </a:br>
            <a:r>
              <a:rPr lang="en-US" altLang="ko-KR" sz="1800" dirty="0"/>
              <a:t>4</a:t>
            </a:r>
            <a:r>
              <a:rPr lang="ko-KR" altLang="en-US" sz="1800" dirty="0"/>
              <a:t>개의 칩이 하나의 기판 위에 </a:t>
            </a:r>
            <a:r>
              <a:rPr lang="en-US" altLang="ko-KR" sz="1800" dirty="0"/>
              <a:t>2x2 </a:t>
            </a:r>
            <a:r>
              <a:rPr lang="ko-KR" altLang="en-US" sz="1800" dirty="0"/>
              <a:t>형태로 연결됨 </a:t>
            </a:r>
            <a:r>
              <a:rPr lang="en-US" altLang="ko-KR" sz="1800" dirty="0"/>
              <a:t>+ </a:t>
            </a:r>
            <a:r>
              <a:rPr lang="ko-KR" altLang="en-US" sz="1800" dirty="0"/>
              <a:t>액체 냉각 판으로 덮여 열을 식힘</a:t>
            </a:r>
          </a:p>
        </p:txBody>
      </p:sp>
      <p:pic>
        <p:nvPicPr>
          <p:cNvPr id="7" name="그림 6" descr="전자제품, 전자 공학, 전자 부품, 회로 구성요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B0D7CB-BC5B-303A-D537-A814FD956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3050613"/>
            <a:ext cx="5105445" cy="214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832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4E022-C52F-C067-E753-8D38A2CC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Optical Circuit Switching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7D556E-4AF7-083B-A965-FF5321866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556084"/>
            <a:ext cx="5232859" cy="4311316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8</a:t>
            </a:r>
            <a:r>
              <a:rPr lang="ko-KR" altLang="en-US" sz="1800" dirty="0"/>
              <a:t>개의 큰 덩어리인 </a:t>
            </a:r>
            <a:r>
              <a:rPr lang="en-US" altLang="ko-KR" sz="1800" dirty="0"/>
              <a:t>Rack</a:t>
            </a:r>
            <a:r>
              <a:rPr lang="ko-KR" altLang="en-US" sz="1800" dirty="0"/>
              <a:t>으로 구성됨</a:t>
            </a:r>
            <a:br>
              <a:rPr lang="en-US" altLang="ko-KR" sz="1800" dirty="0"/>
            </a:br>
            <a:r>
              <a:rPr lang="ko-KR" altLang="en-US" sz="1800" dirty="0"/>
              <a:t>이 </a:t>
            </a:r>
            <a:r>
              <a:rPr lang="en-US" altLang="ko-KR" sz="1800" dirty="0"/>
              <a:t>8</a:t>
            </a:r>
            <a:r>
              <a:rPr lang="ko-KR" altLang="en-US" sz="1800" dirty="0"/>
              <a:t>개의 </a:t>
            </a:r>
            <a:r>
              <a:rPr lang="ko-KR" altLang="en-US" sz="1800" dirty="0" err="1"/>
              <a:t>랙</a:t>
            </a:r>
            <a:r>
              <a:rPr lang="ko-KR" altLang="en-US" sz="1800" dirty="0"/>
              <a:t> 묶음에는 총 </a:t>
            </a:r>
            <a:r>
              <a:rPr lang="en-US" altLang="ko-KR" sz="1800" dirty="0"/>
              <a:t>(8x64) 512</a:t>
            </a:r>
            <a:r>
              <a:rPr lang="ko-KR" altLang="en-US" sz="1800" dirty="0"/>
              <a:t>개의 </a:t>
            </a:r>
            <a:r>
              <a:rPr lang="en-US" altLang="ko-KR" sz="1800" dirty="0"/>
              <a:t>TPU </a:t>
            </a:r>
            <a:r>
              <a:rPr lang="ko-KR" altLang="en-US" sz="1800" dirty="0"/>
              <a:t>칩 포함됨</a:t>
            </a:r>
            <a:endParaRPr lang="en-US" altLang="ko-KR" sz="1800" dirty="0"/>
          </a:p>
          <a:p>
            <a:r>
              <a:rPr lang="ko-KR" altLang="en-US" sz="1800" dirty="0" err="1"/>
              <a:t>랙은</a:t>
            </a:r>
            <a:r>
              <a:rPr lang="en-US" altLang="ko-KR" sz="1800" dirty="0"/>
              <a:t> </a:t>
            </a:r>
            <a:r>
              <a:rPr lang="ko-KR" altLang="en-US" sz="1800" dirty="0"/>
              <a:t>크게 세 부분으로 나뉨</a:t>
            </a:r>
            <a:br>
              <a:rPr lang="en-US" altLang="ko-KR" sz="1800" dirty="0"/>
            </a:br>
            <a:r>
              <a:rPr lang="ko-KR" altLang="en-US" sz="1800" dirty="0"/>
              <a:t>상단</a:t>
            </a:r>
            <a:r>
              <a:rPr lang="en-US" altLang="ko-KR" sz="1800" dirty="0"/>
              <a:t>: 16</a:t>
            </a:r>
            <a:r>
              <a:rPr lang="ko-KR" altLang="en-US" sz="1800" dirty="0"/>
              <a:t>개의 호스트 서버</a:t>
            </a:r>
            <a:br>
              <a:rPr lang="en-US" altLang="ko-KR" sz="1800" dirty="0"/>
            </a:br>
            <a:r>
              <a:rPr lang="en-US" altLang="ko-KR" sz="1800" dirty="0"/>
              <a:t>16</a:t>
            </a:r>
            <a:r>
              <a:rPr lang="ko-KR" altLang="en-US" sz="1800" dirty="0"/>
              <a:t>대의 서버가 </a:t>
            </a:r>
            <a:r>
              <a:rPr lang="en-US" altLang="ko-KR" sz="1800" dirty="0"/>
              <a:t>4</a:t>
            </a:r>
            <a:r>
              <a:rPr lang="ko-KR" altLang="en-US" sz="1800" dirty="0"/>
              <a:t>개의 </a:t>
            </a:r>
            <a:r>
              <a:rPr lang="en-US" altLang="ko-KR" sz="1800" dirty="0"/>
              <a:t>TPU </a:t>
            </a:r>
            <a:r>
              <a:rPr lang="ko-KR" altLang="en-US" sz="1800" dirty="0"/>
              <a:t>칩 관리</a:t>
            </a:r>
            <a:br>
              <a:rPr lang="en-US" altLang="ko-KR" sz="1800" dirty="0"/>
            </a:br>
            <a:r>
              <a:rPr lang="ko-KR" altLang="en-US" sz="1800" dirty="0"/>
              <a:t>중간</a:t>
            </a:r>
            <a:r>
              <a:rPr lang="en-US" altLang="ko-KR" sz="1800" dirty="0"/>
              <a:t>: 16</a:t>
            </a:r>
            <a:r>
              <a:rPr lang="ko-KR" altLang="en-US" sz="1800" dirty="0"/>
              <a:t>개의 </a:t>
            </a:r>
            <a:r>
              <a:rPr lang="en-US" altLang="ko-KR" sz="1800" dirty="0"/>
              <a:t>TPU v4 </a:t>
            </a:r>
            <a:r>
              <a:rPr lang="ko-KR" altLang="en-US" sz="1800" dirty="0"/>
              <a:t>트레이</a:t>
            </a:r>
            <a:r>
              <a:rPr lang="en-US" altLang="ko-KR" sz="1800" dirty="0"/>
              <a:t>(</a:t>
            </a:r>
            <a:r>
              <a:rPr lang="ko-KR" altLang="en-US" sz="1800" dirty="0"/>
              <a:t>실질적 연산 엔진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ko-KR" altLang="en-US" sz="1800" dirty="0"/>
              <a:t>한 트레이 안에 </a:t>
            </a:r>
            <a:r>
              <a:rPr lang="en-US" altLang="ko-KR" sz="1800" dirty="0"/>
              <a:t>4</a:t>
            </a:r>
            <a:r>
              <a:rPr lang="ko-KR" altLang="en-US" sz="1800" dirty="0"/>
              <a:t>개의 </a:t>
            </a:r>
            <a:r>
              <a:rPr lang="en-US" altLang="ko-KR" sz="1800" dirty="0"/>
              <a:t>TPU v4 </a:t>
            </a:r>
            <a:r>
              <a:rPr lang="ko-KR" altLang="en-US" sz="1800" dirty="0"/>
              <a:t>칩 장착</a:t>
            </a:r>
            <a:br>
              <a:rPr lang="en-US" altLang="ko-KR" sz="1800" dirty="0"/>
            </a:br>
            <a:r>
              <a:rPr lang="ko-KR" altLang="en-US" sz="1800" dirty="0"/>
              <a:t>총 집 수</a:t>
            </a:r>
            <a:r>
              <a:rPr lang="en-US" altLang="ko-KR" sz="1800" dirty="0"/>
              <a:t>: 16</a:t>
            </a:r>
            <a:r>
              <a:rPr lang="ko-KR" altLang="en-US" sz="1800" dirty="0"/>
              <a:t>개 트레이 </a:t>
            </a:r>
            <a:r>
              <a:rPr lang="en-US" altLang="ko-KR" sz="1800" dirty="0"/>
              <a:t>x 4</a:t>
            </a:r>
            <a:r>
              <a:rPr lang="ko-KR" altLang="en-US" sz="1800" dirty="0"/>
              <a:t>개의 칩 </a:t>
            </a:r>
            <a:r>
              <a:rPr lang="en-US" altLang="ko-KR" sz="1800" dirty="0"/>
              <a:t>= 64</a:t>
            </a:r>
            <a:br>
              <a:rPr lang="en-US" altLang="ko-KR" sz="1800" dirty="0"/>
            </a:br>
            <a:r>
              <a:rPr lang="ko-KR" altLang="en-US" sz="1800" dirty="0"/>
              <a:t>배선</a:t>
            </a:r>
            <a:r>
              <a:rPr lang="en-US" altLang="ko-KR" sz="1800" dirty="0"/>
              <a:t>/</a:t>
            </a:r>
            <a:r>
              <a:rPr lang="ko-KR" altLang="en-US" sz="1800" dirty="0"/>
              <a:t>냉각</a:t>
            </a:r>
            <a:r>
              <a:rPr lang="en-US" altLang="ko-KR" sz="1800" dirty="0"/>
              <a:t>: </a:t>
            </a:r>
            <a:r>
              <a:rPr lang="ko-KR" altLang="en-US" sz="1800" dirty="0"/>
              <a:t>내부 구리선</a:t>
            </a:r>
            <a:r>
              <a:rPr lang="en-US" altLang="ko-KR" sz="1800" dirty="0"/>
              <a:t>/</a:t>
            </a:r>
            <a:r>
              <a:rPr lang="ko-KR" altLang="en-US" sz="1800" dirty="0"/>
              <a:t>외부 </a:t>
            </a:r>
            <a:r>
              <a:rPr lang="ko-KR" altLang="en-US" sz="1800" dirty="0" err="1"/>
              <a:t>광학선</a:t>
            </a:r>
            <a:r>
              <a:rPr lang="ko-KR" altLang="en-US" sz="1800" dirty="0"/>
              <a:t> </a:t>
            </a:r>
            <a:r>
              <a:rPr lang="en-US" altLang="ko-KR" sz="1800" dirty="0"/>
              <a:t>+ </a:t>
            </a:r>
            <a:r>
              <a:rPr lang="ko-KR" altLang="en-US" sz="1800" dirty="0"/>
              <a:t>파이프라인 형태 액체 냉각 시스템</a:t>
            </a:r>
          </a:p>
        </p:txBody>
      </p:sp>
      <p:pic>
        <p:nvPicPr>
          <p:cNvPr id="5" name="그림 4" descr="전자제품, 서버, 전자 공학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7F7ED9-6CDE-EF47-3851-0A21AFCAA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3327213"/>
            <a:ext cx="5105445" cy="158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16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A34E1-BB21-7E43-36F4-9392A208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Optical Circuit Switching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C4544B-E5F1-FDAB-1AC8-173EE78B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75874"/>
            <a:ext cx="9601200" cy="4391526"/>
          </a:xfrm>
        </p:spPr>
        <p:txBody>
          <a:bodyPr/>
          <a:lstStyle/>
          <a:p>
            <a:r>
              <a:rPr lang="en-US" altLang="ko-KR" dirty="0"/>
              <a:t>OCS </a:t>
            </a:r>
            <a:r>
              <a:rPr lang="ko-KR" altLang="en-US" dirty="0"/>
              <a:t>덕분에 칩들이 어디에 있든 광섬유로 묶어줄 수 있음</a:t>
            </a:r>
            <a:endParaRPr lang="en-US" altLang="ko-KR" dirty="0"/>
          </a:p>
          <a:p>
            <a:r>
              <a:rPr lang="ko-KR" altLang="en-US" dirty="0"/>
              <a:t>광학 스위치로 물리적 경로를 끊어버릴 수 있기 때문에</a:t>
            </a:r>
            <a:r>
              <a:rPr lang="en-US" altLang="ko-KR" dirty="0"/>
              <a:t>, </a:t>
            </a:r>
            <a:r>
              <a:rPr lang="ko-KR" altLang="en-US" dirty="0"/>
              <a:t>보안성 또한 뛰어남</a:t>
            </a:r>
            <a:endParaRPr lang="en-US" altLang="ko-KR" dirty="0"/>
          </a:p>
          <a:p>
            <a:r>
              <a:rPr lang="ko-KR" altLang="en-US" dirty="0"/>
              <a:t>훈련 방식에 따라 길쭉한 모델</a:t>
            </a:r>
            <a:r>
              <a:rPr lang="en-US" altLang="ko-KR" dirty="0"/>
              <a:t>/</a:t>
            </a:r>
            <a:r>
              <a:rPr lang="ko-KR" altLang="en-US" dirty="0"/>
              <a:t>데이터가 많은 모델 과 같이 네트워크 모양을 바꿔 성능을 향상시킴</a:t>
            </a:r>
            <a:endParaRPr lang="en-US" altLang="ko-KR" dirty="0"/>
          </a:p>
          <a:p>
            <a:r>
              <a:rPr lang="ko-KR" altLang="en-US" dirty="0"/>
              <a:t>선을 살짝 꼬아서 데이터가 이동하는 지름길을 만드는 </a:t>
            </a:r>
            <a:r>
              <a:rPr lang="en-US" altLang="ko-KR" dirty="0"/>
              <a:t>twisted</a:t>
            </a:r>
            <a:r>
              <a:rPr lang="ko-KR" altLang="en-US" dirty="0"/>
              <a:t> </a:t>
            </a:r>
            <a:r>
              <a:rPr lang="ko-KR" altLang="en-US" dirty="0" err="1"/>
              <a:t>토러스</a:t>
            </a:r>
            <a:r>
              <a:rPr lang="ko-KR" altLang="en-US" dirty="0"/>
              <a:t> 기술 이용 데이터 공유 속도가 빨라 짐</a:t>
            </a:r>
            <a:endParaRPr lang="en-US" altLang="ko-KR" dirty="0"/>
          </a:p>
          <a:p>
            <a:r>
              <a:rPr lang="ko-KR" altLang="en-US" dirty="0"/>
              <a:t>이 모든 것을 결합하여 아주 적은 투자로 엄청난 유연성과 성능 향상 얻음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6883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63D74D2-F288-A329-1CD7-6C0F0891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 err="1">
                <a:solidFill>
                  <a:schemeClr val="bg2"/>
                </a:solidFill>
              </a:rPr>
              <a:t>SparseCore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6AF39A-659A-ABE7-5127-6C451F59C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175781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43876-6041-D021-A69F-5ABCBFA79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64830-03E1-93DB-6866-14814689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SparseCore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290291-D15A-5DFD-2F9C-1E6514087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427747"/>
            <a:ext cx="5072437" cy="518160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DLRM</a:t>
            </a:r>
            <a:r>
              <a:rPr lang="ko-KR" altLang="en-US" sz="1800" dirty="0"/>
              <a:t>은 구글 </a:t>
            </a:r>
            <a:r>
              <a:rPr lang="en-US" altLang="ko-KR" sz="1800" dirty="0"/>
              <a:t>ML </a:t>
            </a:r>
            <a:r>
              <a:rPr lang="ko-KR" altLang="en-US" sz="1800" dirty="0"/>
              <a:t>워크로드의 </a:t>
            </a:r>
            <a:r>
              <a:rPr lang="en-US" altLang="ko-KR" sz="1800" dirty="0"/>
              <a:t>¼</a:t>
            </a:r>
            <a:r>
              <a:rPr lang="ko-KR" altLang="en-US" sz="1800" dirty="0"/>
              <a:t>을 차지함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임베딩은</a:t>
            </a:r>
            <a:r>
              <a:rPr lang="ko-KR" altLang="en-US" sz="1800" dirty="0"/>
              <a:t> </a:t>
            </a:r>
            <a:r>
              <a:rPr lang="en-US" altLang="ko-KR" sz="1800" dirty="0"/>
              <a:t>DLRM</a:t>
            </a:r>
            <a:r>
              <a:rPr lang="ko-KR" altLang="en-US" sz="1800" dirty="0"/>
              <a:t>의 핵심 구성 요소</a:t>
            </a:r>
            <a:endParaRPr lang="en-US" altLang="ko-KR" sz="1800" dirty="0"/>
          </a:p>
          <a:p>
            <a:r>
              <a:rPr lang="ko-KR" altLang="en-US" sz="1800" dirty="0" err="1"/>
              <a:t>임베딩</a:t>
            </a:r>
            <a:r>
              <a:rPr lang="en-US" altLang="ko-KR" sz="1800" dirty="0"/>
              <a:t>: </a:t>
            </a:r>
            <a:r>
              <a:rPr lang="ko-KR" altLang="en-US" sz="1800" dirty="0"/>
              <a:t>범주형 특성</a:t>
            </a:r>
            <a:r>
              <a:rPr lang="en-US" altLang="ko-KR" sz="1800" dirty="0"/>
              <a:t>(categorical features)</a:t>
            </a:r>
            <a:r>
              <a:rPr lang="ko-KR" altLang="en-US" sz="1800" dirty="0"/>
              <a:t>으로 구성됨</a:t>
            </a:r>
            <a:r>
              <a:rPr lang="en-US" altLang="ko-KR" sz="1800" dirty="0"/>
              <a:t>/</a:t>
            </a:r>
            <a:r>
              <a:rPr lang="ko-KR" altLang="en-US" sz="1800" dirty="0"/>
              <a:t>범주형 특성 값을 조밀한 벡터로 변환하는 표준적이고 효과적인 방법</a:t>
            </a:r>
            <a:endParaRPr lang="en-US" altLang="ko-KR" sz="1800" dirty="0"/>
          </a:p>
          <a:p>
            <a:r>
              <a:rPr lang="ko-KR" altLang="en-US" sz="1800" dirty="0" err="1"/>
              <a:t>임베딩</a:t>
            </a:r>
            <a:r>
              <a:rPr lang="ko-KR" altLang="en-US" sz="1800" dirty="0"/>
              <a:t> 함수는 </a:t>
            </a:r>
            <a:r>
              <a:rPr lang="ko-KR" altLang="en-US" sz="1800" dirty="0" err="1"/>
              <a:t>룩업</a:t>
            </a:r>
            <a:r>
              <a:rPr lang="ko-KR" altLang="en-US" sz="1800" dirty="0"/>
              <a:t> 테이블을 사용하여 구현</a:t>
            </a:r>
            <a:endParaRPr lang="en-US" altLang="ko-KR" sz="1800" dirty="0"/>
          </a:p>
          <a:p>
            <a:r>
              <a:rPr lang="ko-KR" altLang="en-US" sz="1800" dirty="0" err="1"/>
              <a:t>임베딩</a:t>
            </a:r>
            <a:r>
              <a:rPr lang="ko-KR" altLang="en-US" sz="1800" dirty="0"/>
              <a:t> 테이블은 매우 커서 여러 </a:t>
            </a:r>
            <a:r>
              <a:rPr lang="en-US" altLang="ko-KR" sz="1800" dirty="0"/>
              <a:t>TPU </a:t>
            </a:r>
            <a:r>
              <a:rPr lang="ko-KR" altLang="en-US" sz="1800" dirty="0"/>
              <a:t>칩의 메모리에 분할되어 저장</a:t>
            </a:r>
            <a:br>
              <a:rPr lang="en-US" altLang="ko-KR" sz="1800" dirty="0"/>
            </a:br>
            <a:r>
              <a:rPr lang="en-US" altLang="ko-KR" sz="1800" dirty="0"/>
              <a:t>1. column sharding</a:t>
            </a:r>
            <a:br>
              <a:rPr lang="en-US" altLang="ko-KR" sz="1800" dirty="0"/>
            </a:br>
            <a:r>
              <a:rPr lang="en-US" altLang="ko-KR" sz="1800" dirty="0"/>
              <a:t>2. row sharding</a:t>
            </a:r>
            <a:br>
              <a:rPr lang="en-US" altLang="ko-KR" sz="1800" dirty="0"/>
            </a:br>
            <a:r>
              <a:rPr lang="en-US" altLang="ko-KR" sz="1800" dirty="0"/>
              <a:t>3. table sharding</a:t>
            </a:r>
          </a:p>
          <a:p>
            <a:r>
              <a:rPr lang="ko-KR" altLang="en-US" sz="1800" dirty="0"/>
              <a:t>이러한 분산 전략 </a:t>
            </a:r>
            <a:r>
              <a:rPr lang="en-US" altLang="ko-KR" sz="1800" dirty="0"/>
              <a:t>-&gt; </a:t>
            </a:r>
            <a:r>
              <a:rPr lang="ko-KR" altLang="en-US" sz="1800" dirty="0"/>
              <a:t>모델 </a:t>
            </a:r>
            <a:r>
              <a:rPr lang="ko-KR" altLang="en-US" sz="1800" dirty="0" err="1"/>
              <a:t>병렬성</a:t>
            </a:r>
            <a:endParaRPr lang="en-US" altLang="ko-KR" sz="1800" dirty="0"/>
          </a:p>
          <a:p>
            <a:r>
              <a:rPr lang="ko-KR" altLang="en-US" sz="1800" dirty="0" err="1"/>
              <a:t>임베딩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룩업</a:t>
            </a:r>
            <a:r>
              <a:rPr lang="ko-KR" altLang="en-US" sz="1800" dirty="0"/>
              <a:t> 연산은 주로 작은 </a:t>
            </a:r>
            <a:r>
              <a:rPr lang="en-US" altLang="ko-KR" sz="1800" dirty="0"/>
              <a:t>gather </a:t>
            </a:r>
            <a:r>
              <a:rPr lang="ko-KR" altLang="en-US" sz="1800" dirty="0"/>
              <a:t>또는 </a:t>
            </a:r>
            <a:r>
              <a:rPr lang="en-US" altLang="ko-KR" sz="1800" dirty="0"/>
              <a:t>scatter </a:t>
            </a:r>
            <a:r>
              <a:rPr lang="ko-KR" altLang="en-US" sz="1800" dirty="0"/>
              <a:t>메모리 </a:t>
            </a:r>
            <a:r>
              <a:rPr lang="ko-KR" altLang="en-US" sz="1800" dirty="0" err="1"/>
              <a:t>엑세스로</a:t>
            </a:r>
            <a:r>
              <a:rPr lang="ko-KR" altLang="en-US" sz="1800" dirty="0"/>
              <a:t> 구성됨</a:t>
            </a:r>
            <a:r>
              <a:rPr lang="en-US" altLang="ko-KR" sz="1800" dirty="0"/>
              <a:t>.</a:t>
            </a:r>
          </a:p>
          <a:p>
            <a:endParaRPr lang="ko-KR" altLang="en-US" sz="1800" dirty="0"/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D5F2D6-6FE2-389F-025D-B32A02AD4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61"/>
          <a:stretch>
            <a:fillRect/>
          </a:stretch>
        </p:blipFill>
        <p:spPr>
          <a:xfrm>
            <a:off x="6411641" y="2915383"/>
            <a:ext cx="5105445" cy="231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00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260C5-9C59-1524-3B52-92D44136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0F524-45D0-5B18-9DDD-A7BA56DDD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SparseCore</a:t>
            </a:r>
            <a:endParaRPr lang="ko-KR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F619CE-4BDF-3389-B02D-BF2F26E07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Host Metadata: </a:t>
            </a:r>
            <a:r>
              <a:rPr lang="ko-KR" altLang="en-US" sz="1800" dirty="0"/>
              <a:t>어떤 </a:t>
            </a:r>
            <a:r>
              <a:rPr lang="ko-KR" altLang="en-US" sz="1800"/>
              <a:t>임베딩</a:t>
            </a:r>
            <a:r>
              <a:rPr lang="ko-KR" altLang="en-US" sz="1800" dirty="0"/>
              <a:t> 테이블에서 어떤 인덱스를 가져와야 하는지에 대한 정보 담김</a:t>
            </a:r>
            <a:endParaRPr lang="en-US" altLang="ko-KR" sz="1800" dirty="0"/>
          </a:p>
          <a:p>
            <a:r>
              <a:rPr lang="en-US" altLang="ko-KR" sz="1800"/>
              <a:t>SparseCore</a:t>
            </a:r>
            <a:r>
              <a:rPr lang="en-US" altLang="ko-KR" sz="1800" dirty="0"/>
              <a:t> Sequencer: Host Metadata </a:t>
            </a:r>
            <a:r>
              <a:rPr lang="ko-KR" altLang="en-US" sz="1800" dirty="0"/>
              <a:t>해석 </a:t>
            </a:r>
            <a:r>
              <a:rPr lang="en-US" altLang="ko-KR" sz="1800" dirty="0"/>
              <a:t>-&gt; </a:t>
            </a:r>
            <a:r>
              <a:rPr lang="ko-KR" altLang="en-US" sz="1800" dirty="0"/>
              <a:t>각 연산 타일과 특수 유닛이 언제 움직여야 할지 제어 신호 보냄</a:t>
            </a:r>
            <a:endParaRPr lang="en-US" altLang="ko-KR" sz="1800" dirty="0"/>
          </a:p>
          <a:p>
            <a:r>
              <a:rPr lang="en-US" altLang="ko-KR" sz="1800" dirty="0"/>
              <a:t>Dispatch DMA: HBM, ICI</a:t>
            </a:r>
            <a:r>
              <a:rPr lang="ko-KR" altLang="en-US" sz="1800" dirty="0"/>
              <a:t>에서 데이터를 가져오거나 보낼 때</a:t>
            </a:r>
            <a:r>
              <a:rPr lang="en-US" altLang="ko-KR" sz="1800" dirty="0"/>
              <a:t>, </a:t>
            </a:r>
            <a:r>
              <a:rPr lang="ko-KR" altLang="en-US" sz="1800" dirty="0"/>
              <a:t>정확한 위치로 파견하는 역할 </a:t>
            </a:r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6AE134-9784-E8D6-6C49-E86441FFDF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61"/>
          <a:stretch>
            <a:fillRect/>
          </a:stretch>
        </p:blipFill>
        <p:spPr>
          <a:xfrm>
            <a:off x="6411641" y="2964366"/>
            <a:ext cx="5105445" cy="231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84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16AB7-6E56-9043-ACAC-D59A712F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6D970-92F9-0B59-1F7A-3E54555A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SparseCore</a:t>
            </a:r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1DADD-1D07-3071-F73D-624E345B8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Fetch Unit: </a:t>
            </a:r>
            <a:r>
              <a:rPr lang="ko-KR" altLang="en-US" sz="1800" dirty="0"/>
              <a:t>메모리에서 </a:t>
            </a:r>
            <a:r>
              <a:rPr lang="ko-KR" altLang="en-US" sz="1800"/>
              <a:t>임베딩</a:t>
            </a:r>
            <a:r>
              <a:rPr lang="ko-KR" altLang="en-US" sz="1800" dirty="0"/>
              <a:t> 벡터나 중간 데이터를 </a:t>
            </a:r>
            <a:r>
              <a:rPr lang="ko-KR" altLang="en-US" sz="1800"/>
              <a:t>읽어옴</a:t>
            </a:r>
            <a:endParaRPr lang="en-US" altLang="ko-KR" sz="1800" dirty="0"/>
          </a:p>
          <a:p>
            <a:r>
              <a:rPr lang="en-US" altLang="ko-KR" sz="1800"/>
              <a:t>scVPU</a:t>
            </a:r>
            <a:r>
              <a:rPr lang="en-US" altLang="ko-KR" sz="1800" dirty="0"/>
              <a:t>: SC</a:t>
            </a:r>
            <a:r>
              <a:rPr lang="ko-KR" altLang="en-US" sz="1800" dirty="0"/>
              <a:t>의 핵심 계산기</a:t>
            </a:r>
            <a:r>
              <a:rPr lang="en-US" altLang="ko-KR" sz="1800" dirty="0"/>
              <a:t>, 8-</a:t>
            </a:r>
            <a:r>
              <a:rPr lang="ko-KR" altLang="en-US" sz="1800" dirty="0"/>
              <a:t>와이드 </a:t>
            </a:r>
            <a:r>
              <a:rPr lang="en-US" altLang="ko-KR" sz="1800" dirty="0"/>
              <a:t>SIMD(</a:t>
            </a:r>
            <a:r>
              <a:rPr lang="ko-KR" altLang="en-US" sz="1800" dirty="0"/>
              <a:t>한 번에 </a:t>
            </a:r>
            <a:r>
              <a:rPr lang="en-US" altLang="ko-KR" sz="1800" dirty="0"/>
              <a:t>8</a:t>
            </a:r>
            <a:r>
              <a:rPr lang="ko-KR" altLang="en-US" sz="1800" dirty="0"/>
              <a:t>개의 숫자를 계산</a:t>
            </a:r>
            <a:r>
              <a:rPr lang="en-US" altLang="ko-KR" sz="1800" dirty="0"/>
              <a:t>) </a:t>
            </a:r>
            <a:r>
              <a:rPr lang="ko-KR" altLang="en-US" sz="1800" dirty="0"/>
              <a:t>구조로</a:t>
            </a:r>
            <a:r>
              <a:rPr lang="en-US" altLang="ko-KR" sz="1800" dirty="0"/>
              <a:t>, </a:t>
            </a:r>
            <a:r>
              <a:rPr lang="ko-KR" altLang="en-US" sz="1800"/>
              <a:t>임베딩</a:t>
            </a:r>
            <a:r>
              <a:rPr lang="ko-KR" altLang="en-US" sz="1800" dirty="0"/>
              <a:t> 연산에 필요한 가벼운 벡터 계산을 수행</a:t>
            </a:r>
            <a:endParaRPr lang="en-US" altLang="ko-KR" sz="1800" dirty="0"/>
          </a:p>
          <a:p>
            <a:r>
              <a:rPr lang="en-US" altLang="ko-KR" sz="1800"/>
              <a:t>Spmem</a:t>
            </a:r>
            <a:r>
              <a:rPr lang="en-US" altLang="ko-KR" sz="1800" dirty="0"/>
              <a:t>: </a:t>
            </a:r>
            <a:r>
              <a:rPr lang="ko-KR" altLang="en-US" sz="1800" dirty="0"/>
              <a:t>각 타일이 사용하는 고속 전용 메모리</a:t>
            </a:r>
            <a:r>
              <a:rPr lang="en-US" altLang="ko-KR" sz="1800" dirty="0"/>
              <a:t>(SRAM) </a:t>
            </a:r>
          </a:p>
          <a:p>
            <a:r>
              <a:rPr lang="en-US" altLang="ko-KR" sz="1800" dirty="0"/>
              <a:t>Flush Unit: </a:t>
            </a:r>
            <a:r>
              <a:rPr lang="ko-KR" altLang="en-US" sz="1800" dirty="0"/>
              <a:t>계산이 끝난 결과를 다시 외부 메모리나 다음 단계로 </a:t>
            </a:r>
            <a:r>
              <a:rPr lang="ko-KR" altLang="en-US" sz="1800"/>
              <a:t>밀어냅</a:t>
            </a:r>
            <a:endParaRPr lang="ko-KR" altLang="en-US" sz="1800" dirty="0"/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F55429-F117-3C0E-A054-67A2143A9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61"/>
          <a:stretch>
            <a:fillRect/>
          </a:stretch>
        </p:blipFill>
        <p:spPr>
          <a:xfrm>
            <a:off x="6411641" y="2964366"/>
            <a:ext cx="5105445" cy="231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15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DFED4-2F33-C11A-AD94-017767A1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4C7AD9-01DF-A74D-73C0-1CCFAD9A6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SparseCore</a:t>
            </a:r>
            <a:endParaRPr lang="ko-KR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A09A00-C313-1A65-0066-490032028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Sort Unit: </a:t>
            </a:r>
            <a:r>
              <a:rPr lang="ko-KR" altLang="en-US" sz="1800" dirty="0" err="1"/>
              <a:t>임베딩</a:t>
            </a:r>
            <a:r>
              <a:rPr lang="ko-KR" altLang="en-US" sz="1800" dirty="0"/>
              <a:t> 인덱스를 정렬</a:t>
            </a:r>
            <a:endParaRPr lang="en-US" altLang="ko-KR" sz="1800" dirty="0"/>
          </a:p>
          <a:p>
            <a:r>
              <a:rPr lang="en-US" altLang="ko-KR" sz="1800" dirty="0"/>
              <a:t>Sparse Reduce Unit: </a:t>
            </a:r>
            <a:r>
              <a:rPr lang="ko-KR" altLang="en-US" sz="1800" dirty="0"/>
              <a:t>여러 개의 </a:t>
            </a:r>
            <a:r>
              <a:rPr lang="ko-KR" altLang="en-US" sz="1800" dirty="0" err="1"/>
              <a:t>임베딩</a:t>
            </a:r>
            <a:r>
              <a:rPr lang="ko-KR" altLang="en-US" sz="1800" dirty="0"/>
              <a:t> 벡터를 하나로 합치는</a:t>
            </a:r>
            <a:r>
              <a:rPr lang="en-US" altLang="ko-KR" sz="1800" dirty="0"/>
              <a:t>(Sum, Mean </a:t>
            </a:r>
            <a:r>
              <a:rPr lang="ko-KR" altLang="en-US" sz="1800" dirty="0"/>
              <a:t>등</a:t>
            </a:r>
            <a:r>
              <a:rPr lang="en-US" altLang="ko-KR" sz="1800" dirty="0"/>
              <a:t>) </a:t>
            </a:r>
            <a:r>
              <a:rPr lang="ko-KR" altLang="en-US" sz="1800" dirty="0" err="1"/>
              <a:t>리덕션</a:t>
            </a:r>
            <a:r>
              <a:rPr lang="ko-KR" altLang="en-US" sz="1800" dirty="0"/>
              <a:t> 연산을 전</a:t>
            </a:r>
            <a:endParaRPr lang="en-US" altLang="ko-KR" sz="1800" dirty="0"/>
          </a:p>
          <a:p>
            <a:r>
              <a:rPr lang="en-US" altLang="ko-KR" sz="1800" dirty="0"/>
              <a:t>Fork Unit: </a:t>
            </a:r>
            <a:r>
              <a:rPr lang="ko-KR" altLang="en-US" sz="1800" dirty="0"/>
              <a:t>데이터를 여러 갈래로 나눔</a:t>
            </a:r>
            <a:endParaRPr lang="en-US" altLang="ko-KR" sz="1800" dirty="0"/>
          </a:p>
          <a:p>
            <a:r>
              <a:rPr lang="en-US" altLang="ko-KR" sz="1800" dirty="0" err="1"/>
              <a:t>Concat</a:t>
            </a:r>
            <a:r>
              <a:rPr lang="en-US" altLang="ko-KR" sz="1800" dirty="0"/>
              <a:t> Unit: </a:t>
            </a:r>
            <a:r>
              <a:rPr lang="ko-KR" altLang="en-US" sz="1800" dirty="0"/>
              <a:t>흩어진 결과물을 하나로 이어 붙임</a:t>
            </a:r>
          </a:p>
        </p:txBody>
      </p:sp>
      <p:pic>
        <p:nvPicPr>
          <p:cNvPr id="9" name="그림 8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927AFC-47ED-B080-A14D-75F97940BF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61"/>
          <a:stretch>
            <a:fillRect/>
          </a:stretch>
        </p:blipFill>
        <p:spPr>
          <a:xfrm>
            <a:off x="6411641" y="2996450"/>
            <a:ext cx="5105445" cy="231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72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120DB-89A3-9AFF-A972-3E5C2342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E2B8A2D-F46F-4DA5-8AFF-BC57461C2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CF7518-30ED-405B-2BC1-71AE34BCF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SparseCore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E10EF-87DF-50D2-453D-898E6D358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2286000"/>
            <a:ext cx="5793475" cy="3581400"/>
          </a:xfrm>
        </p:spPr>
        <p:txBody>
          <a:bodyPr>
            <a:normAutofit/>
          </a:bodyPr>
          <a:lstStyle/>
          <a:p>
            <a:r>
              <a:rPr lang="ko-KR" altLang="en-US" dirty="0"/>
              <a:t>독립된 </a:t>
            </a:r>
            <a:r>
              <a:rPr lang="en-US" altLang="ko-KR" dirty="0"/>
              <a:t>CPU </a:t>
            </a:r>
            <a:r>
              <a:rPr lang="ko-KR" altLang="en-US" dirty="0"/>
              <a:t>구성보다 성능이 좋고 빠름을 보여주고</a:t>
            </a:r>
            <a:r>
              <a:rPr lang="en-US" altLang="ko-KR" dirty="0"/>
              <a:t>, </a:t>
            </a:r>
            <a:r>
              <a:rPr lang="ko-KR" altLang="en-US" dirty="0"/>
              <a:t>이전 모델들보다도 성능이 좋음을 확인할 수 있음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2BAD85-00E4-4D0A-993C-8372E78E1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893CEA-509F-285D-77E4-F4328D734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90" y="965337"/>
            <a:ext cx="3730079" cy="206135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2" name="그림 11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68C176-353B-F9FD-5F22-182D8BDE4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090" y="4245199"/>
            <a:ext cx="3730079" cy="1233569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7434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89FA65-E235-E4A9-A0B3-323BBB71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TPU</a:t>
            </a:r>
            <a:r>
              <a:rPr lang="ko-KR" altLang="en-US" sz="5400" dirty="0">
                <a:solidFill>
                  <a:schemeClr val="bg2"/>
                </a:solidFill>
              </a:rPr>
              <a:t>의 성능 관련 지표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9A636B-3606-6048-2CF1-78B19FFB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54254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47099-C74C-0EA0-3FB9-C5C867FF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ML</a:t>
            </a:r>
            <a:r>
              <a:rPr lang="ko-KR" altLang="en-US" dirty="0"/>
              <a:t>을 사용하여 </a:t>
            </a:r>
            <a:r>
              <a:rPr lang="en-US" altLang="ko-KR" dirty="0"/>
              <a:t>DNN</a:t>
            </a:r>
            <a:r>
              <a:rPr lang="ko-KR" altLang="en-US" dirty="0"/>
              <a:t>을 </a:t>
            </a:r>
            <a:r>
              <a:rPr lang="en-US" altLang="ko-KR" dirty="0"/>
              <a:t>TPU</a:t>
            </a:r>
            <a:r>
              <a:rPr lang="ko-KR" altLang="en-US" dirty="0"/>
              <a:t>에</a:t>
            </a:r>
            <a:r>
              <a:rPr lang="en-US" altLang="ko-KR" dirty="0"/>
              <a:t>, TPU </a:t>
            </a:r>
            <a:r>
              <a:rPr lang="ko-KR" altLang="en-US" dirty="0"/>
              <a:t>토폴로지를 </a:t>
            </a:r>
            <a:r>
              <a:rPr lang="en-US" altLang="ko-KR" dirty="0"/>
              <a:t>DNN</a:t>
            </a:r>
            <a:r>
              <a:rPr lang="ko-KR" altLang="en-US" dirty="0"/>
              <a:t>에 최적화하기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43C4BE-C517-5088-1070-DE4A54B16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9" y="2286000"/>
            <a:ext cx="6176776" cy="3581400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PA-NAS (Platform-Aware Neural Architecture Search):  </a:t>
            </a:r>
            <a:r>
              <a:rPr lang="ko-KR" altLang="en-US" sz="1400" dirty="0"/>
              <a:t>이 모델이 </a:t>
            </a:r>
            <a:r>
              <a:rPr lang="en-US" altLang="ko-KR" sz="1400" dirty="0"/>
              <a:t>TPU v4</a:t>
            </a:r>
            <a:r>
              <a:rPr lang="ko-KR" altLang="en-US" sz="1400" dirty="0"/>
              <a:t>라는 특정 기계에서 얼마나 빨리 돌아가는가</a:t>
            </a:r>
            <a:r>
              <a:rPr lang="en-US" altLang="ko-KR" sz="1400" dirty="0"/>
              <a:t>?"</a:t>
            </a:r>
            <a:r>
              <a:rPr lang="ko-KR" altLang="en-US" sz="1400" dirty="0"/>
              <a:t>까지 고려하여 모델의 구조를 짜는 기술 </a:t>
            </a:r>
            <a:endParaRPr lang="en-US" altLang="ko-KR" sz="1400" dirty="0"/>
          </a:p>
          <a:p>
            <a:r>
              <a:rPr lang="en-US" altLang="ko-KR" sz="1400" dirty="0"/>
              <a:t>DLRM(</a:t>
            </a:r>
            <a:r>
              <a:rPr lang="ko-KR" altLang="en-US" sz="1400" dirty="0"/>
              <a:t>추천 모델</a:t>
            </a:r>
            <a:r>
              <a:rPr lang="en-US" altLang="ko-KR" sz="1400" dirty="0"/>
              <a:t>)</a:t>
            </a:r>
            <a:r>
              <a:rPr lang="ko-KR" altLang="en-US" sz="1400" dirty="0"/>
              <a:t>은 </a:t>
            </a:r>
            <a:r>
              <a:rPr lang="ko-KR" altLang="en-US" sz="1400" dirty="0" err="1"/>
              <a:t>임베딩</a:t>
            </a:r>
            <a:r>
              <a:rPr lang="ko-KR" altLang="en-US" sz="1400" dirty="0"/>
              <a:t> 전용 코어</a:t>
            </a:r>
            <a:r>
              <a:rPr lang="en-US" altLang="ko-KR" sz="1400" dirty="0"/>
              <a:t>(SC)</a:t>
            </a:r>
            <a:r>
              <a:rPr lang="ko-KR" altLang="en-US" sz="1400" dirty="0"/>
              <a:t>와 계산 전용 코어</a:t>
            </a:r>
            <a:r>
              <a:rPr lang="en-US" altLang="ko-KR" sz="1400" dirty="0"/>
              <a:t>(TC)</a:t>
            </a:r>
            <a:r>
              <a:rPr lang="ko-KR" altLang="en-US" sz="1400" dirty="0"/>
              <a:t>를 같이 씁니다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그런데 한쪽이 일을 다 끝냈는데 다른 쪽이 아직 일하고 있으면 노는 코어가 생깁니다</a:t>
            </a:r>
            <a:r>
              <a:rPr lang="en-US" altLang="ko-KR" sz="1400" dirty="0"/>
              <a:t>(</a:t>
            </a:r>
            <a:r>
              <a:rPr lang="ko-KR" altLang="en-US" sz="1400" dirty="0"/>
              <a:t>병목 현상</a:t>
            </a:r>
            <a:r>
              <a:rPr lang="en-US" altLang="ko-KR" sz="1400" dirty="0"/>
              <a:t>) -&gt; PA-NAS</a:t>
            </a:r>
            <a:r>
              <a:rPr lang="ko-KR" altLang="en-US" sz="1400" dirty="0"/>
              <a:t>가 모델의 층</a:t>
            </a:r>
            <a:r>
              <a:rPr lang="en-US" altLang="ko-KR" sz="1400" dirty="0"/>
              <a:t>(layer) </a:t>
            </a:r>
            <a:r>
              <a:rPr lang="ko-KR" altLang="en-US" sz="1400" dirty="0"/>
              <a:t>구성을 바꿔서 </a:t>
            </a:r>
            <a:r>
              <a:rPr lang="en-US" altLang="ko-KR" sz="1400" dirty="0"/>
              <a:t>SC</a:t>
            </a:r>
            <a:r>
              <a:rPr lang="ko-KR" altLang="en-US" sz="1400" dirty="0"/>
              <a:t>와 </a:t>
            </a:r>
            <a:r>
              <a:rPr lang="en-US" altLang="ko-KR" sz="1400" dirty="0"/>
              <a:t>TC</a:t>
            </a:r>
            <a:r>
              <a:rPr lang="ko-KR" altLang="en-US" sz="1400" dirty="0"/>
              <a:t>가 거의 동시에 일을 끝내도록 맞춤</a:t>
            </a:r>
            <a:endParaRPr lang="en-US" altLang="ko-KR" sz="1400" dirty="0"/>
          </a:p>
          <a:p>
            <a:r>
              <a:rPr lang="ko-KR" altLang="en-US" sz="1400" dirty="0"/>
              <a:t>맞춤형 모양</a:t>
            </a:r>
            <a:r>
              <a:rPr lang="en-US" altLang="ko-KR" sz="1400" dirty="0"/>
              <a:t>: </a:t>
            </a:r>
            <a:r>
              <a:rPr lang="ko-KR" altLang="en-US" sz="1400" dirty="0"/>
              <a:t>정육면체 혹은 길쭉한 직사각형으로 묶을지에 따라 성능 천차만별 </a:t>
            </a:r>
            <a:r>
              <a:rPr lang="en-US" altLang="ko-KR" sz="1400" dirty="0"/>
              <a:t>-&gt; </a:t>
            </a:r>
            <a:r>
              <a:rPr lang="ko-KR" altLang="en-US" sz="1400" dirty="0"/>
              <a:t>초보자가 설정한 것보다 </a:t>
            </a:r>
            <a:r>
              <a:rPr lang="en-US" altLang="ko-KR" sz="1400" dirty="0"/>
              <a:t>2.3</a:t>
            </a:r>
            <a:r>
              <a:rPr lang="ko-KR" altLang="en-US" sz="1400" dirty="0"/>
              <a:t>배 </a:t>
            </a:r>
            <a:r>
              <a:rPr lang="ko-KR" altLang="en-US" sz="1400" dirty="0" err="1"/>
              <a:t>빨라짐</a:t>
            </a:r>
            <a:endParaRPr lang="en-US" altLang="ko-KR" sz="1400" dirty="0"/>
          </a:p>
          <a:p>
            <a:r>
              <a:rPr lang="en-US" altLang="ko-KR" sz="1400" dirty="0"/>
              <a:t>TPU v4 </a:t>
            </a:r>
            <a:r>
              <a:rPr lang="ko-KR" altLang="en-US" sz="1400" dirty="0"/>
              <a:t>시스템의 진정한 위력은 하드웨어 자체 뿐만 아니라</a:t>
            </a:r>
            <a:r>
              <a:rPr lang="en-US" altLang="ko-KR" sz="1400" dirty="0"/>
              <a:t>, </a:t>
            </a:r>
            <a:r>
              <a:rPr lang="ko-KR" altLang="en-US" sz="1400" dirty="0"/>
              <a:t>그 하드웨어의 복잡한 연결 구조와 모델의 내부 구조를 </a:t>
            </a:r>
            <a:r>
              <a:rPr lang="en-US" altLang="ko-KR" sz="1400" dirty="0"/>
              <a:t>AI(PA-NAS)</a:t>
            </a:r>
            <a:r>
              <a:rPr lang="ko-KR" altLang="en-US" sz="1400" dirty="0"/>
              <a:t>를 통해 자동 최적화하여 성능을 극한까지 끌어올리는 소프트웨어 지능</a:t>
            </a:r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7" name="그림 6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D16B05-2825-F920-7EDB-12FD2A9F3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437" y="2401556"/>
            <a:ext cx="3060939" cy="1652907"/>
          </a:xfrm>
          <a:prstGeom prst="rect">
            <a:avLst/>
          </a:prstGeom>
        </p:spPr>
      </p:pic>
      <p:pic>
        <p:nvPicPr>
          <p:cNvPr id="9" name="그림 8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4F4310-FA7C-DBC9-AFF4-ACACFA1CE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37" y="4279053"/>
            <a:ext cx="3211495" cy="152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876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2B8A2D-F46F-4DA5-8AFF-BC57461C2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3C3DE9-0EFC-835F-B261-53448A7DF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Production Workload Performance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3FAE2-0495-3375-2D88-8AD499C4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2286000"/>
            <a:ext cx="5793475" cy="3581400"/>
          </a:xfrm>
        </p:spPr>
        <p:txBody>
          <a:bodyPr>
            <a:normAutofit/>
          </a:bodyPr>
          <a:lstStyle/>
          <a:p>
            <a:r>
              <a:rPr lang="en-US" altLang="ko-KR" sz="1100" dirty="0"/>
              <a:t>TPU</a:t>
            </a:r>
            <a:r>
              <a:rPr lang="ko-KR" altLang="en-US" sz="1100" dirty="0"/>
              <a:t> </a:t>
            </a:r>
            <a:r>
              <a:rPr lang="en-US" altLang="ko-KR" sz="1100" dirty="0"/>
              <a:t>v4</a:t>
            </a:r>
            <a:r>
              <a:rPr lang="ko-KR" altLang="en-US" sz="1100" dirty="0"/>
              <a:t>는 실제 구글 서비스 환경에서 압도적인 효율을 보여준다</a:t>
            </a:r>
            <a:endParaRPr lang="en-US" altLang="ko-KR" sz="1100" dirty="0"/>
          </a:p>
          <a:p>
            <a:r>
              <a:rPr lang="ko-KR" altLang="en-US" sz="1100" dirty="0"/>
              <a:t>제조 공정에서 </a:t>
            </a:r>
            <a:r>
              <a:rPr lang="en-US" altLang="ko-KR" sz="1100" dirty="0"/>
              <a:t>v3</a:t>
            </a:r>
            <a:r>
              <a:rPr lang="ko-KR" altLang="en-US" sz="1100" dirty="0"/>
              <a:t>는 </a:t>
            </a:r>
            <a:r>
              <a:rPr lang="en-US" altLang="ko-KR" sz="1100" dirty="0"/>
              <a:t>16nm</a:t>
            </a:r>
            <a:r>
              <a:rPr lang="ko-KR" altLang="en-US" sz="1100" dirty="0"/>
              <a:t>인 반면 </a:t>
            </a:r>
            <a:r>
              <a:rPr lang="en-US" altLang="ko-KR" sz="1100" dirty="0"/>
              <a:t>v4</a:t>
            </a:r>
            <a:r>
              <a:rPr lang="ko-KR" altLang="en-US" sz="1100" dirty="0"/>
              <a:t>는 </a:t>
            </a:r>
            <a:r>
              <a:rPr lang="en-US" altLang="ko-KR" sz="1100" dirty="0"/>
              <a:t>7nm</a:t>
            </a:r>
            <a:r>
              <a:rPr lang="ko-KR" altLang="en-US" sz="1100" dirty="0"/>
              <a:t>로 공정 밀도 향상 덕에 행렬 곱셈기가 두배로 늘어남</a:t>
            </a:r>
            <a:endParaRPr lang="en-US" altLang="ko-KR" sz="1100" dirty="0"/>
          </a:p>
          <a:p>
            <a:r>
              <a:rPr lang="ko-KR" altLang="en-US" sz="1100" dirty="0"/>
              <a:t>하드웨어 부분에서 </a:t>
            </a:r>
            <a:r>
              <a:rPr lang="en-US" altLang="ko-KR" sz="1100" dirty="0"/>
              <a:t>V3</a:t>
            </a:r>
            <a:r>
              <a:rPr lang="ko-KR" altLang="en-US" sz="1100" dirty="0"/>
              <a:t>에서 </a:t>
            </a:r>
            <a:r>
              <a:rPr lang="en-US" altLang="ko-KR" sz="1100" dirty="0"/>
              <a:t>v4</a:t>
            </a:r>
            <a:r>
              <a:rPr lang="ko-KR" altLang="en-US" sz="1100" dirty="0"/>
              <a:t>로 넘어가면서 </a:t>
            </a:r>
            <a:r>
              <a:rPr lang="en-US" altLang="ko-KR" sz="1100" dirty="0"/>
              <a:t>16nm</a:t>
            </a:r>
            <a:r>
              <a:rPr lang="ko-KR" altLang="en-US" sz="1100" dirty="0"/>
              <a:t>에서 </a:t>
            </a:r>
            <a:r>
              <a:rPr lang="en-US" altLang="ko-KR" sz="1100" dirty="0"/>
              <a:t>7nm</a:t>
            </a:r>
            <a:r>
              <a:rPr lang="ko-KR" altLang="en-US" sz="1100" dirty="0"/>
              <a:t>로 넘어가며 칩 안에 더 많은 행렬 곱셈기를 넣을 수 있게 되었고</a:t>
            </a:r>
            <a:r>
              <a:rPr lang="en-US" altLang="ko-KR" sz="1100" dirty="0"/>
              <a:t>, </a:t>
            </a:r>
            <a:r>
              <a:rPr lang="ko-KR" altLang="en-US" sz="1100" dirty="0"/>
              <a:t>성능이 </a:t>
            </a:r>
            <a:r>
              <a:rPr lang="en-US" altLang="ko-KR" sz="1100" dirty="0"/>
              <a:t>2.2</a:t>
            </a:r>
            <a:r>
              <a:rPr lang="ko-KR" altLang="en-US" sz="1100" dirty="0"/>
              <a:t>배 뛰어남</a:t>
            </a:r>
            <a:r>
              <a:rPr lang="en-US" altLang="ko-KR" sz="1100" dirty="0"/>
              <a:t>. </a:t>
            </a:r>
            <a:r>
              <a:rPr lang="ko-KR" altLang="en-US" sz="1100" dirty="0"/>
              <a:t>또한 와트당 성능도 </a:t>
            </a:r>
            <a:r>
              <a:rPr lang="en-US" altLang="ko-KR" sz="1100" dirty="0"/>
              <a:t>2.7</a:t>
            </a:r>
            <a:r>
              <a:rPr lang="ko-KR" altLang="en-US" sz="1100" dirty="0"/>
              <a:t>배 좋아짐</a:t>
            </a:r>
            <a:endParaRPr lang="en-US" altLang="ko-KR" sz="1100" dirty="0"/>
          </a:p>
          <a:p>
            <a:r>
              <a:rPr lang="ko-KR" altLang="en-US" sz="1100" dirty="0"/>
              <a:t>기존 </a:t>
            </a:r>
            <a:r>
              <a:rPr lang="en-US" altLang="ko-KR" sz="1100" dirty="0"/>
              <a:t>HBM</a:t>
            </a:r>
            <a:r>
              <a:rPr lang="ko-KR" altLang="en-US" sz="1100" dirty="0"/>
              <a:t>에 비해 훨씬 가깝고 빠른 비상용 메모리 공간인 </a:t>
            </a:r>
            <a:r>
              <a:rPr lang="en-US" altLang="ko-KR" sz="1100" dirty="0"/>
              <a:t>CMEM</a:t>
            </a:r>
            <a:r>
              <a:rPr lang="ko-KR" altLang="en-US" sz="1100" dirty="0"/>
              <a:t>이 나왔다</a:t>
            </a:r>
            <a:endParaRPr lang="en-US" altLang="ko-KR" sz="1100" dirty="0"/>
          </a:p>
          <a:p>
            <a:r>
              <a:rPr lang="en-US" altLang="ko-KR" sz="1100" dirty="0" err="1"/>
              <a:t>SparseCore</a:t>
            </a:r>
            <a:r>
              <a:rPr lang="en-US" altLang="ko-KR" sz="1100" dirty="0"/>
              <a:t> </a:t>
            </a:r>
            <a:r>
              <a:rPr lang="ko-KR" altLang="en-US" sz="1100" dirty="0"/>
              <a:t>덕분에 훈련 속도가 </a:t>
            </a:r>
            <a:r>
              <a:rPr lang="en-US" altLang="ko-KR" sz="1100" dirty="0"/>
              <a:t>v3 </a:t>
            </a:r>
            <a:r>
              <a:rPr lang="ko-KR" altLang="en-US" sz="1100" dirty="0"/>
              <a:t>대비 </a:t>
            </a:r>
            <a:r>
              <a:rPr lang="en-US" altLang="ko-KR" sz="1100" dirty="0"/>
              <a:t>3</a:t>
            </a:r>
            <a:r>
              <a:rPr lang="ko-KR" altLang="en-US" sz="1100" dirty="0"/>
              <a:t>배 이상 </a:t>
            </a:r>
            <a:r>
              <a:rPr lang="ko-KR" altLang="en-US" sz="1100" dirty="0" err="1"/>
              <a:t>빨라짐</a:t>
            </a:r>
            <a:endParaRPr lang="en-US" altLang="ko-KR" sz="1100" dirty="0"/>
          </a:p>
          <a:p>
            <a:r>
              <a:rPr lang="en-US" altLang="ko-KR" sz="1100" dirty="0"/>
              <a:t>v3</a:t>
            </a:r>
            <a:r>
              <a:rPr lang="ko-KR" altLang="en-US" sz="1100" dirty="0"/>
              <a:t>는 </a:t>
            </a:r>
            <a:r>
              <a:rPr lang="en-US" altLang="ko-KR" sz="1100" dirty="0"/>
              <a:t>2D</a:t>
            </a:r>
            <a:r>
              <a:rPr lang="ko-KR" altLang="en-US" sz="1100" dirty="0"/>
              <a:t>로 네트워크가 고정되어 있어 </a:t>
            </a:r>
            <a:r>
              <a:rPr lang="en-US" altLang="ko-KR" sz="1100" dirty="0"/>
              <a:t>LLM</a:t>
            </a:r>
            <a:r>
              <a:rPr lang="ko-KR" altLang="en-US" sz="1100" dirty="0"/>
              <a:t>을 쪼개서 훈련하기 비효율적이지만 </a:t>
            </a:r>
            <a:r>
              <a:rPr lang="en-US" altLang="ko-KR" sz="1100" dirty="0"/>
              <a:t>v4</a:t>
            </a:r>
            <a:r>
              <a:rPr lang="ko-KR" altLang="en-US" sz="1100" dirty="0"/>
              <a:t>는 </a:t>
            </a:r>
            <a:r>
              <a:rPr lang="en-US" altLang="ko-KR" sz="1100" dirty="0"/>
              <a:t>3D/OCS </a:t>
            </a:r>
            <a:r>
              <a:rPr lang="ko-KR" altLang="en-US" sz="1100" dirty="0"/>
              <a:t>유연한 네트워크가 있어야 최신 </a:t>
            </a:r>
            <a:r>
              <a:rPr lang="en-US" altLang="ko-KR" sz="1100" dirty="0"/>
              <a:t>LLM</a:t>
            </a:r>
            <a:r>
              <a:rPr lang="ko-KR" altLang="en-US" sz="1100" dirty="0"/>
              <a:t>을 제대로 훈련시킬 수 있다는 점을 강조</a:t>
            </a:r>
            <a:endParaRPr lang="en-US" altLang="ko-KR" sz="1100" dirty="0"/>
          </a:p>
          <a:p>
            <a:r>
              <a:rPr lang="ko-KR" altLang="en-US" sz="1100" dirty="0"/>
              <a:t>경쟁사인 </a:t>
            </a:r>
            <a:r>
              <a:rPr lang="en-US" altLang="ko-KR" sz="1100" dirty="0"/>
              <a:t>Nvidia A100</a:t>
            </a:r>
            <a:r>
              <a:rPr lang="ko-KR" altLang="en-US" sz="1100" dirty="0"/>
              <a:t>도 매우 강력한 칩이지만</a:t>
            </a:r>
            <a:r>
              <a:rPr lang="en-US" altLang="ko-KR" sz="1100" dirty="0"/>
              <a:t>, </a:t>
            </a:r>
            <a:r>
              <a:rPr lang="ko-KR" altLang="en-US" sz="1100" dirty="0"/>
              <a:t>구글 </a:t>
            </a:r>
            <a:r>
              <a:rPr lang="en-US" altLang="ko-KR" sz="1100" dirty="0"/>
              <a:t>TPU v4</a:t>
            </a:r>
            <a:r>
              <a:rPr lang="ko-KR" altLang="en-US" sz="1100" dirty="0"/>
              <a:t>가 전력은 훨씬 적게 쓰면서도 성능은 동등하거나 그 이상을 주장 </a:t>
            </a:r>
            <a:r>
              <a:rPr lang="en-US" altLang="ko-KR" sz="1100" dirty="0"/>
              <a:t>-&gt; </a:t>
            </a:r>
            <a:r>
              <a:rPr lang="ko-KR" altLang="en-US" sz="1100" dirty="0"/>
              <a:t>데이터 센터 비용 측면에서 차이 만듦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2BAD85-00E4-4D0A-993C-8372E78E1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7" name="그림 6" descr="텍스트, 영수증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17307E-EE44-EC8C-590F-6F788DD90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690" y="643467"/>
            <a:ext cx="2454878" cy="27051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F8497D-3B3D-750C-72CF-43E4E268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10" y="3509434"/>
            <a:ext cx="3349838" cy="270510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02499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2B8A2D-F46F-4DA5-8AFF-BC57461C2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096583-F405-C0B8-33FF-1B1DFB83F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MLPerf</a:t>
            </a:r>
            <a:r>
              <a:rPr lang="en-US" altLang="ko-KR" dirty="0"/>
              <a:t> Benchmark Performance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637361-1BFD-FF7D-A531-E278CC1E2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1989221"/>
            <a:ext cx="5793475" cy="4539916"/>
          </a:xfrm>
        </p:spPr>
        <p:txBody>
          <a:bodyPr>
            <a:normAutofit/>
          </a:bodyPr>
          <a:lstStyle/>
          <a:p>
            <a:r>
              <a:rPr lang="en-US" altLang="ko-KR" dirty="0"/>
              <a:t>Nvidia A100</a:t>
            </a:r>
            <a:r>
              <a:rPr lang="ko-KR" altLang="en-US" dirty="0"/>
              <a:t>과 </a:t>
            </a:r>
            <a:r>
              <a:rPr lang="en-US" altLang="ko-KR" dirty="0" err="1"/>
              <a:t>Graphcore</a:t>
            </a:r>
            <a:r>
              <a:rPr lang="en-US" altLang="ko-KR" dirty="0"/>
              <a:t> MK2 IPU</a:t>
            </a:r>
            <a:r>
              <a:rPr lang="ko-KR" altLang="en-US" dirty="0"/>
              <a:t>라는 두 가지 후보의 특징을 비교</a:t>
            </a:r>
            <a:endParaRPr lang="en-US" altLang="ko-KR" dirty="0"/>
          </a:p>
          <a:p>
            <a:r>
              <a:rPr lang="en-US" altLang="ko-KR" dirty="0"/>
              <a:t>Google TPU v4: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스레드 수는 적지만</a:t>
            </a:r>
            <a:r>
              <a:rPr lang="en-US" altLang="ko-KR" dirty="0"/>
              <a:t>, </a:t>
            </a:r>
            <a:r>
              <a:rPr lang="ko-KR" altLang="en-US" dirty="0"/>
              <a:t>행렬 연산</a:t>
            </a:r>
            <a:r>
              <a:rPr lang="en-US" altLang="ko-KR" dirty="0"/>
              <a:t>(MXU)</a:t>
            </a:r>
            <a:r>
              <a:rPr lang="ko-KR" altLang="en-US" dirty="0"/>
              <a:t>과 </a:t>
            </a:r>
            <a:r>
              <a:rPr lang="ko-KR" altLang="en-US" dirty="0" err="1"/>
              <a:t>임베딩</a:t>
            </a:r>
            <a:r>
              <a:rPr lang="en-US" altLang="ko-KR" dirty="0"/>
              <a:t>(SC)</a:t>
            </a:r>
            <a:r>
              <a:rPr lang="ko-KR" altLang="en-US" dirty="0"/>
              <a:t>에 특화된 구조입니다</a:t>
            </a:r>
            <a:r>
              <a:rPr lang="en-US" altLang="ko-KR" dirty="0"/>
              <a:t>. </a:t>
            </a:r>
            <a:r>
              <a:rPr lang="ko-KR" altLang="en-US" dirty="0"/>
              <a:t>칩 크기도 경쟁사보다 </a:t>
            </a:r>
            <a:r>
              <a:rPr lang="en-US" altLang="ko-KR" dirty="0"/>
              <a:t>40% </a:t>
            </a:r>
            <a:r>
              <a:rPr lang="ko-KR" altLang="en-US" dirty="0"/>
              <a:t>작아 경제적</a:t>
            </a:r>
            <a:endParaRPr lang="en-US" altLang="ko-KR" dirty="0"/>
          </a:p>
          <a:p>
            <a:r>
              <a:rPr lang="en-US" altLang="ko-KR" dirty="0"/>
              <a:t>Nvidia A100: </a:t>
            </a:r>
            <a:r>
              <a:rPr lang="ko-KR" altLang="en-US" dirty="0"/>
              <a:t>수천 개의 스레드와 거대한 레지스터 파일을 통해 어떤 작업이든 유연하게 처리할 수 있도록 설계</a:t>
            </a:r>
            <a:endParaRPr lang="en-US" altLang="ko-KR" dirty="0"/>
          </a:p>
          <a:p>
            <a:r>
              <a:rPr lang="en-US" altLang="ko-KR" dirty="0" err="1"/>
              <a:t>Graphcore</a:t>
            </a:r>
            <a:r>
              <a:rPr lang="en-US" altLang="ko-KR" dirty="0"/>
              <a:t> IPU: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외부 메모리</a:t>
            </a:r>
            <a:r>
              <a:rPr lang="en-US" altLang="ko-KR" dirty="0"/>
              <a:t>(HBM)</a:t>
            </a:r>
            <a:r>
              <a:rPr lang="ko-KR" altLang="en-US" dirty="0"/>
              <a:t>를 아예 버리고 칩 안에 모든 데이터를 넣으려 시도했습니다</a:t>
            </a:r>
            <a:r>
              <a:rPr lang="en-US" altLang="ko-KR" dirty="0"/>
              <a:t>. </a:t>
            </a:r>
            <a:r>
              <a:rPr lang="ko-KR" altLang="en-US" dirty="0"/>
              <a:t>하지만 이 때문에 시스템 확장성</a:t>
            </a:r>
            <a:r>
              <a:rPr lang="en-US" altLang="ko-KR" dirty="0"/>
              <a:t>(Scalability)</a:t>
            </a:r>
            <a:r>
              <a:rPr lang="ko-KR" altLang="en-US" dirty="0"/>
              <a:t>에서 한계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2BAD85-00E4-4D0A-993C-8372E78E1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7" name="그림 6" descr="텍스트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457C39-BE19-1050-FADF-DF76A37CE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252" y="643467"/>
            <a:ext cx="2741754" cy="27051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그림 4" descr="텍스트, 스크린샷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3FE760-B0CF-0971-AAF8-CA78B7D1E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090" y="3990613"/>
            <a:ext cx="3730079" cy="174274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33489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0DF62-59E2-171C-91C0-CC8176CF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6CA5A-6B92-DE26-3B87-02F2FED70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MLPerf</a:t>
            </a:r>
            <a:r>
              <a:rPr lang="en-US" altLang="ko-KR" dirty="0"/>
              <a:t> Benchmark Performance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93D773-BE65-AE45-030E-BFE5F523A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1989221"/>
            <a:ext cx="5793475" cy="4539916"/>
          </a:xfrm>
        </p:spPr>
        <p:txBody>
          <a:bodyPr>
            <a:normAutofit/>
          </a:bodyPr>
          <a:lstStyle/>
          <a:p>
            <a:r>
              <a:rPr lang="ko-KR" altLang="en-US" dirty="0"/>
              <a:t>성능</a:t>
            </a:r>
            <a:r>
              <a:rPr lang="en-US" altLang="ko-KR" dirty="0"/>
              <a:t>(BERT&amp; Resnet)</a:t>
            </a:r>
          </a:p>
          <a:p>
            <a:r>
              <a:rPr lang="en-US" altLang="ko-KR" dirty="0"/>
              <a:t>BERT: TPU v4</a:t>
            </a:r>
            <a:r>
              <a:rPr lang="ko-KR" altLang="en-US" dirty="0"/>
              <a:t>는 </a:t>
            </a:r>
            <a:r>
              <a:rPr lang="en-US" altLang="ko-KR" dirty="0"/>
              <a:t>A100</a:t>
            </a:r>
            <a:r>
              <a:rPr lang="ko-KR" altLang="en-US" dirty="0"/>
              <a:t>과 비슷한 규모에서 약 </a:t>
            </a:r>
            <a:r>
              <a:rPr lang="en-US" altLang="ko-KR" dirty="0"/>
              <a:t>1.15</a:t>
            </a:r>
            <a:r>
              <a:rPr lang="ko-KR" altLang="en-US" dirty="0"/>
              <a:t>배 더 빠름</a:t>
            </a:r>
            <a:endParaRPr lang="en-US" altLang="ko-KR" dirty="0"/>
          </a:p>
          <a:p>
            <a:r>
              <a:rPr lang="en-US" altLang="ko-KR" dirty="0" err="1"/>
              <a:t>ResNet</a:t>
            </a:r>
            <a:r>
              <a:rPr lang="en-US" altLang="ko-KR" dirty="0"/>
              <a:t> (</a:t>
            </a:r>
            <a:r>
              <a:rPr lang="ko-KR" altLang="en-US" dirty="0"/>
              <a:t>이미지 모델</a:t>
            </a:r>
            <a:r>
              <a:rPr lang="en-US" altLang="ko-KR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TPU v4</a:t>
            </a:r>
            <a:r>
              <a:rPr lang="ko-KR" altLang="en-US" dirty="0"/>
              <a:t>가 </a:t>
            </a:r>
            <a:r>
              <a:rPr lang="en-US" altLang="ko-KR" dirty="0"/>
              <a:t>A100</a:t>
            </a:r>
            <a:r>
              <a:rPr lang="ko-KR" altLang="en-US" dirty="0"/>
              <a:t>보다 </a:t>
            </a:r>
            <a:r>
              <a:rPr lang="en-US" altLang="ko-KR" dirty="0"/>
              <a:t>1.67</a:t>
            </a:r>
            <a:r>
              <a:rPr lang="ko-KR" altLang="en-US" dirty="0"/>
              <a:t>배 더 빠름</a:t>
            </a:r>
            <a:endParaRPr lang="en-US" altLang="ko-KR" dirty="0"/>
          </a:p>
          <a:p>
            <a:r>
              <a:rPr lang="ko-KR" altLang="en-US" dirty="0"/>
              <a:t>구글과 엔비디아는 </a:t>
            </a:r>
            <a:r>
              <a:rPr lang="en-US" altLang="ko-KR" dirty="0"/>
              <a:t>4,000</a:t>
            </a:r>
            <a:r>
              <a:rPr lang="ko-KR" altLang="en-US" dirty="0"/>
              <a:t>개 이상의 칩을 묶어 거대 시스템을 구축할 수 있음을 증명했지만</a:t>
            </a:r>
            <a:r>
              <a:rPr lang="en-US" altLang="ko-KR" dirty="0"/>
              <a:t>, </a:t>
            </a:r>
            <a:r>
              <a:rPr lang="ko-KR" altLang="en-US" dirty="0"/>
              <a:t>그래프코어는 </a:t>
            </a:r>
            <a:r>
              <a:rPr lang="en-US" altLang="ko-KR" dirty="0"/>
              <a:t>256</a:t>
            </a:r>
            <a:r>
              <a:rPr lang="ko-KR" altLang="en-US" dirty="0"/>
              <a:t>개 칩 수준에 머물렀음</a:t>
            </a:r>
            <a:endParaRPr lang="en-US" altLang="ko-KR" dirty="0"/>
          </a:p>
          <a:p>
            <a:r>
              <a:rPr lang="ko-KR" altLang="en-US" dirty="0"/>
              <a:t>동일한 작업을 수행할 때</a:t>
            </a:r>
            <a:r>
              <a:rPr lang="en-US" altLang="ko-KR" dirty="0"/>
              <a:t>, Nvidia A100</a:t>
            </a:r>
            <a:r>
              <a:rPr lang="ko-KR" altLang="en-US" dirty="0"/>
              <a:t>은 </a:t>
            </a:r>
            <a:r>
              <a:rPr lang="en-US" altLang="ko-KR" dirty="0"/>
              <a:t>TPU v4</a:t>
            </a:r>
            <a:r>
              <a:rPr lang="ko-KR" altLang="en-US" dirty="0"/>
              <a:t>보다 전력을 최대 </a:t>
            </a:r>
            <a:r>
              <a:rPr lang="en-US" altLang="ko-KR" dirty="0"/>
              <a:t>1.9</a:t>
            </a:r>
            <a:r>
              <a:rPr lang="ko-KR" altLang="en-US" dirty="0"/>
              <a:t>배</a:t>
            </a:r>
            <a:r>
              <a:rPr lang="en-US" altLang="ko-KR" dirty="0"/>
              <a:t>(</a:t>
            </a:r>
            <a:r>
              <a:rPr lang="ko-KR" altLang="en-US" dirty="0"/>
              <a:t>거의 </a:t>
            </a:r>
            <a:r>
              <a:rPr lang="en-US" altLang="ko-KR" dirty="0"/>
              <a:t>2</a:t>
            </a:r>
            <a:r>
              <a:rPr lang="ko-KR" altLang="en-US" dirty="0"/>
              <a:t>배</a:t>
            </a:r>
            <a:r>
              <a:rPr lang="en-US" altLang="ko-KR" dirty="0"/>
              <a:t>) </a:t>
            </a:r>
            <a:r>
              <a:rPr lang="ko-KR" altLang="en-US" dirty="0"/>
              <a:t>더 많이 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 descr="텍스트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F1550A-B599-43EA-BA35-4A7A4C5F1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252" y="643467"/>
            <a:ext cx="2741754" cy="27051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그림 4" descr="텍스트, 스크린샷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436675-34E0-6B85-83F3-C2A129EF9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090" y="3990613"/>
            <a:ext cx="3730079" cy="174274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37415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08B281-907A-1606-F274-2AE4FE94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Summary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88B4B-C663-0046-3184-AD6894497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542195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793B8-4352-138B-9F96-FCA7E0F8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1947"/>
          </a:xfrm>
        </p:spPr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1D68CD-8986-9794-DF69-AB3741B3F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7747"/>
            <a:ext cx="9601200" cy="4439653"/>
          </a:xfrm>
        </p:spPr>
        <p:txBody>
          <a:bodyPr/>
          <a:lstStyle/>
          <a:p>
            <a:r>
              <a:rPr lang="en-US" altLang="ko-KR" dirty="0"/>
              <a:t>TPU v4</a:t>
            </a:r>
            <a:r>
              <a:rPr lang="ko-KR" altLang="en-US" dirty="0"/>
              <a:t>의 두 가지 주요 아키텍처 기능은 적은 비용으로 엄청난 이점을 제공</a:t>
            </a:r>
            <a:endParaRPr lang="en-US" altLang="ko-KR" dirty="0"/>
          </a:p>
          <a:p>
            <a:r>
              <a:rPr lang="en-US" altLang="ko-KR" dirty="0" err="1"/>
              <a:t>SparseCore</a:t>
            </a:r>
            <a:r>
              <a:rPr lang="ko-KR" altLang="en-US" dirty="0"/>
              <a:t>는 </a:t>
            </a:r>
            <a:r>
              <a:rPr lang="ko-KR" altLang="en-US" dirty="0" err="1"/>
              <a:t>임베딩을</a:t>
            </a:r>
            <a:r>
              <a:rPr lang="ko-KR" altLang="en-US" dirty="0"/>
              <a:t> </a:t>
            </a:r>
            <a:r>
              <a:rPr lang="en-US" altLang="ko-KR" dirty="0"/>
              <a:t>TPU v4 </a:t>
            </a:r>
            <a:r>
              <a:rPr lang="ko-KR" altLang="en-US" dirty="0"/>
              <a:t>슈퍼컴퓨터의 </a:t>
            </a:r>
            <a:r>
              <a:rPr lang="en-US" altLang="ko-KR" dirty="0"/>
              <a:t>128 TiB </a:t>
            </a:r>
            <a:r>
              <a:rPr lang="ko-KR" altLang="en-US" dirty="0"/>
              <a:t>물리 메모리 어디에나 배치할 수 있게 해주는 </a:t>
            </a:r>
            <a:r>
              <a:rPr lang="ko-KR" altLang="en-US" dirty="0" err="1"/>
              <a:t>데이터플로우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코어의 바다</a:t>
            </a:r>
            <a:r>
              <a:rPr lang="en-US" altLang="ko-KR" dirty="0"/>
              <a:t>(sea-of-cores)' </a:t>
            </a:r>
            <a:r>
              <a:rPr lang="ko-KR" altLang="en-US" dirty="0"/>
              <a:t>아키텍처를 제공함으로써 </a:t>
            </a:r>
            <a:r>
              <a:rPr lang="en-US" altLang="ko-KR" dirty="0"/>
              <a:t>DLRM </a:t>
            </a:r>
            <a:r>
              <a:rPr lang="ko-KR" altLang="en-US" dirty="0"/>
              <a:t>모델의 </a:t>
            </a:r>
            <a:r>
              <a:rPr lang="ko-KR" altLang="en-US" dirty="0" err="1"/>
              <a:t>임베딩을</a:t>
            </a:r>
            <a:r>
              <a:rPr lang="ko-KR" altLang="en-US" dirty="0"/>
              <a:t> </a:t>
            </a:r>
            <a:r>
              <a:rPr lang="en-US" altLang="ko-KR" dirty="0"/>
              <a:t>5~7</a:t>
            </a:r>
            <a:r>
              <a:rPr lang="ko-KR" altLang="en-US" dirty="0"/>
              <a:t>배 가속화합니다</a:t>
            </a:r>
            <a:r>
              <a:rPr lang="en-US" altLang="ko-KR" dirty="0"/>
              <a:t>. </a:t>
            </a:r>
            <a:r>
              <a:rPr lang="ko-KR" altLang="en-US" dirty="0"/>
              <a:t>이 이득은 다이 면적과 전력의 약 </a:t>
            </a:r>
            <a:r>
              <a:rPr lang="en-US" altLang="ko-KR" dirty="0"/>
              <a:t>5%</a:t>
            </a:r>
            <a:r>
              <a:rPr lang="ko-KR" altLang="en-US" dirty="0"/>
              <a:t>라는 비용만으로 얻어진다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OCS </a:t>
            </a:r>
            <a:r>
              <a:rPr lang="ko-KR" altLang="en-US" dirty="0"/>
              <a:t>또한 확장성</a:t>
            </a:r>
            <a:r>
              <a:rPr lang="en-US" altLang="ko-KR" dirty="0"/>
              <a:t>, </a:t>
            </a:r>
            <a:r>
              <a:rPr lang="ko-KR" altLang="en-US" dirty="0"/>
              <a:t>개선된 가용성</a:t>
            </a:r>
            <a:r>
              <a:rPr lang="en-US" altLang="ko-KR" dirty="0"/>
              <a:t>, </a:t>
            </a:r>
            <a:r>
              <a:rPr lang="ko-KR" altLang="en-US" dirty="0" err="1"/>
              <a:t>모듈성</a:t>
            </a:r>
            <a:r>
              <a:rPr lang="en-US" altLang="ko-KR" dirty="0"/>
              <a:t>, </a:t>
            </a:r>
            <a:r>
              <a:rPr lang="ko-KR" altLang="en-US" dirty="0"/>
              <a:t>높은 성능</a:t>
            </a:r>
            <a:r>
              <a:rPr lang="en-US" altLang="ko-KR" dirty="0"/>
              <a:t>, </a:t>
            </a:r>
            <a:r>
              <a:rPr lang="ko-KR" altLang="en-US" dirty="0"/>
              <a:t>전력 감소</a:t>
            </a:r>
            <a:r>
              <a:rPr lang="en-US" altLang="ko-KR" dirty="0"/>
              <a:t>, </a:t>
            </a:r>
            <a:r>
              <a:rPr lang="ko-KR" altLang="en-US" dirty="0"/>
              <a:t>스케줄링 단순화</a:t>
            </a:r>
            <a:r>
              <a:rPr lang="en-US" altLang="ko-KR" dirty="0"/>
              <a:t>, </a:t>
            </a:r>
            <a:r>
              <a:rPr lang="ko-KR" altLang="en-US" dirty="0"/>
              <a:t>빠른 </a:t>
            </a:r>
            <a:r>
              <a:rPr lang="ko-KR" altLang="en-US" dirty="0" err="1"/>
              <a:t>베포</a:t>
            </a:r>
            <a:r>
              <a:rPr lang="en-US" altLang="ko-KR" dirty="0"/>
              <a:t>,</a:t>
            </a:r>
            <a:r>
              <a:rPr lang="ko-KR" altLang="en-US" dirty="0"/>
              <a:t> 보안 강화와 같은 </a:t>
            </a:r>
            <a:r>
              <a:rPr lang="en-US" altLang="ko-KR" dirty="0"/>
              <a:t>8</a:t>
            </a:r>
            <a:r>
              <a:rPr lang="ko-KR" altLang="en-US" dirty="0"/>
              <a:t>가지 이점을 제공한다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기능들을 적용한 </a:t>
            </a:r>
            <a:r>
              <a:rPr lang="en-US" altLang="ko-KR" dirty="0"/>
              <a:t>TPU v4</a:t>
            </a:r>
            <a:r>
              <a:rPr lang="ko-KR" altLang="en-US" dirty="0"/>
              <a:t>는 훈련 시간은 </a:t>
            </a:r>
            <a:r>
              <a:rPr lang="en-US" altLang="ko-KR" dirty="0"/>
              <a:t>TPU v3 </a:t>
            </a:r>
            <a:r>
              <a:rPr lang="ko-KR" altLang="en-US" dirty="0"/>
              <a:t>대비 크게 단축되고</a:t>
            </a:r>
            <a:r>
              <a:rPr lang="en-US" altLang="ko-KR" dirty="0"/>
              <a:t>, </a:t>
            </a:r>
            <a:r>
              <a:rPr lang="ko-KR" altLang="en-US" dirty="0"/>
              <a:t>성능과 확장성 및 가용성은 높였으며</a:t>
            </a:r>
            <a:r>
              <a:rPr lang="en-US" altLang="ko-KR" dirty="0"/>
              <a:t>, </a:t>
            </a:r>
            <a:r>
              <a:rPr lang="ko-KR" altLang="en-US" dirty="0"/>
              <a:t>에너지 소비량도 감소하여 놀라운 잠재력을 가졌음을 보인다</a:t>
            </a:r>
            <a:r>
              <a:rPr lang="en-US" altLang="ko-KR" dirty="0"/>
              <a:t>. -&gt; </a:t>
            </a:r>
            <a:r>
              <a:rPr lang="ko-KR" altLang="en-US" dirty="0"/>
              <a:t>지속 가능한 </a:t>
            </a:r>
            <a:r>
              <a:rPr lang="en-US" altLang="ko-KR" dirty="0"/>
              <a:t>AI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8299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27708-C3B9-09F1-1527-35C4D24B0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54242"/>
          </a:xfrm>
        </p:spPr>
        <p:txBody>
          <a:bodyPr/>
          <a:lstStyle/>
          <a:p>
            <a:r>
              <a:rPr lang="en-US" altLang="ko-KR" dirty="0"/>
              <a:t>TPU vs DFX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11A30AB-B72E-A3BC-DC31-F7DAE60A99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3682382"/>
              </p:ext>
            </p:extLst>
          </p:nvPr>
        </p:nvGraphicFramePr>
        <p:xfrm>
          <a:off x="1371600" y="1363579"/>
          <a:ext cx="9601197" cy="466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1485047206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465639192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1918972717"/>
                    </a:ext>
                  </a:extLst>
                </a:gridCol>
              </a:tblGrid>
              <a:tr h="888732">
                <a:tc>
                  <a:txBody>
                    <a:bodyPr/>
                    <a:lstStyle/>
                    <a:p>
                      <a:pPr latinLnBrk="1"/>
                      <a:endParaRPr lang="ko-KR" alt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600" dirty="0"/>
                        <a:t>TPU</a:t>
                      </a:r>
                      <a:r>
                        <a:rPr lang="ko-KR" altLang="en-US" sz="3600" dirty="0"/>
                        <a:t> </a:t>
                      </a:r>
                      <a:r>
                        <a:rPr lang="en-US" altLang="ko-KR" sz="3600" dirty="0"/>
                        <a:t>v4</a:t>
                      </a:r>
                      <a:endParaRPr lang="ko-KR" alt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600" dirty="0"/>
                        <a:t>DFX</a:t>
                      </a:r>
                      <a:endParaRPr lang="ko-KR" alt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54523"/>
                  </a:ext>
                </a:extLst>
              </a:tr>
              <a:tr h="888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하드웨어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ASIC </a:t>
                      </a:r>
                      <a:r>
                        <a:rPr lang="ko-KR" altLang="en-US" sz="2800" dirty="0"/>
                        <a:t>기반 </a:t>
                      </a:r>
                      <a:r>
                        <a:rPr lang="en-US" altLang="ko-KR" sz="2800" dirty="0"/>
                        <a:t>DSA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멀티 </a:t>
                      </a:r>
                      <a:r>
                        <a:rPr lang="en-US" altLang="ko-KR" sz="2800" dirty="0"/>
                        <a:t>FPGA </a:t>
                      </a:r>
                      <a:r>
                        <a:rPr lang="ko-KR" altLang="en-US" sz="2800" dirty="0"/>
                        <a:t>기반 </a:t>
                      </a:r>
                      <a:r>
                        <a:rPr lang="ko-KR" altLang="en-US" sz="2800" dirty="0" err="1"/>
                        <a:t>어플라이언스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600404"/>
                  </a:ext>
                </a:extLst>
              </a:tr>
              <a:tr h="888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핵심 가속기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 err="1"/>
                        <a:t>SparseCore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Custom Decoder Core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289206"/>
                  </a:ext>
                </a:extLst>
              </a:tr>
              <a:tr h="888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상호 연결성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광학 회로 스위치</a:t>
                      </a:r>
                      <a:r>
                        <a:rPr lang="en-US" altLang="ko-KR" sz="2800" dirty="0"/>
                        <a:t>(OCS)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링 네트워크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58138"/>
                  </a:ext>
                </a:extLst>
              </a:tr>
              <a:tr h="888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확장 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4096</a:t>
                      </a:r>
                      <a:r>
                        <a:rPr lang="ko-KR" altLang="en-US" sz="2800" dirty="0"/>
                        <a:t>개의 칩을 연결한 슈퍼컴퓨터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4</a:t>
                      </a:r>
                      <a:r>
                        <a:rPr lang="ko-KR" altLang="en-US" sz="2800" dirty="0"/>
                        <a:t>개의 </a:t>
                      </a:r>
                      <a:r>
                        <a:rPr lang="en-US" altLang="ko-KR" sz="2800" dirty="0"/>
                        <a:t>FPGA </a:t>
                      </a:r>
                      <a:r>
                        <a:rPr lang="ko-KR" altLang="en-US" sz="2800" dirty="0"/>
                        <a:t>탑재한 서버 </a:t>
                      </a:r>
                      <a:r>
                        <a:rPr lang="ko-KR" altLang="en-US" sz="2800" dirty="0" err="1"/>
                        <a:t>어플라이언스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934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890673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908</TotalTime>
  <Words>1837</Words>
  <Application>Microsoft Office PowerPoint</Application>
  <PresentationFormat>와이드스크린</PresentationFormat>
  <Paragraphs>143</Paragraphs>
  <Slides>34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7" baseType="lpstr">
      <vt:lpstr>맑은 고딕</vt:lpstr>
      <vt:lpstr>Franklin Gothic Book</vt:lpstr>
      <vt:lpstr>자르기</vt:lpstr>
      <vt:lpstr>TPU_v4 논문 리뷰</vt:lpstr>
      <vt:lpstr>목차</vt:lpstr>
      <vt:lpstr>Abstract</vt:lpstr>
      <vt:lpstr>Abstract</vt:lpstr>
      <vt:lpstr>Introduction</vt:lpstr>
      <vt:lpstr>Introduction</vt:lpstr>
      <vt:lpstr>TPU v1</vt:lpstr>
      <vt:lpstr>TPU 등장 배경</vt:lpstr>
      <vt:lpstr>TPU 구조(Interface</vt:lpstr>
      <vt:lpstr>TPU 구조(Memory System)</vt:lpstr>
      <vt:lpstr>TPU 구조(Compute Unit)</vt:lpstr>
      <vt:lpstr>TPU 구조(Control)</vt:lpstr>
      <vt:lpstr>Optical Circuit Switching</vt:lpstr>
      <vt:lpstr>Optical Circuit Switching</vt:lpstr>
      <vt:lpstr>Optical Circuit Switching</vt:lpstr>
      <vt:lpstr>Optical Circuit Switching</vt:lpstr>
      <vt:lpstr>Optical Circuit Switching</vt:lpstr>
      <vt:lpstr>Optical Circuit Switching</vt:lpstr>
      <vt:lpstr>Optical Circuit Switching</vt:lpstr>
      <vt:lpstr>Optical Circuit Switching</vt:lpstr>
      <vt:lpstr>SparseCore</vt:lpstr>
      <vt:lpstr>SparseCore</vt:lpstr>
      <vt:lpstr>SparseCore</vt:lpstr>
      <vt:lpstr>SparseCore</vt:lpstr>
      <vt:lpstr>SparseCore</vt:lpstr>
      <vt:lpstr>SparseCore</vt:lpstr>
      <vt:lpstr>TPU의 성능 관련 지표</vt:lpstr>
      <vt:lpstr>ML을 사용하여 DNN을 TPU에, TPU 토폴로지를 DNN에 최적화하기</vt:lpstr>
      <vt:lpstr>Production Workload Performance</vt:lpstr>
      <vt:lpstr>MLPerf Benchmark Performance</vt:lpstr>
      <vt:lpstr>MLPerf Benchmark Performance</vt:lpstr>
      <vt:lpstr>Summary</vt:lpstr>
      <vt:lpstr>Summary</vt:lpstr>
      <vt:lpstr>TPU vs DFX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58</cp:revision>
  <dcterms:created xsi:type="dcterms:W3CDTF">2026-01-04T06:56:11Z</dcterms:created>
  <dcterms:modified xsi:type="dcterms:W3CDTF">2026-01-09T02:12:05Z</dcterms:modified>
</cp:coreProperties>
</file>
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8"/>
  </p:notesMasterIdLst>
  <p:sldIdLst>
    <p:sldId id="256" r:id="rId2"/>
    <p:sldId id="257" r:id="rId3"/>
    <p:sldId id="258" r:id="rId4"/>
    <p:sldId id="259" r:id="rId5"/>
    <p:sldId id="260" r:id="rId6"/>
    <p:sldId id="261" r:id="rId7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EFEDE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>
        <p:scale>
          <a:sx n="75" d="100"/>
          <a:sy n="75" d="100"/>
        </p:scale>
        <p:origin x="974" y="139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EA91DB4-8319-4C0D-B896-58B09F073C35}" type="datetimeFigureOut">
              <a:rPr lang="ko-KR" altLang="en-US" smtClean="0"/>
              <a:t>2025-12-31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A852C1A-9419-47C3-95A9-3395D07A097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55428612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A852C1A-9419-47C3-95A9-3395D07A0970}" type="slidenum">
              <a:rPr lang="ko-KR" altLang="en-US" smtClean="0"/>
              <a:t>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8747914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제목 슬라이드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915128" y="1788454"/>
            <a:ext cx="8361229" cy="2098226"/>
          </a:xfrm>
        </p:spPr>
        <p:txBody>
          <a:bodyPr anchor="b">
            <a:noAutofit/>
          </a:bodyPr>
          <a:lstStyle>
            <a:lvl1pPr algn="ctr">
              <a:defRPr sz="7200" cap="all" baseline="0">
                <a:solidFill>
                  <a:schemeClr val="tx2"/>
                </a:solidFill>
              </a:defRPr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679906" y="3956279"/>
            <a:ext cx="6831673" cy="1086237"/>
          </a:xfrm>
        </p:spPr>
        <p:txBody>
          <a:bodyPr>
            <a:normAutofit/>
          </a:bodyPr>
          <a:lstStyle>
            <a:lvl1pPr marL="0" indent="0"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  <a:defRPr sz="23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52858" y="6453386"/>
            <a:ext cx="1607944" cy="404614"/>
          </a:xfrm>
        </p:spPr>
        <p:txBody>
          <a:bodyPr/>
          <a:lstStyle>
            <a:lvl1pPr>
              <a:defRPr baseline="0">
                <a:solidFill>
                  <a:schemeClr val="tx2"/>
                </a:solidFill>
              </a:defRPr>
            </a:lvl1pPr>
          </a:lstStyle>
          <a:p>
            <a:fld id="{20C978E2-C29A-4526-BE91-E925C97CC288}" type="datetimeFigureOut">
              <a:rPr lang="ko-KR" altLang="en-US" smtClean="0"/>
              <a:t>2025-12-31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584054" y="6453386"/>
            <a:ext cx="7023377" cy="404614"/>
          </a:xfrm>
        </p:spPr>
        <p:txBody>
          <a:bodyPr/>
          <a:lstStyle>
            <a:lvl1pPr algn="ctr">
              <a:defRPr baseline="0">
                <a:solidFill>
                  <a:schemeClr val="tx2"/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830683" y="6453386"/>
            <a:ext cx="1596292" cy="404614"/>
          </a:xfrm>
        </p:spPr>
        <p:txBody>
          <a:bodyPr/>
          <a:lstStyle>
            <a:lvl1pPr>
              <a:defRPr baseline="0">
                <a:solidFill>
                  <a:schemeClr val="tx2"/>
                </a:solidFill>
              </a:defRPr>
            </a:lvl1pPr>
          </a:lstStyle>
          <a:p>
            <a:fld id="{B55460C8-10B2-4A58-A465-AE559D76544D}" type="slidenum">
              <a:rPr lang="ko-KR" altLang="en-US" smtClean="0"/>
              <a:t>‹#›</a:t>
            </a:fld>
            <a:endParaRPr lang="ko-KR" altLang="en-US"/>
          </a:p>
        </p:txBody>
      </p:sp>
      <p:grpSp>
        <p:nvGrpSpPr>
          <p:cNvPr id="7" name="Group 6"/>
          <p:cNvGrpSpPr/>
          <p:nvPr/>
        </p:nvGrpSpPr>
        <p:grpSpPr>
          <a:xfrm>
            <a:off x="752858" y="744469"/>
            <a:ext cx="10674117" cy="5349671"/>
            <a:chOff x="752858" y="744469"/>
            <a:chExt cx="10674117" cy="5349671"/>
          </a:xfrm>
        </p:grpSpPr>
        <p:sp>
          <p:nvSpPr>
            <p:cNvPr id="11" name="Freeform 6"/>
            <p:cNvSpPr/>
            <p:nvPr/>
          </p:nvSpPr>
          <p:spPr bwMode="auto">
            <a:xfrm>
              <a:off x="8151962" y="1685652"/>
              <a:ext cx="3275013" cy="4408488"/>
            </a:xfrm>
            <a:custGeom>
              <a:avLst/>
              <a:gdLst/>
              <a:ahLst/>
              <a:cxnLst/>
              <a:rect l="l" t="t" r="r" b="b"/>
              <a:pathLst>
                <a:path w="10000" h="10000">
                  <a:moveTo>
                    <a:pt x="8761" y="0"/>
                  </a:moveTo>
                  <a:lnTo>
                    <a:pt x="10000" y="0"/>
                  </a:lnTo>
                  <a:lnTo>
                    <a:pt x="10000" y="10000"/>
                  </a:lnTo>
                  <a:lnTo>
                    <a:pt x="0" y="10000"/>
                  </a:lnTo>
                  <a:lnTo>
                    <a:pt x="0" y="9126"/>
                  </a:lnTo>
                  <a:lnTo>
                    <a:pt x="8761" y="9127"/>
                  </a:lnTo>
                  <a:lnTo>
                    <a:pt x="8761" y="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14" name="Freeform 6"/>
            <p:cNvSpPr/>
            <p:nvPr/>
          </p:nvSpPr>
          <p:spPr bwMode="auto">
            <a:xfrm flipH="1" flipV="1">
              <a:off x="752858" y="744469"/>
              <a:ext cx="3275668" cy="4408488"/>
            </a:xfrm>
            <a:custGeom>
              <a:avLst/>
              <a:gdLst/>
              <a:ahLst/>
              <a:cxnLst/>
              <a:rect l="l" t="t" r="r" b="b"/>
              <a:pathLst>
                <a:path w="10002" h="10000">
                  <a:moveTo>
                    <a:pt x="8763" y="0"/>
                  </a:moveTo>
                  <a:lnTo>
                    <a:pt x="10002" y="0"/>
                  </a:lnTo>
                  <a:lnTo>
                    <a:pt x="10002" y="10000"/>
                  </a:lnTo>
                  <a:lnTo>
                    <a:pt x="2" y="10000"/>
                  </a:lnTo>
                  <a:cubicBezTo>
                    <a:pt x="-2" y="9698"/>
                    <a:pt x="4" y="9427"/>
                    <a:pt x="0" y="9125"/>
                  </a:cubicBezTo>
                  <a:lnTo>
                    <a:pt x="8763" y="9128"/>
                  </a:lnTo>
                  <a:lnTo>
                    <a:pt x="8763" y="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ko-KR" altLang="en-US"/>
            </a:p>
          </p:txBody>
        </p:sp>
      </p:grpSp>
    </p:spTree>
    <p:extLst>
      <p:ext uri="{BB962C8B-B14F-4D97-AF65-F5344CB8AC3E}">
        <p14:creationId xmlns:p14="http://schemas.microsoft.com/office/powerpoint/2010/main" val="4233860245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C978E2-C29A-4526-BE91-E925C97CC288}" type="datetimeFigureOut">
              <a:rPr lang="ko-KR" altLang="en-US" smtClean="0"/>
              <a:t>2025-12-31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5460C8-10B2-4A58-A465-AE559D76544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54982823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구역 머리글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65025" y="1301360"/>
            <a:ext cx="9612971" cy="2852737"/>
          </a:xfrm>
        </p:spPr>
        <p:txBody>
          <a:bodyPr anchor="b">
            <a:normAutofit/>
          </a:bodyPr>
          <a:lstStyle>
            <a:lvl1pPr algn="r">
              <a:defRPr sz="7200" cap="all" baseline="0">
                <a:solidFill>
                  <a:schemeClr val="tx2"/>
                </a:solidFill>
              </a:defRPr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65025" y="4216328"/>
            <a:ext cx="9612971" cy="1143324"/>
          </a:xfrm>
        </p:spPr>
        <p:txBody>
          <a:bodyPr/>
          <a:lstStyle>
            <a:lvl1pPr marL="0" indent="0" algn="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  <a:defRPr sz="2400">
                <a:solidFill>
                  <a:schemeClr val="tx2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38908" y="6453386"/>
            <a:ext cx="1622409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20C978E2-C29A-4526-BE91-E925C97CC288}" type="datetimeFigureOut">
              <a:rPr lang="ko-KR" altLang="en-US" smtClean="0"/>
              <a:t>2025-12-31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584312" y="6453386"/>
            <a:ext cx="7023377" cy="404614"/>
          </a:xfrm>
        </p:spPr>
        <p:txBody>
          <a:bodyPr/>
          <a:lstStyle>
            <a:lvl1pPr algn="ctr">
              <a:defRPr>
                <a:solidFill>
                  <a:schemeClr val="tx2"/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830683" y="6453386"/>
            <a:ext cx="1596292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B55460C8-10B2-4A58-A465-AE559D76544D}" type="slidenum">
              <a:rPr lang="ko-KR" altLang="en-US" smtClean="0"/>
              <a:t>‹#›</a:t>
            </a:fld>
            <a:endParaRPr lang="ko-KR" altLang="en-US"/>
          </a:p>
        </p:txBody>
      </p:sp>
      <p:sp>
        <p:nvSpPr>
          <p:cNvPr id="7" name="Freeform 6" title="Crop Mark"/>
          <p:cNvSpPr/>
          <p:nvPr/>
        </p:nvSpPr>
        <p:spPr bwMode="auto">
          <a:xfrm>
            <a:off x="8151962" y="1685652"/>
            <a:ext cx="3275013" cy="4408488"/>
          </a:xfrm>
          <a:custGeom>
            <a:avLst/>
            <a:gdLst/>
            <a:ahLst/>
            <a:cxnLst/>
            <a:rect l="0" t="0" r="r" b="b"/>
            <a:pathLst>
              <a:path w="4125" h="5554">
                <a:moveTo>
                  <a:pt x="3614" y="0"/>
                </a:moveTo>
                <a:lnTo>
                  <a:pt x="4125" y="0"/>
                </a:lnTo>
                <a:lnTo>
                  <a:pt x="4125" y="5554"/>
                </a:lnTo>
                <a:lnTo>
                  <a:pt x="0" y="5554"/>
                </a:lnTo>
                <a:lnTo>
                  <a:pt x="0" y="5074"/>
                </a:lnTo>
                <a:lnTo>
                  <a:pt x="3614" y="5074"/>
                </a:lnTo>
                <a:lnTo>
                  <a:pt x="3614" y="0"/>
                </a:lnTo>
                <a:close/>
              </a:path>
            </a:pathLst>
          </a:custGeom>
          <a:solidFill>
            <a:schemeClr val="tx2"/>
          </a:solidFill>
          <a:ln w="0">
            <a:noFill/>
            <a:prstDash val="solid"/>
            <a:round/>
            <a:headEnd/>
            <a:tailEnd/>
          </a:ln>
        </p:spPr>
        <p:txBody>
          <a:bodyPr/>
          <a:lstStyle/>
          <a:p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513494891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371600" y="2285999"/>
            <a:ext cx="4447786" cy="3581401"/>
          </a:xfrm>
        </p:spPr>
        <p:txBody>
          <a:bodyPr/>
          <a:lstStyle>
            <a:lvl1pPr>
              <a:defRPr baseline="0">
                <a:solidFill>
                  <a:schemeClr val="tx2"/>
                </a:solidFill>
              </a:defRPr>
            </a:lvl1pPr>
            <a:lvl2pPr>
              <a:defRPr baseline="0">
                <a:solidFill>
                  <a:schemeClr val="tx2"/>
                </a:solidFill>
              </a:defRPr>
            </a:lvl2pPr>
            <a:lvl3pPr>
              <a:defRPr baseline="0">
                <a:solidFill>
                  <a:schemeClr val="tx2"/>
                </a:solidFill>
              </a:defRPr>
            </a:lvl3pPr>
            <a:lvl4pPr>
              <a:defRPr baseline="0">
                <a:solidFill>
                  <a:schemeClr val="tx2"/>
                </a:solidFill>
              </a:defRPr>
            </a:lvl4pPr>
            <a:lvl5pPr>
              <a:defRPr baseline="0">
                <a:solidFill>
                  <a:schemeClr val="tx2"/>
                </a:solidFill>
              </a:defRPr>
            </a:lvl5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525403" y="2285999"/>
            <a:ext cx="4447786" cy="3581401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C978E2-C29A-4526-BE91-E925C97CC288}" type="datetimeFigureOut">
              <a:rPr lang="ko-KR" altLang="en-US" smtClean="0"/>
              <a:t>2025-12-31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5460C8-10B2-4A58-A465-AE559D76544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00627551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71600" y="685800"/>
            <a:ext cx="9601200" cy="1485900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71600" y="2340864"/>
            <a:ext cx="4443984" cy="823912"/>
          </a:xfrm>
        </p:spPr>
        <p:txBody>
          <a:bodyPr anchor="b">
            <a:noAutofit/>
          </a:bodyPr>
          <a:lstStyle>
            <a:lvl1pPr marL="0" indent="0">
              <a:lnSpc>
                <a:spcPct val="84000"/>
              </a:lnSpc>
              <a:spcBef>
                <a:spcPts val="0"/>
              </a:spcBef>
              <a:spcAft>
                <a:spcPts val="0"/>
              </a:spcAft>
              <a:buNone/>
              <a:defRPr sz="3000" b="0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371600" y="3305207"/>
            <a:ext cx="4443984" cy="2562193"/>
          </a:xfrm>
        </p:spPr>
        <p:txBody>
          <a:bodyPr/>
          <a:lstStyle>
            <a:lvl1pPr>
              <a:defRPr baseline="0">
                <a:solidFill>
                  <a:schemeClr val="tx2"/>
                </a:solidFill>
              </a:defRPr>
            </a:lvl1pPr>
            <a:lvl2pPr>
              <a:defRPr baseline="0">
                <a:solidFill>
                  <a:schemeClr val="tx2"/>
                </a:solidFill>
              </a:defRPr>
            </a:lvl2pPr>
            <a:lvl3pPr>
              <a:defRPr baseline="0">
                <a:solidFill>
                  <a:schemeClr val="tx2"/>
                </a:solidFill>
              </a:defRPr>
            </a:lvl3pPr>
            <a:lvl4pPr>
              <a:defRPr baseline="0">
                <a:solidFill>
                  <a:schemeClr val="tx2"/>
                </a:solidFill>
              </a:defRPr>
            </a:lvl4pPr>
            <a:lvl5pPr>
              <a:defRPr baseline="0">
                <a:solidFill>
                  <a:schemeClr val="tx2"/>
                </a:solidFill>
              </a:defRPr>
            </a:lvl5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525014" y="2340864"/>
            <a:ext cx="4443984" cy="823912"/>
          </a:xfrm>
        </p:spPr>
        <p:txBody>
          <a:bodyPr anchor="b">
            <a:noAutofit/>
          </a:bodyPr>
          <a:lstStyle>
            <a:lvl1pPr marL="0" indent="0">
              <a:lnSpc>
                <a:spcPct val="84000"/>
              </a:lnSpc>
              <a:spcBef>
                <a:spcPts val="0"/>
              </a:spcBef>
              <a:spcAft>
                <a:spcPts val="0"/>
              </a:spcAft>
              <a:buNone/>
              <a:defRPr sz="3000" b="0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525014" y="3305207"/>
            <a:ext cx="4443984" cy="2562193"/>
          </a:xfrm>
        </p:spPr>
        <p:txBody>
          <a:bodyPr/>
          <a:lstStyle>
            <a:lvl1pPr>
              <a:defRPr baseline="0">
                <a:solidFill>
                  <a:schemeClr val="tx2"/>
                </a:solidFill>
              </a:defRPr>
            </a:lvl1pPr>
            <a:lvl2pPr>
              <a:defRPr baseline="0">
                <a:solidFill>
                  <a:schemeClr val="tx2"/>
                </a:solidFill>
              </a:defRPr>
            </a:lvl2pPr>
            <a:lvl3pPr>
              <a:defRPr baseline="0">
                <a:solidFill>
                  <a:schemeClr val="tx2"/>
                </a:solidFill>
              </a:defRPr>
            </a:lvl3pPr>
            <a:lvl4pPr>
              <a:defRPr baseline="0">
                <a:solidFill>
                  <a:schemeClr val="tx2"/>
                </a:solidFill>
              </a:defRPr>
            </a:lvl4pPr>
            <a:lvl5pPr>
              <a:defRPr baseline="0">
                <a:solidFill>
                  <a:schemeClr val="tx2"/>
                </a:solidFill>
              </a:defRPr>
            </a:lvl5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C978E2-C29A-4526-BE91-E925C97CC288}" type="datetimeFigureOut">
              <a:rPr lang="ko-KR" altLang="en-US" smtClean="0"/>
              <a:t>2025-12-31</a:t>
            </a:fld>
            <a:endParaRPr lang="ko-KR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5460C8-10B2-4A58-A465-AE559D76544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90591243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C978E2-C29A-4526-BE91-E925C97CC288}" type="datetimeFigureOut">
              <a:rPr lang="ko-KR" altLang="en-US" smtClean="0"/>
              <a:t>2025-12-31</a:t>
            </a:fld>
            <a:endParaRPr lang="ko-KR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5460C8-10B2-4A58-A465-AE559D76544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5950479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C978E2-C29A-4526-BE91-E925C97CC288}" type="datetimeFigureOut">
              <a:rPr lang="ko-KR" altLang="en-US" smtClean="0"/>
              <a:t>2025-12-31</a:t>
            </a:fld>
            <a:endParaRPr lang="ko-KR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5460C8-10B2-4A58-A465-AE559D76544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64327169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 title="Background Shape"/>
          <p:cNvSpPr/>
          <p:nvPr/>
        </p:nvSpPr>
        <p:spPr>
          <a:xfrm>
            <a:off x="0" y="376"/>
            <a:ext cx="5303520" cy="685762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ko-KR" alt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3900" y="685800"/>
            <a:ext cx="3855720" cy="2157884"/>
          </a:xfrm>
        </p:spPr>
        <p:txBody>
          <a:bodyPr anchor="t">
            <a:noAutofit/>
          </a:bodyPr>
          <a:lstStyle>
            <a:lvl1pPr>
              <a:lnSpc>
                <a:spcPct val="84000"/>
              </a:lnSpc>
              <a:defRPr sz="4800" baseline="0">
                <a:solidFill>
                  <a:schemeClr val="tx2"/>
                </a:solidFill>
              </a:defRPr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256020" y="685801"/>
            <a:ext cx="5212080" cy="5175250"/>
          </a:xfrm>
        </p:spPr>
        <p:txBody>
          <a:bodyPr/>
          <a:lstStyle>
            <a:lvl1pPr>
              <a:defRPr sz="2000"/>
            </a:lvl1pPr>
            <a:lvl2pPr>
              <a:defRPr sz="2000"/>
            </a:lvl2pPr>
            <a:lvl3pPr>
              <a:defRPr sz="1800"/>
            </a:lvl3pPr>
            <a:lvl4pPr>
              <a:defRPr sz="18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23900" y="2856344"/>
            <a:ext cx="3855720" cy="3011056"/>
          </a:xfrm>
        </p:spPr>
        <p:txBody>
          <a:bodyPr/>
          <a:lstStyle>
            <a:lvl1pPr marL="0" indent="0">
              <a:lnSpc>
                <a:spcPct val="113000"/>
              </a:lnSpc>
              <a:spcBef>
                <a:spcPts val="0"/>
              </a:spcBef>
              <a:spcAft>
                <a:spcPts val="1500"/>
              </a:spcAft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723900" y="6453386"/>
            <a:ext cx="1204572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20C978E2-C29A-4526-BE91-E925C97CC288}" type="datetimeFigureOut">
              <a:rPr lang="ko-KR" altLang="en-US" smtClean="0"/>
              <a:t>2025-12-31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2205945" y="6453386"/>
            <a:ext cx="2373675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9883140" y="6453386"/>
            <a:ext cx="1596292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B55460C8-10B2-4A58-A465-AE559D76544D}" type="slidenum">
              <a:rPr lang="ko-KR" altLang="en-US" smtClean="0"/>
              <a:t>‹#›</a:t>
            </a:fld>
            <a:endParaRPr lang="ko-KR" altLang="en-US"/>
          </a:p>
        </p:txBody>
      </p:sp>
      <p:sp>
        <p:nvSpPr>
          <p:cNvPr id="9" name="Rectangle 8" title="Divider Bar"/>
          <p:cNvSpPr/>
          <p:nvPr/>
        </p:nvSpPr>
        <p:spPr>
          <a:xfrm>
            <a:off x="5303520" y="376"/>
            <a:ext cx="228600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8262554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 title="Background Shape"/>
          <p:cNvSpPr/>
          <p:nvPr/>
        </p:nvSpPr>
        <p:spPr>
          <a:xfrm>
            <a:off x="0" y="376"/>
            <a:ext cx="5303520" cy="685762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ko-KR" alt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3900" y="685800"/>
            <a:ext cx="3855720" cy="2157884"/>
          </a:xfrm>
        </p:spPr>
        <p:txBody>
          <a:bodyPr anchor="t">
            <a:normAutofit/>
          </a:bodyPr>
          <a:lstStyle>
            <a:lvl1pPr>
              <a:lnSpc>
                <a:spcPct val="84000"/>
              </a:lnSpc>
              <a:defRPr sz="4800" baseline="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532120" y="0"/>
            <a:ext cx="6659880" cy="6857999"/>
          </a:xfrm>
        </p:spPr>
        <p:txBody>
          <a:bodyPr anchor="t">
            <a:normAutofit/>
          </a:bodyPr>
          <a:lstStyle>
            <a:lvl1pPr marL="0" indent="0">
              <a:buNone/>
              <a:defRPr sz="2000"/>
            </a:lvl1pPr>
            <a:lvl2pPr marL="457200" indent="0">
              <a:buNone/>
              <a:defRPr sz="2000"/>
            </a:lvl2pPr>
            <a:lvl3pPr marL="914400" indent="0">
              <a:buNone/>
              <a:defRPr sz="20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ko-KR" altLang="en-US"/>
              <a:t>그림을 추가하려면 아이콘을 클릭하십시오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23900" y="2855968"/>
            <a:ext cx="3855720" cy="3011432"/>
          </a:xfrm>
        </p:spPr>
        <p:txBody>
          <a:bodyPr/>
          <a:lstStyle>
            <a:lvl1pPr marL="0" indent="0">
              <a:lnSpc>
                <a:spcPct val="113000"/>
              </a:lnSpc>
              <a:spcBef>
                <a:spcPts val="0"/>
              </a:spcBef>
              <a:spcAft>
                <a:spcPts val="1500"/>
              </a:spcAft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723900" y="6453386"/>
            <a:ext cx="1204572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20C978E2-C29A-4526-BE91-E925C97CC288}" type="datetimeFigureOut">
              <a:rPr lang="ko-KR" altLang="en-US" smtClean="0"/>
              <a:t>2025-12-31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2205945" y="6453386"/>
            <a:ext cx="2373675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9883140" y="6453386"/>
            <a:ext cx="1596292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B55460C8-10B2-4A58-A465-AE559D76544D}" type="slidenum">
              <a:rPr lang="ko-KR" altLang="en-US" smtClean="0"/>
              <a:t>‹#›</a:t>
            </a:fld>
            <a:endParaRPr lang="ko-KR" altLang="en-US"/>
          </a:p>
        </p:txBody>
      </p:sp>
      <p:sp>
        <p:nvSpPr>
          <p:cNvPr id="9" name="Rectangle 8" title="Divider Bar"/>
          <p:cNvSpPr/>
          <p:nvPr/>
        </p:nvSpPr>
        <p:spPr>
          <a:xfrm>
            <a:off x="5303520" y="376"/>
            <a:ext cx="228600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5687015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371600" y="2295525"/>
            <a:ext cx="9601200" cy="3571875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C978E2-C29A-4526-BE91-E925C97CC288}" type="datetimeFigureOut">
              <a:rPr lang="ko-KR" altLang="en-US" smtClean="0"/>
              <a:t>2025-12-31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5460C8-10B2-4A58-A465-AE559D76544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20860437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596561" y="624156"/>
            <a:ext cx="1565766" cy="5243244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371600" y="624156"/>
            <a:ext cx="8179641" cy="5243244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C978E2-C29A-4526-BE91-E925C97CC288}" type="datetimeFigureOut">
              <a:rPr lang="ko-KR" altLang="en-US" smtClean="0"/>
              <a:t>2025-12-31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5460C8-10B2-4A58-A465-AE559D76544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27228079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371600" y="685800"/>
            <a:ext cx="9601200" cy="14859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71600" y="2286000"/>
            <a:ext cx="9601200" cy="35814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390650" y="6453386"/>
            <a:ext cx="1204572" cy="40461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 baseline="0">
                <a:solidFill>
                  <a:schemeClr val="tx2"/>
                </a:solidFill>
              </a:defRPr>
            </a:lvl1pPr>
          </a:lstStyle>
          <a:p>
            <a:fld id="{20C978E2-C29A-4526-BE91-E925C97CC288}" type="datetimeFigureOut">
              <a:rPr lang="ko-KR" altLang="en-US" smtClean="0"/>
              <a:t>2025-12-31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893564" y="6453386"/>
            <a:ext cx="6280830" cy="40461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 baseline="0">
                <a:solidFill>
                  <a:schemeClr val="tx2"/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472736" y="6453386"/>
            <a:ext cx="1596292" cy="40461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 baseline="0">
                <a:solidFill>
                  <a:schemeClr val="tx2"/>
                </a:solidFill>
              </a:defRPr>
            </a:lvl1pPr>
          </a:lstStyle>
          <a:p>
            <a:fld id="{B55460C8-10B2-4A58-A465-AE559D76544D}" type="slidenum">
              <a:rPr lang="ko-KR" altLang="en-US" smtClean="0"/>
              <a:t>‹#›</a:t>
            </a:fld>
            <a:endParaRPr lang="ko-KR" altLang="en-US"/>
          </a:p>
        </p:txBody>
      </p:sp>
      <p:sp>
        <p:nvSpPr>
          <p:cNvPr id="9" name="Rectangle 8" title="Side bar"/>
          <p:cNvSpPr/>
          <p:nvPr/>
        </p:nvSpPr>
        <p:spPr>
          <a:xfrm>
            <a:off x="478095" y="376"/>
            <a:ext cx="228600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7417003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1" hangingPunct="1">
        <a:lnSpc>
          <a:spcPct val="89000"/>
        </a:lnSpc>
        <a:spcBef>
          <a:spcPct val="0"/>
        </a:spcBef>
        <a:buNone/>
        <a:defRPr sz="4400" kern="1200" baseline="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384048" indent="-384048" algn="l" defTabSz="914400" rtl="0" eaLnBrk="1" latinLnBrk="1" hangingPunct="1">
        <a:lnSpc>
          <a:spcPct val="94000"/>
        </a:lnSpc>
        <a:spcBef>
          <a:spcPts val="1000"/>
        </a:spcBef>
        <a:spcAft>
          <a:spcPts val="200"/>
        </a:spcAft>
        <a:buFont typeface="Franklin Gothic Book" panose="020B0503020102020204" pitchFamily="34" charset="0"/>
        <a:buChar char="■"/>
        <a:defRPr sz="2000" kern="1200" baseline="0">
          <a:solidFill>
            <a:schemeClr val="tx2"/>
          </a:solidFill>
          <a:latin typeface="+mn-lt"/>
          <a:ea typeface="+mn-ea"/>
          <a:cs typeface="+mn-cs"/>
        </a:defRPr>
      </a:lvl1pPr>
      <a:lvl2pPr marL="914400" indent="-384048" algn="l" defTabSz="914400" rtl="0" eaLnBrk="1" latinLnBrk="1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–"/>
        <a:defRPr sz="2000" i="1" kern="1200" baseline="0">
          <a:solidFill>
            <a:schemeClr val="tx2"/>
          </a:solidFill>
          <a:latin typeface="+mn-lt"/>
          <a:ea typeface="+mn-ea"/>
          <a:cs typeface="+mn-cs"/>
        </a:defRPr>
      </a:lvl2pPr>
      <a:lvl3pPr marL="1371600" indent="-384048" algn="l" defTabSz="914400" rtl="0" eaLnBrk="1" latinLnBrk="1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■"/>
        <a:defRPr sz="1800" kern="1200" baseline="0">
          <a:solidFill>
            <a:schemeClr val="tx2"/>
          </a:solidFill>
          <a:latin typeface="+mn-lt"/>
          <a:ea typeface="+mn-ea"/>
          <a:cs typeface="+mn-cs"/>
        </a:defRPr>
      </a:lvl3pPr>
      <a:lvl4pPr marL="1828800" indent="-384048" algn="l" defTabSz="914400" rtl="0" eaLnBrk="1" latinLnBrk="1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–"/>
        <a:defRPr sz="1800" i="1" kern="1200" baseline="0">
          <a:solidFill>
            <a:schemeClr val="tx2"/>
          </a:solidFill>
          <a:latin typeface="+mn-lt"/>
          <a:ea typeface="+mn-ea"/>
          <a:cs typeface="+mn-cs"/>
        </a:defRPr>
      </a:lvl4pPr>
      <a:lvl5pPr marL="2286000" indent="-384048" algn="l" defTabSz="914400" rtl="0" eaLnBrk="1" latinLnBrk="1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■"/>
        <a:defRPr sz="1600" kern="1200" baseline="0">
          <a:solidFill>
            <a:schemeClr val="tx2"/>
          </a:solidFill>
          <a:latin typeface="+mn-lt"/>
          <a:ea typeface="+mn-ea"/>
          <a:cs typeface="+mn-cs"/>
        </a:defRPr>
      </a:lvl5pPr>
      <a:lvl6pPr marL="2743200" indent="-384048" algn="l" defTabSz="914400" rtl="0" eaLnBrk="1" latinLnBrk="1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–"/>
        <a:defRPr sz="1600" i="1" kern="1200" baseline="0">
          <a:solidFill>
            <a:schemeClr val="tx2"/>
          </a:solidFill>
          <a:latin typeface="+mn-lt"/>
          <a:ea typeface="+mn-ea"/>
          <a:cs typeface="+mn-cs"/>
        </a:defRPr>
      </a:lvl6pPr>
      <a:lvl7pPr marL="3200400" indent="-384048" algn="l" defTabSz="914400" rtl="0" eaLnBrk="1" latinLnBrk="1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■"/>
        <a:defRPr sz="1400" kern="1200" baseline="0">
          <a:solidFill>
            <a:schemeClr val="tx2"/>
          </a:solidFill>
          <a:latin typeface="+mn-lt"/>
          <a:ea typeface="+mn-ea"/>
          <a:cs typeface="+mn-cs"/>
        </a:defRPr>
      </a:lvl7pPr>
      <a:lvl8pPr marL="3657600" indent="-384048" algn="l" defTabSz="914400" rtl="0" eaLnBrk="1" latinLnBrk="1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–"/>
        <a:defRPr sz="1400" i="1" kern="1200" baseline="0">
          <a:solidFill>
            <a:schemeClr val="tx2"/>
          </a:solidFill>
          <a:latin typeface="+mn-lt"/>
          <a:ea typeface="+mn-ea"/>
          <a:cs typeface="+mn-cs"/>
        </a:defRPr>
      </a:lvl8pPr>
      <a:lvl9pPr marL="4114800" indent="-384048" algn="l" defTabSz="914400" rtl="0" eaLnBrk="1" latinLnBrk="1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■"/>
        <a:defRPr sz="1400" kern="1200" baseline="0">
          <a:solidFill>
            <a:schemeClr val="tx2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3" orient="horz" pos="1368">
          <p15:clr>
            <a:srgbClr val="F26B43"/>
          </p15:clr>
        </p15:guide>
        <p15:guide id="4" orient="horz" pos="1440">
          <p15:clr>
            <a:srgbClr val="F26B43"/>
          </p15:clr>
        </p15:guide>
        <p15:guide id="6" orient="horz" pos="3696">
          <p15:clr>
            <a:srgbClr val="F26B43"/>
          </p15:clr>
        </p15:guide>
        <p15:guide id="7" orient="horz" pos="432">
          <p15:clr>
            <a:srgbClr val="F26B43"/>
          </p15:clr>
        </p15:guide>
        <p15:guide id="8" orient="horz" pos="1512">
          <p15:clr>
            <a:srgbClr val="F26B43"/>
          </p15:clr>
        </p15:guide>
        <p15:guide id="9" pos="6912">
          <p15:clr>
            <a:srgbClr val="F26B43"/>
          </p15:clr>
        </p15:guide>
        <p15:guide id="10" pos="936">
          <p15:clr>
            <a:srgbClr val="F26B43"/>
          </p15:clr>
        </p15:guide>
        <p15:guide id="11" pos="864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9DD296E-A6F0-B22B-3EA8-E7E255516A5F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altLang="ko-KR" dirty="0"/>
              <a:t>LLM </a:t>
            </a:r>
            <a:r>
              <a:rPr lang="ko-KR" altLang="en-US" dirty="0"/>
              <a:t>구조 도식화 및</a:t>
            </a:r>
            <a:br>
              <a:rPr lang="en-US" altLang="ko-KR" dirty="0"/>
            </a:br>
            <a:r>
              <a:rPr lang="en-US" altLang="ko-KR" dirty="0"/>
              <a:t>DFX </a:t>
            </a:r>
            <a:r>
              <a:rPr lang="ko-KR" altLang="en-US" dirty="0"/>
              <a:t>논문 리뷰</a:t>
            </a:r>
            <a:r>
              <a:rPr lang="en-US" altLang="ko-KR" dirty="0"/>
              <a:t>(2)</a:t>
            </a:r>
            <a:endParaRPr lang="ko-KR" altLang="en-US" dirty="0"/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6B0C4F94-8C73-F179-E89D-20B0DED43D09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altLang="ko-KR" dirty="0"/>
              <a:t>25.12.31 </a:t>
            </a:r>
            <a:r>
              <a:rPr lang="ko-KR" altLang="en-US" dirty="0"/>
              <a:t>세미나</a:t>
            </a:r>
          </a:p>
        </p:txBody>
      </p:sp>
    </p:spTree>
    <p:extLst>
      <p:ext uri="{BB962C8B-B14F-4D97-AF65-F5344CB8AC3E}">
        <p14:creationId xmlns:p14="http://schemas.microsoft.com/office/powerpoint/2010/main" val="146000781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3362DFFC-4DCC-48EE-B781-94D04B95F1E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376"/>
            <a:ext cx="5303520" cy="6857624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ko-KR" altLang="en-US"/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BCD137F1-B713-4647-2A8F-0DAF6F5C037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81" y="791570"/>
            <a:ext cx="4018839" cy="5262390"/>
          </a:xfrm>
        </p:spPr>
        <p:txBody>
          <a:bodyPr anchor="ctr">
            <a:normAutofit/>
          </a:bodyPr>
          <a:lstStyle/>
          <a:p>
            <a:pPr algn="r"/>
            <a:r>
              <a:rPr lang="ko-KR" altLang="en-US" sz="5400" dirty="0">
                <a:solidFill>
                  <a:schemeClr val="bg2"/>
                </a:solidFill>
              </a:rPr>
              <a:t>목차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18B8B265-E68C-4B64-9238-781F0102C57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303520" y="376"/>
            <a:ext cx="228600" cy="6858000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ko-KR" altLang="en-US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05E7FC5E-F9FB-4BF5-D3AC-27818858A8E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176720" y="791570"/>
            <a:ext cx="4892308" cy="5262390"/>
          </a:xfrm>
        </p:spPr>
        <p:txBody>
          <a:bodyPr anchor="ctr">
            <a:normAutofit/>
          </a:bodyPr>
          <a:lstStyle/>
          <a:p>
            <a:r>
              <a:rPr lang="en-US" altLang="ko-KR" sz="1800" dirty="0"/>
              <a:t>1. DFA </a:t>
            </a:r>
            <a:r>
              <a:rPr lang="ko-KR" altLang="en-US" sz="1800" dirty="0"/>
              <a:t>도식화</a:t>
            </a:r>
            <a:endParaRPr lang="en-US" altLang="ko-KR" sz="1800" dirty="0"/>
          </a:p>
          <a:p>
            <a:r>
              <a:rPr lang="en-US" altLang="ko-KR" sz="1800" dirty="0"/>
              <a:t>2. DFA </a:t>
            </a:r>
            <a:r>
              <a:rPr lang="ko-KR" altLang="en-US" sz="1800" dirty="0"/>
              <a:t>논문의 문제점 및 한계점</a:t>
            </a:r>
          </a:p>
        </p:txBody>
      </p:sp>
    </p:spTree>
    <p:extLst>
      <p:ext uri="{BB962C8B-B14F-4D97-AF65-F5344CB8AC3E}">
        <p14:creationId xmlns:p14="http://schemas.microsoft.com/office/powerpoint/2010/main" val="64718679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3362DFFC-4DCC-48EE-B781-94D04B95F1E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376"/>
            <a:ext cx="5303520" cy="6857624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ko-KR" altLang="en-US"/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ECD97973-B1EA-6CDC-4CDD-FA297D54282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81" y="791570"/>
            <a:ext cx="4018839" cy="5262390"/>
          </a:xfrm>
        </p:spPr>
        <p:txBody>
          <a:bodyPr anchor="ctr">
            <a:normAutofit/>
          </a:bodyPr>
          <a:lstStyle/>
          <a:p>
            <a:pPr algn="r"/>
            <a:r>
              <a:rPr lang="en-US" altLang="ko-KR" sz="5400" dirty="0">
                <a:solidFill>
                  <a:schemeClr val="bg2"/>
                </a:solidFill>
              </a:rPr>
              <a:t>DFA </a:t>
            </a:r>
            <a:r>
              <a:rPr lang="ko-KR" altLang="en-US" sz="5400" dirty="0">
                <a:solidFill>
                  <a:schemeClr val="bg2"/>
                </a:solidFill>
              </a:rPr>
              <a:t>도식화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18B8B265-E68C-4B64-9238-781F0102C57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303520" y="376"/>
            <a:ext cx="228600" cy="6858000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ko-KR" altLang="en-US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DA33A18E-0762-0629-5B7D-DB49D6D7615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176720" y="791570"/>
            <a:ext cx="4892308" cy="5262390"/>
          </a:xfrm>
        </p:spPr>
        <p:txBody>
          <a:bodyPr anchor="ctr">
            <a:normAutofit/>
          </a:bodyPr>
          <a:lstStyle/>
          <a:p>
            <a:endParaRPr lang="ko-KR" altLang="en-US" sz="1800"/>
          </a:p>
        </p:txBody>
      </p:sp>
    </p:spTree>
    <p:extLst>
      <p:ext uri="{BB962C8B-B14F-4D97-AF65-F5344CB8AC3E}">
        <p14:creationId xmlns:p14="http://schemas.microsoft.com/office/powerpoint/2010/main" val="400096949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사각형: 둥근 모서리 24">
            <a:extLst>
              <a:ext uri="{FF2B5EF4-FFF2-40B4-BE49-F238E27FC236}">
                <a16:creationId xmlns:a16="http://schemas.microsoft.com/office/drawing/2014/main" id="{28C1885C-8AA1-8078-2B59-D6595FB28289}"/>
              </a:ext>
            </a:extLst>
          </p:cNvPr>
          <p:cNvSpPr/>
          <p:nvPr/>
        </p:nvSpPr>
        <p:spPr>
          <a:xfrm>
            <a:off x="856033" y="1646370"/>
            <a:ext cx="1352145" cy="787946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Token Embedding</a:t>
            </a:r>
            <a:endParaRPr lang="ko-KR" altLang="en-US" dirty="0"/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6E8F42AE-B22F-010A-D108-823EF31B3B27}"/>
              </a:ext>
            </a:extLst>
          </p:cNvPr>
          <p:cNvSpPr txBox="1"/>
          <p:nvPr/>
        </p:nvSpPr>
        <p:spPr>
          <a:xfrm>
            <a:off x="846306" y="545065"/>
            <a:ext cx="138132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Input Token</a:t>
            </a:r>
            <a:endParaRPr lang="ko-KR" altLang="en-US" dirty="0"/>
          </a:p>
        </p:txBody>
      </p:sp>
      <p:sp>
        <p:nvSpPr>
          <p:cNvPr id="30" name="사각형: 둥근 모서리 29">
            <a:extLst>
              <a:ext uri="{FF2B5EF4-FFF2-40B4-BE49-F238E27FC236}">
                <a16:creationId xmlns:a16="http://schemas.microsoft.com/office/drawing/2014/main" id="{7411749D-FBE1-6756-BD4F-0FEED273A257}"/>
              </a:ext>
            </a:extLst>
          </p:cNvPr>
          <p:cNvSpPr/>
          <p:nvPr/>
        </p:nvSpPr>
        <p:spPr>
          <a:xfrm>
            <a:off x="2182242" y="2776165"/>
            <a:ext cx="1274324" cy="688233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Positional Encoding</a:t>
            </a:r>
            <a:endParaRPr lang="ko-KR" altLang="en-US" dirty="0"/>
          </a:p>
        </p:txBody>
      </p:sp>
      <p:cxnSp>
        <p:nvCxnSpPr>
          <p:cNvPr id="6" name="직선 연결선 5">
            <a:extLst>
              <a:ext uri="{FF2B5EF4-FFF2-40B4-BE49-F238E27FC236}">
                <a16:creationId xmlns:a16="http://schemas.microsoft.com/office/drawing/2014/main" id="{16BDDFB1-4415-2749-D623-EF6CB57F9F1D}"/>
              </a:ext>
            </a:extLst>
          </p:cNvPr>
          <p:cNvCxnSpPr>
            <a:cxnSpLocks/>
            <a:stCxn id="25" idx="2"/>
          </p:cNvCxnSpPr>
          <p:nvPr/>
        </p:nvCxnSpPr>
        <p:spPr>
          <a:xfrm>
            <a:off x="1532106" y="2434316"/>
            <a:ext cx="16208" cy="569701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직선 연결선 7">
            <a:extLst>
              <a:ext uri="{FF2B5EF4-FFF2-40B4-BE49-F238E27FC236}">
                <a16:creationId xmlns:a16="http://schemas.microsoft.com/office/drawing/2014/main" id="{C906BDEC-52D7-5918-F23E-D208C756959B}"/>
              </a:ext>
            </a:extLst>
          </p:cNvPr>
          <p:cNvCxnSpPr>
            <a:cxnSpLocks/>
            <a:endCxn id="30" idx="1"/>
          </p:cNvCxnSpPr>
          <p:nvPr/>
        </p:nvCxnSpPr>
        <p:spPr>
          <a:xfrm flipV="1">
            <a:off x="1697476" y="3120282"/>
            <a:ext cx="484766" cy="1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사각형: 둥근 모서리 8">
            <a:extLst>
              <a:ext uri="{FF2B5EF4-FFF2-40B4-BE49-F238E27FC236}">
                <a16:creationId xmlns:a16="http://schemas.microsoft.com/office/drawing/2014/main" id="{A5FFC888-E365-8A8D-1D12-CA6C2A8660EF}"/>
              </a:ext>
            </a:extLst>
          </p:cNvPr>
          <p:cNvSpPr/>
          <p:nvPr/>
        </p:nvSpPr>
        <p:spPr>
          <a:xfrm>
            <a:off x="787941" y="4532805"/>
            <a:ext cx="1488332" cy="969118"/>
          </a:xfrm>
          <a:prstGeom prst="roundRect">
            <a:avLst/>
          </a:prstGeom>
          <a:solidFill>
            <a:schemeClr val="accent6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Token Embedding Vector</a:t>
            </a:r>
            <a:endParaRPr lang="ko-KR" altLang="en-US" dirty="0"/>
          </a:p>
        </p:txBody>
      </p:sp>
      <p:cxnSp>
        <p:nvCxnSpPr>
          <p:cNvPr id="12" name="직선 화살표 연결선 11">
            <a:extLst>
              <a:ext uri="{FF2B5EF4-FFF2-40B4-BE49-F238E27FC236}">
                <a16:creationId xmlns:a16="http://schemas.microsoft.com/office/drawing/2014/main" id="{109F81F4-2B6C-0624-F1E0-5B03F1F3886D}"/>
              </a:ext>
            </a:extLst>
          </p:cNvPr>
          <p:cNvCxnSpPr>
            <a:cxnSpLocks/>
            <a:endCxn id="9" idx="0"/>
          </p:cNvCxnSpPr>
          <p:nvPr/>
        </p:nvCxnSpPr>
        <p:spPr>
          <a:xfrm>
            <a:off x="1522378" y="3274708"/>
            <a:ext cx="9729" cy="1258097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3" name="직선 화살표 연결선 112">
            <a:extLst>
              <a:ext uri="{FF2B5EF4-FFF2-40B4-BE49-F238E27FC236}">
                <a16:creationId xmlns:a16="http://schemas.microsoft.com/office/drawing/2014/main" id="{7F933A0D-ADF3-BB88-FC7D-D6F7B3FB1538}"/>
              </a:ext>
            </a:extLst>
          </p:cNvPr>
          <p:cNvCxnSpPr>
            <a:stCxn id="27" idx="2"/>
            <a:endCxn id="25" idx="0"/>
          </p:cNvCxnSpPr>
          <p:nvPr/>
        </p:nvCxnSpPr>
        <p:spPr>
          <a:xfrm flipH="1">
            <a:off x="1532106" y="914397"/>
            <a:ext cx="4864" cy="73197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5" name="연결선: 꺾임 114">
            <a:extLst>
              <a:ext uri="{FF2B5EF4-FFF2-40B4-BE49-F238E27FC236}">
                <a16:creationId xmlns:a16="http://schemas.microsoft.com/office/drawing/2014/main" id="{48435ACD-F43A-2B82-F24D-C0237FAFA535}"/>
              </a:ext>
            </a:extLst>
          </p:cNvPr>
          <p:cNvCxnSpPr>
            <a:cxnSpLocks/>
            <a:stCxn id="9" idx="2"/>
            <a:endCxn id="80" idx="1"/>
          </p:cNvCxnSpPr>
          <p:nvPr/>
        </p:nvCxnSpPr>
        <p:spPr>
          <a:xfrm rot="5400000" flipH="1" flipV="1">
            <a:off x="1642936" y="3502837"/>
            <a:ext cx="1888257" cy="2109916"/>
          </a:xfrm>
          <a:prstGeom prst="bentConnector4">
            <a:avLst>
              <a:gd name="adj1" fmla="val -12106"/>
              <a:gd name="adj2" fmla="val 67635"/>
            </a:avLst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62" name="그룹 161">
            <a:extLst>
              <a:ext uri="{FF2B5EF4-FFF2-40B4-BE49-F238E27FC236}">
                <a16:creationId xmlns:a16="http://schemas.microsoft.com/office/drawing/2014/main" id="{CE660FE0-9E18-1754-F7AF-551C14CDDD5A}"/>
              </a:ext>
            </a:extLst>
          </p:cNvPr>
          <p:cNvGrpSpPr/>
          <p:nvPr/>
        </p:nvGrpSpPr>
        <p:grpSpPr>
          <a:xfrm>
            <a:off x="3642023" y="57589"/>
            <a:ext cx="5476247" cy="6742822"/>
            <a:chOff x="4291942" y="153554"/>
            <a:chExt cx="5476247" cy="6742822"/>
          </a:xfrm>
        </p:grpSpPr>
        <p:grpSp>
          <p:nvGrpSpPr>
            <p:cNvPr id="4" name="그룹 3">
              <a:extLst>
                <a:ext uri="{FF2B5EF4-FFF2-40B4-BE49-F238E27FC236}">
                  <a16:creationId xmlns:a16="http://schemas.microsoft.com/office/drawing/2014/main" id="{9354E2FE-1BDE-48D5-F3A7-88424B98981B}"/>
                </a:ext>
              </a:extLst>
            </p:cNvPr>
            <p:cNvGrpSpPr/>
            <p:nvPr/>
          </p:nvGrpSpPr>
          <p:grpSpPr>
            <a:xfrm>
              <a:off x="4931513" y="528993"/>
              <a:ext cx="1896893" cy="5881855"/>
              <a:chOff x="5048655" y="700391"/>
              <a:chExt cx="1896893" cy="5881855"/>
            </a:xfrm>
          </p:grpSpPr>
          <mc:AlternateContent xmlns:mc="http://schemas.openxmlformats.org/markup-compatibility/2006">
            <mc:Choice xmlns:a14="http://schemas.microsoft.com/office/drawing/2010/main" Requires="a14">
              <p:sp>
                <p:nvSpPr>
                  <p:cNvPr id="10" name="사각형: 둥근 모서리 9">
                    <a:extLst>
                      <a:ext uri="{FF2B5EF4-FFF2-40B4-BE49-F238E27FC236}">
                        <a16:creationId xmlns:a16="http://schemas.microsoft.com/office/drawing/2014/main" id="{BC5CABD7-EC1B-BF2E-7E98-9EEE03D406D8}"/>
                      </a:ext>
                    </a:extLst>
                  </p:cNvPr>
                  <p:cNvSpPr/>
                  <p:nvPr/>
                </p:nvSpPr>
                <p:spPr>
                  <a:xfrm>
                    <a:off x="5325893" y="2908648"/>
                    <a:ext cx="1352145" cy="558647"/>
                  </a:xfrm>
                  <a:prstGeom prst="roundRect">
                    <a:avLst/>
                  </a:prstGeom>
                  <a:solidFill>
                    <a:schemeClr val="accent6">
                      <a:lumMod val="75000"/>
                    </a:schemeClr>
                  </a:solidFill>
                  <a:ln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r>
                      <a:rPr lang="en-US" altLang="ko-KR" dirty="0"/>
                      <a:t>MatMul</a:t>
                    </a:r>
                  </a:p>
                  <a:p>
                    <a:pPr algn="ctr"/>
                    <a:r>
                      <a:rPr lang="en-US" altLang="ko-KR" dirty="0"/>
                      <a:t>(Q x </a:t>
                    </a:r>
                    <a14:m>
                      <m:oMath xmlns:m="http://schemas.openxmlformats.org/officeDocument/2006/math">
                        <m:sSup>
                          <m:sSupPr>
                            <m:ctrlPr>
                              <a:rPr lang="en-US" altLang="ko-KR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altLang="ko-KR" b="0" i="1" smtClean="0">
                                <a:latin typeface="Cambria Math" panose="02040503050406030204" pitchFamily="18" charset="0"/>
                              </a:rPr>
                              <m:t>𝐾</m:t>
                            </m:r>
                          </m:e>
                          <m:sup>
                            <m:r>
                              <a:rPr lang="en-US" altLang="ko-KR" b="0" i="1" smtClean="0">
                                <a:latin typeface="Cambria Math" panose="02040503050406030204" pitchFamily="18" charset="0"/>
                              </a:rPr>
                              <m:t>𝑇</m:t>
                            </m:r>
                          </m:sup>
                        </m:sSup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)</m:t>
                        </m:r>
                      </m:oMath>
                    </a14:m>
                    <a:endParaRPr lang="ko-KR" altLang="en-US" dirty="0"/>
                  </a:p>
                </p:txBody>
              </p:sp>
            </mc:Choice>
            <mc:Fallback>
              <p:sp>
                <p:nvSpPr>
                  <p:cNvPr id="10" name="사각형: 둥근 모서리 9">
                    <a:extLst>
                      <a:ext uri="{FF2B5EF4-FFF2-40B4-BE49-F238E27FC236}">
                        <a16:creationId xmlns:a16="http://schemas.microsoft.com/office/drawing/2014/main" id="{BC5CABD7-EC1B-BF2E-7E98-9EEE03D406D8}"/>
                      </a:ext>
                    </a:extLst>
                  </p:cNvPr>
                  <p:cNvSpPr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5325893" y="2908648"/>
                    <a:ext cx="1352145" cy="558647"/>
                  </a:xfrm>
                  <a:prstGeom prst="roundRect">
                    <a:avLst/>
                  </a:prstGeom>
                  <a:blipFill>
                    <a:blip r:embed="rId3"/>
                    <a:stretch>
                      <a:fillRect t="-9184" b="-20408"/>
                    </a:stretch>
                  </a:blipFill>
                  <a:ln>
                    <a:solidFill>
                      <a:schemeClr val="tx1"/>
                    </a:solidFill>
                  </a:ln>
                </p:spPr>
                <p:txBody>
                  <a:bodyPr/>
                  <a:lstStyle/>
                  <a:p>
                    <a:r>
                      <a:rPr lang="ko-KR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p:sp>
            <p:nvSpPr>
              <p:cNvPr id="14" name="사각형: 둥근 모서리 13">
                <a:extLst>
                  <a:ext uri="{FF2B5EF4-FFF2-40B4-BE49-F238E27FC236}">
                    <a16:creationId xmlns:a16="http://schemas.microsoft.com/office/drawing/2014/main" id="{8E5A14DB-959B-2023-6B90-149725C42868}"/>
                  </a:ext>
                </a:extLst>
              </p:cNvPr>
              <p:cNvSpPr/>
              <p:nvPr/>
            </p:nvSpPr>
            <p:spPr>
              <a:xfrm>
                <a:off x="5312103" y="1805141"/>
                <a:ext cx="1352145" cy="768488"/>
              </a:xfrm>
              <a:prstGeom prst="roundRect">
                <a:avLst/>
              </a:prstGeom>
              <a:solidFill>
                <a:schemeClr val="accent6">
                  <a:lumMod val="75000"/>
                </a:schemeClr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ko-KR" dirty="0"/>
                  <a:t>Create</a:t>
                </a:r>
              </a:p>
              <a:p>
                <a:pPr algn="ctr"/>
                <a:r>
                  <a:rPr lang="en-US" altLang="ko-KR" dirty="0"/>
                  <a:t> Q, K, V</a:t>
                </a:r>
                <a:endParaRPr lang="ko-KR" altLang="en-US" dirty="0"/>
              </a:p>
            </p:txBody>
          </p:sp>
          <p:sp>
            <p:nvSpPr>
              <p:cNvPr id="15" name="사각형: 둥근 모서리 14">
                <a:extLst>
                  <a:ext uri="{FF2B5EF4-FFF2-40B4-BE49-F238E27FC236}">
                    <a16:creationId xmlns:a16="http://schemas.microsoft.com/office/drawing/2014/main" id="{67C8A249-EFE2-19F2-7C15-0B5F23B9BF73}"/>
                  </a:ext>
                </a:extLst>
              </p:cNvPr>
              <p:cNvSpPr/>
              <p:nvPr/>
            </p:nvSpPr>
            <p:spPr>
              <a:xfrm>
                <a:off x="5326696" y="4221404"/>
                <a:ext cx="1322961" cy="365099"/>
              </a:xfrm>
              <a:prstGeom prst="roundRect">
                <a:avLst/>
              </a:prstGeom>
              <a:solidFill>
                <a:schemeClr val="accent2">
                  <a:lumMod val="75000"/>
                </a:schemeClr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ko-KR" dirty="0" err="1"/>
                  <a:t>Softmax</a:t>
                </a:r>
                <a:endParaRPr lang="ko-KR" altLang="en-US" dirty="0"/>
              </a:p>
            </p:txBody>
          </p:sp>
          <p:sp>
            <p:nvSpPr>
              <p:cNvPr id="16" name="사각형: 둥근 모서리 15">
                <a:extLst>
                  <a:ext uri="{FF2B5EF4-FFF2-40B4-BE49-F238E27FC236}">
                    <a16:creationId xmlns:a16="http://schemas.microsoft.com/office/drawing/2014/main" id="{7753180C-F90C-216A-73FE-1A339D6CA257}"/>
                  </a:ext>
                </a:extLst>
              </p:cNvPr>
              <p:cNvSpPr/>
              <p:nvPr/>
            </p:nvSpPr>
            <p:spPr>
              <a:xfrm>
                <a:off x="5327514" y="1357005"/>
                <a:ext cx="1352145" cy="321015"/>
              </a:xfrm>
              <a:prstGeom prst="roundRect">
                <a:avLst/>
              </a:prstGeom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ko-KR" dirty="0"/>
                  <a:t>LayerNorm</a:t>
                </a:r>
                <a:endParaRPr lang="ko-KR" altLang="en-US" dirty="0"/>
              </a:p>
            </p:txBody>
          </p:sp>
          <p:sp>
            <p:nvSpPr>
              <p:cNvPr id="22" name="사각형: 둥근 모서리 21">
                <a:extLst>
                  <a:ext uri="{FF2B5EF4-FFF2-40B4-BE49-F238E27FC236}">
                    <a16:creationId xmlns:a16="http://schemas.microsoft.com/office/drawing/2014/main" id="{C44560EB-36EF-F464-CA4C-6D76B17F3FBB}"/>
                  </a:ext>
                </a:extLst>
              </p:cNvPr>
              <p:cNvSpPr/>
              <p:nvPr/>
            </p:nvSpPr>
            <p:spPr>
              <a:xfrm>
                <a:off x="5327518" y="3642639"/>
                <a:ext cx="1352138" cy="323442"/>
              </a:xfrm>
              <a:prstGeom prst="roundRect">
                <a:avLst/>
              </a:prstGeom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ko-KR" dirty="0"/>
                  <a:t>Masking</a:t>
                </a:r>
                <a:endParaRPr lang="ko-KR" altLang="en-US" dirty="0"/>
              </a:p>
            </p:txBody>
          </p:sp>
          <p:sp>
            <p:nvSpPr>
              <p:cNvPr id="23" name="사각형: 둥근 모서리 22">
                <a:extLst>
                  <a:ext uri="{FF2B5EF4-FFF2-40B4-BE49-F238E27FC236}">
                    <a16:creationId xmlns:a16="http://schemas.microsoft.com/office/drawing/2014/main" id="{2997D4C0-8340-188F-E561-CAA9DF858A69}"/>
                  </a:ext>
                </a:extLst>
              </p:cNvPr>
              <p:cNvSpPr/>
              <p:nvPr/>
            </p:nvSpPr>
            <p:spPr>
              <a:xfrm>
                <a:off x="5326697" y="4783803"/>
                <a:ext cx="1322961" cy="831975"/>
              </a:xfrm>
              <a:prstGeom prst="roundRect">
                <a:avLst/>
              </a:prstGeom>
              <a:solidFill>
                <a:schemeClr val="accent6">
                  <a:lumMod val="75000"/>
                </a:schemeClr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ko-KR" dirty="0" err="1"/>
                  <a:t>MatMul</a:t>
                </a:r>
                <a:endParaRPr lang="en-US" altLang="ko-KR" dirty="0"/>
              </a:p>
              <a:p>
                <a:pPr algn="ctr"/>
                <a:r>
                  <a:rPr lang="en-US" altLang="ko-KR" dirty="0"/>
                  <a:t>(S x V)</a:t>
                </a:r>
                <a:endParaRPr lang="ko-KR" altLang="en-US" dirty="0"/>
              </a:p>
            </p:txBody>
          </p:sp>
          <p:sp>
            <p:nvSpPr>
              <p:cNvPr id="24" name="사각형: 둥근 모서리 23">
                <a:extLst>
                  <a:ext uri="{FF2B5EF4-FFF2-40B4-BE49-F238E27FC236}">
                    <a16:creationId xmlns:a16="http://schemas.microsoft.com/office/drawing/2014/main" id="{81200895-40A0-6DFF-F8D3-6D562493720F}"/>
                  </a:ext>
                </a:extLst>
              </p:cNvPr>
              <p:cNvSpPr/>
              <p:nvPr/>
            </p:nvSpPr>
            <p:spPr>
              <a:xfrm>
                <a:off x="5058381" y="1274643"/>
                <a:ext cx="1887167" cy="5307603"/>
              </a:xfrm>
              <a:prstGeom prst="roundRect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dirty="0"/>
              </a:p>
            </p:txBody>
          </p:sp>
          <p:cxnSp>
            <p:nvCxnSpPr>
              <p:cNvPr id="42" name="직선 화살표 연결선 41">
                <a:extLst>
                  <a:ext uri="{FF2B5EF4-FFF2-40B4-BE49-F238E27FC236}">
                    <a16:creationId xmlns:a16="http://schemas.microsoft.com/office/drawing/2014/main" id="{FE2DA615-C6A0-4327-D0B6-549DF058ED5E}"/>
                  </a:ext>
                </a:extLst>
              </p:cNvPr>
              <p:cNvCxnSpPr>
                <a:stCxn id="16" idx="2"/>
                <a:endCxn id="14" idx="0"/>
              </p:cNvCxnSpPr>
              <p:nvPr/>
            </p:nvCxnSpPr>
            <p:spPr>
              <a:xfrm flipH="1">
                <a:off x="5988176" y="1678020"/>
                <a:ext cx="15411" cy="127121"/>
              </a:xfrm>
              <a:prstGeom prst="straightConnector1">
                <a:avLst/>
              </a:prstGeom>
              <a:ln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0" name="직선 화살표 연결선 49">
                <a:extLst>
                  <a:ext uri="{FF2B5EF4-FFF2-40B4-BE49-F238E27FC236}">
                    <a16:creationId xmlns:a16="http://schemas.microsoft.com/office/drawing/2014/main" id="{73301F82-14D7-E60A-1995-BC44950D7B7D}"/>
                  </a:ext>
                </a:extLst>
              </p:cNvPr>
              <p:cNvCxnSpPr>
                <a:cxnSpLocks/>
                <a:stCxn id="14" idx="2"/>
                <a:endCxn id="10" idx="0"/>
              </p:cNvCxnSpPr>
              <p:nvPr/>
            </p:nvCxnSpPr>
            <p:spPr>
              <a:xfrm>
                <a:off x="5988176" y="2573629"/>
                <a:ext cx="13790" cy="335019"/>
              </a:xfrm>
              <a:prstGeom prst="straightConnector1">
                <a:avLst/>
              </a:prstGeom>
              <a:ln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2" name="직선 화살표 연결선 51">
                <a:extLst>
                  <a:ext uri="{FF2B5EF4-FFF2-40B4-BE49-F238E27FC236}">
                    <a16:creationId xmlns:a16="http://schemas.microsoft.com/office/drawing/2014/main" id="{3E816A60-EF5F-B640-6DD4-EC9DD7A4EF16}"/>
                  </a:ext>
                </a:extLst>
              </p:cNvPr>
              <p:cNvCxnSpPr>
                <a:cxnSpLocks/>
                <a:stCxn id="10" idx="2"/>
                <a:endCxn id="22" idx="0"/>
              </p:cNvCxnSpPr>
              <p:nvPr/>
            </p:nvCxnSpPr>
            <p:spPr>
              <a:xfrm>
                <a:off x="6001966" y="3467295"/>
                <a:ext cx="1621" cy="175344"/>
              </a:xfrm>
              <a:prstGeom prst="straightConnector1">
                <a:avLst/>
              </a:prstGeom>
              <a:ln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4" name="직선 화살표 연결선 53">
                <a:extLst>
                  <a:ext uri="{FF2B5EF4-FFF2-40B4-BE49-F238E27FC236}">
                    <a16:creationId xmlns:a16="http://schemas.microsoft.com/office/drawing/2014/main" id="{6F68D8EC-416D-B2F9-25AE-1478D113E984}"/>
                  </a:ext>
                </a:extLst>
              </p:cNvPr>
              <p:cNvCxnSpPr>
                <a:cxnSpLocks/>
                <a:stCxn id="22" idx="2"/>
                <a:endCxn id="15" idx="0"/>
              </p:cNvCxnSpPr>
              <p:nvPr/>
            </p:nvCxnSpPr>
            <p:spPr>
              <a:xfrm flipH="1">
                <a:off x="5988177" y="3966081"/>
                <a:ext cx="15410" cy="255323"/>
              </a:xfrm>
              <a:prstGeom prst="straightConnector1">
                <a:avLst/>
              </a:prstGeom>
              <a:ln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6" name="직선 화살표 연결선 55">
                <a:extLst>
                  <a:ext uri="{FF2B5EF4-FFF2-40B4-BE49-F238E27FC236}">
                    <a16:creationId xmlns:a16="http://schemas.microsoft.com/office/drawing/2014/main" id="{8DEBF840-6F4E-8671-26BF-28140C56FEEF}"/>
                  </a:ext>
                </a:extLst>
              </p:cNvPr>
              <p:cNvCxnSpPr>
                <a:cxnSpLocks/>
                <a:stCxn id="15" idx="2"/>
                <a:endCxn id="23" idx="0"/>
              </p:cNvCxnSpPr>
              <p:nvPr/>
            </p:nvCxnSpPr>
            <p:spPr>
              <a:xfrm>
                <a:off x="5988177" y="4586503"/>
                <a:ext cx="1" cy="197300"/>
              </a:xfrm>
              <a:prstGeom prst="straightConnector1">
                <a:avLst/>
              </a:prstGeom>
              <a:ln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50408489-2190-6C04-50C7-A10F387ED99D}"/>
                  </a:ext>
                </a:extLst>
              </p:cNvPr>
              <p:cNvSpPr txBox="1"/>
              <p:nvPr/>
            </p:nvSpPr>
            <p:spPr>
              <a:xfrm>
                <a:off x="5048655" y="700391"/>
                <a:ext cx="1887166" cy="36933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altLang="ko-KR" dirty="0"/>
                  <a:t>Self-Attention</a:t>
                </a:r>
                <a:endParaRPr lang="ko-KR" altLang="en-US" dirty="0"/>
              </a:p>
            </p:txBody>
          </p:sp>
        </p:grpSp>
        <p:grpSp>
          <p:nvGrpSpPr>
            <p:cNvPr id="82" name="그룹 81">
              <a:extLst>
                <a:ext uri="{FF2B5EF4-FFF2-40B4-BE49-F238E27FC236}">
                  <a16:creationId xmlns:a16="http://schemas.microsoft.com/office/drawing/2014/main" id="{E86B032A-CC34-BBC2-7407-54A8D091A899}"/>
                </a:ext>
              </a:extLst>
            </p:cNvPr>
            <p:cNvGrpSpPr/>
            <p:nvPr/>
          </p:nvGrpSpPr>
          <p:grpSpPr>
            <a:xfrm>
              <a:off x="7346003" y="807393"/>
              <a:ext cx="2023353" cy="5147668"/>
              <a:chOff x="7316814" y="389663"/>
              <a:chExt cx="2023353" cy="5147668"/>
            </a:xfrm>
          </p:grpSpPr>
          <p:grpSp>
            <p:nvGrpSpPr>
              <p:cNvPr id="19" name="그룹 18">
                <a:extLst>
                  <a:ext uri="{FF2B5EF4-FFF2-40B4-BE49-F238E27FC236}">
                    <a16:creationId xmlns:a16="http://schemas.microsoft.com/office/drawing/2014/main" id="{C94885C0-441B-141B-3EE9-68FA16364C06}"/>
                  </a:ext>
                </a:extLst>
              </p:cNvPr>
              <p:cNvGrpSpPr/>
              <p:nvPr/>
            </p:nvGrpSpPr>
            <p:grpSpPr>
              <a:xfrm>
                <a:off x="7403973" y="1135561"/>
                <a:ext cx="1887167" cy="4401770"/>
                <a:chOff x="5077447" y="1203655"/>
                <a:chExt cx="1887167" cy="4401770"/>
              </a:xfrm>
            </p:grpSpPr>
            <p:sp>
              <p:nvSpPr>
                <p:cNvPr id="21" name="사각형: 둥근 모서리 20">
                  <a:extLst>
                    <a:ext uri="{FF2B5EF4-FFF2-40B4-BE49-F238E27FC236}">
                      <a16:creationId xmlns:a16="http://schemas.microsoft.com/office/drawing/2014/main" id="{9C8766C0-3A11-3FDF-F8EC-0F4BFE76390A}"/>
                    </a:ext>
                  </a:extLst>
                </p:cNvPr>
                <p:cNvSpPr/>
                <p:nvPr/>
              </p:nvSpPr>
              <p:spPr>
                <a:xfrm>
                  <a:off x="5327511" y="1882301"/>
                  <a:ext cx="1352145" cy="768488"/>
                </a:xfrm>
                <a:prstGeom prst="roundRect">
                  <a:avLst/>
                </a:prstGeom>
                <a:solidFill>
                  <a:schemeClr val="accent5">
                    <a:lumMod val="75000"/>
                  </a:schemeClr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altLang="ko-KR" dirty="0"/>
                    <a:t>Up- Projection</a:t>
                  </a:r>
                  <a:endParaRPr lang="ko-KR" altLang="en-US" dirty="0"/>
                </a:p>
              </p:txBody>
            </p:sp>
            <p:sp>
              <p:nvSpPr>
                <p:cNvPr id="28" name="사각형: 둥근 모서리 27">
                  <a:extLst>
                    <a:ext uri="{FF2B5EF4-FFF2-40B4-BE49-F238E27FC236}">
                      <a16:creationId xmlns:a16="http://schemas.microsoft.com/office/drawing/2014/main" id="{DA11D488-343E-6D13-E143-E99F59F3E9A2}"/>
                    </a:ext>
                  </a:extLst>
                </p:cNvPr>
                <p:cNvSpPr/>
                <p:nvPr/>
              </p:nvSpPr>
              <p:spPr>
                <a:xfrm>
                  <a:off x="5327514" y="1357005"/>
                  <a:ext cx="1352145" cy="321015"/>
                </a:xfrm>
                <a:prstGeom prst="roundRect">
                  <a:avLst/>
                </a:prstGeom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altLang="ko-KR" dirty="0"/>
                    <a:t>LayerNorm</a:t>
                  </a:r>
                  <a:endParaRPr lang="ko-KR" altLang="en-US" dirty="0"/>
                </a:p>
              </p:txBody>
            </p:sp>
            <p:sp>
              <p:nvSpPr>
                <p:cNvPr id="32" name="사각형: 둥근 모서리 31">
                  <a:extLst>
                    <a:ext uri="{FF2B5EF4-FFF2-40B4-BE49-F238E27FC236}">
                      <a16:creationId xmlns:a16="http://schemas.microsoft.com/office/drawing/2014/main" id="{8167BDE0-13C2-6CB7-4FFD-9E50E384BD7C}"/>
                    </a:ext>
                  </a:extLst>
                </p:cNvPr>
                <p:cNvSpPr/>
                <p:nvPr/>
              </p:nvSpPr>
              <p:spPr>
                <a:xfrm>
                  <a:off x="5342102" y="5072974"/>
                  <a:ext cx="1322961" cy="262644"/>
                </a:xfrm>
                <a:prstGeom prst="roundRect">
                  <a:avLst/>
                </a:prstGeom>
                <a:solidFill>
                  <a:schemeClr val="accent4">
                    <a:lumMod val="75000"/>
                  </a:schemeClr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altLang="ko-KR" dirty="0"/>
                    <a:t>Residual</a:t>
                  </a:r>
                  <a:endParaRPr lang="ko-KR" altLang="en-US" dirty="0"/>
                </a:p>
              </p:txBody>
            </p:sp>
            <p:sp>
              <p:nvSpPr>
                <p:cNvPr id="33" name="사각형: 둥근 모서리 32">
                  <a:extLst>
                    <a:ext uri="{FF2B5EF4-FFF2-40B4-BE49-F238E27FC236}">
                      <a16:creationId xmlns:a16="http://schemas.microsoft.com/office/drawing/2014/main" id="{A4F8E605-493D-F33D-F7A1-E0DEFD17CC39}"/>
                    </a:ext>
                  </a:extLst>
                </p:cNvPr>
                <p:cNvSpPr/>
                <p:nvPr/>
              </p:nvSpPr>
              <p:spPr>
                <a:xfrm>
                  <a:off x="5077447" y="1203655"/>
                  <a:ext cx="1887167" cy="4401770"/>
                </a:xfrm>
                <a:prstGeom prst="roundRect">
                  <a:avLst/>
                </a:prstGeom>
                <a:noFill/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dirty="0"/>
                </a:p>
              </p:txBody>
            </p:sp>
            <p:cxnSp>
              <p:nvCxnSpPr>
                <p:cNvPr id="34" name="직선 화살표 연결선 33">
                  <a:extLst>
                    <a:ext uri="{FF2B5EF4-FFF2-40B4-BE49-F238E27FC236}">
                      <a16:creationId xmlns:a16="http://schemas.microsoft.com/office/drawing/2014/main" id="{8D671E36-5011-E6E3-BC17-1ED018F6F02A}"/>
                    </a:ext>
                  </a:extLst>
                </p:cNvPr>
                <p:cNvCxnSpPr>
                  <a:cxnSpLocks/>
                  <a:stCxn id="28" idx="2"/>
                  <a:endCxn id="21" idx="0"/>
                </p:cNvCxnSpPr>
                <p:nvPr/>
              </p:nvCxnSpPr>
              <p:spPr>
                <a:xfrm flipH="1">
                  <a:off x="6003584" y="1678020"/>
                  <a:ext cx="3" cy="204281"/>
                </a:xfrm>
                <a:prstGeom prst="straightConnector1">
                  <a:avLst/>
                </a:prstGeom>
                <a:ln>
                  <a:solidFill>
                    <a:schemeClr val="tx1"/>
                  </a:solidFill>
                  <a:tailEnd type="triangl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5" name="직선 화살표 연결선 34">
                  <a:extLst>
                    <a:ext uri="{FF2B5EF4-FFF2-40B4-BE49-F238E27FC236}">
                      <a16:creationId xmlns:a16="http://schemas.microsoft.com/office/drawing/2014/main" id="{21F468F8-C11A-8AE0-13BF-E599BC465B0A}"/>
                    </a:ext>
                  </a:extLst>
                </p:cNvPr>
                <p:cNvCxnSpPr>
                  <a:cxnSpLocks/>
                  <a:stCxn id="21" idx="2"/>
                  <a:endCxn id="73" idx="0"/>
                </p:cNvCxnSpPr>
                <p:nvPr/>
              </p:nvCxnSpPr>
              <p:spPr>
                <a:xfrm flipH="1">
                  <a:off x="5993043" y="2650789"/>
                  <a:ext cx="10541" cy="443833"/>
                </a:xfrm>
                <a:prstGeom prst="straightConnector1">
                  <a:avLst/>
                </a:prstGeom>
                <a:ln>
                  <a:solidFill>
                    <a:schemeClr val="tx1"/>
                  </a:solidFill>
                  <a:tailEnd type="triangl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6" name="직선 화살표 연결선 35">
                  <a:extLst>
                    <a:ext uri="{FF2B5EF4-FFF2-40B4-BE49-F238E27FC236}">
                      <a16:creationId xmlns:a16="http://schemas.microsoft.com/office/drawing/2014/main" id="{E313FA08-689D-ED81-A54A-056CB4AEF436}"/>
                    </a:ext>
                  </a:extLst>
                </p:cNvPr>
                <p:cNvCxnSpPr>
                  <a:cxnSpLocks/>
                  <a:endCxn id="74" idx="0"/>
                </p:cNvCxnSpPr>
                <p:nvPr/>
              </p:nvCxnSpPr>
              <p:spPr>
                <a:xfrm>
                  <a:off x="6003584" y="3239311"/>
                  <a:ext cx="8108" cy="559614"/>
                </a:xfrm>
                <a:prstGeom prst="straightConnector1">
                  <a:avLst/>
                </a:prstGeom>
                <a:ln>
                  <a:solidFill>
                    <a:schemeClr val="tx1"/>
                  </a:solidFill>
                  <a:tailEnd type="triangl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8" name="직선 화살표 연결선 37">
                  <a:extLst>
                    <a:ext uri="{FF2B5EF4-FFF2-40B4-BE49-F238E27FC236}">
                      <a16:creationId xmlns:a16="http://schemas.microsoft.com/office/drawing/2014/main" id="{35D71C44-78F1-A257-A95C-8AA5077DF4F9}"/>
                    </a:ext>
                  </a:extLst>
                </p:cNvPr>
                <p:cNvCxnSpPr>
                  <a:cxnSpLocks/>
                  <a:stCxn id="74" idx="2"/>
                  <a:endCxn id="32" idx="0"/>
                </p:cNvCxnSpPr>
                <p:nvPr/>
              </p:nvCxnSpPr>
              <p:spPr>
                <a:xfrm flipH="1">
                  <a:off x="6003583" y="4567413"/>
                  <a:ext cx="8109" cy="505561"/>
                </a:xfrm>
                <a:prstGeom prst="straightConnector1">
                  <a:avLst/>
                </a:prstGeom>
                <a:ln>
                  <a:solidFill>
                    <a:schemeClr val="tx1"/>
                  </a:solidFill>
                  <a:tailEnd type="triangl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sp>
            <p:nvSpPr>
              <p:cNvPr id="61" name="TextBox 60">
                <a:extLst>
                  <a:ext uri="{FF2B5EF4-FFF2-40B4-BE49-F238E27FC236}">
                    <a16:creationId xmlns:a16="http://schemas.microsoft.com/office/drawing/2014/main" id="{BB1D0CAD-613D-04DD-6AEB-8C616700B752}"/>
                  </a:ext>
                </a:extLst>
              </p:cNvPr>
              <p:cNvSpPr txBox="1"/>
              <p:nvPr/>
            </p:nvSpPr>
            <p:spPr>
              <a:xfrm>
                <a:off x="7316814" y="389663"/>
                <a:ext cx="2023353" cy="64633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altLang="ko-KR" dirty="0"/>
                  <a:t>Feed-Forward Network</a:t>
                </a:r>
                <a:endParaRPr lang="ko-KR" altLang="en-US" dirty="0"/>
              </a:p>
            </p:txBody>
          </p:sp>
          <p:sp>
            <p:nvSpPr>
              <p:cNvPr id="73" name="사각형: 둥근 모서리 72">
                <a:extLst>
                  <a:ext uri="{FF2B5EF4-FFF2-40B4-BE49-F238E27FC236}">
                    <a16:creationId xmlns:a16="http://schemas.microsoft.com/office/drawing/2014/main" id="{EEBEE420-A628-B3D2-1F91-4C8543BA9D05}"/>
                  </a:ext>
                </a:extLst>
              </p:cNvPr>
              <p:cNvSpPr/>
              <p:nvPr/>
            </p:nvSpPr>
            <p:spPr>
              <a:xfrm>
                <a:off x="7659706" y="3026528"/>
                <a:ext cx="1319726" cy="312789"/>
              </a:xfrm>
              <a:prstGeom prst="roundRect">
                <a:avLst/>
              </a:prstGeom>
              <a:solidFill>
                <a:srgbClr val="0070C0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ko-KR" dirty="0"/>
                  <a:t>GELU</a:t>
                </a:r>
                <a:endParaRPr lang="ko-KR" altLang="en-US" dirty="0"/>
              </a:p>
            </p:txBody>
          </p:sp>
          <p:sp>
            <p:nvSpPr>
              <p:cNvPr id="74" name="사각형: 둥근 모서리 73">
                <a:extLst>
                  <a:ext uri="{FF2B5EF4-FFF2-40B4-BE49-F238E27FC236}">
                    <a16:creationId xmlns:a16="http://schemas.microsoft.com/office/drawing/2014/main" id="{434604A7-A5EF-EAEA-670A-66CF813342E0}"/>
                  </a:ext>
                </a:extLst>
              </p:cNvPr>
              <p:cNvSpPr/>
              <p:nvPr/>
            </p:nvSpPr>
            <p:spPr>
              <a:xfrm>
                <a:off x="7662145" y="3730831"/>
                <a:ext cx="1352145" cy="768488"/>
              </a:xfrm>
              <a:prstGeom prst="roundRect">
                <a:avLst/>
              </a:prstGeom>
              <a:solidFill>
                <a:schemeClr val="accent5">
                  <a:lumMod val="75000"/>
                </a:schemeClr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ko-KR" dirty="0"/>
                  <a:t>Down- Projection</a:t>
                </a:r>
                <a:endParaRPr lang="ko-KR" altLang="en-US" dirty="0"/>
              </a:p>
            </p:txBody>
          </p:sp>
        </p:grpSp>
        <p:sp>
          <p:nvSpPr>
            <p:cNvPr id="80" name="사각형: 둥근 모서리 79">
              <a:extLst>
                <a:ext uri="{FF2B5EF4-FFF2-40B4-BE49-F238E27FC236}">
                  <a16:creationId xmlns:a16="http://schemas.microsoft.com/office/drawing/2014/main" id="{0F2F55D4-CF74-D2C6-9DD8-74CC5AF65B05}"/>
                </a:ext>
              </a:extLst>
            </p:cNvPr>
            <p:cNvSpPr/>
            <p:nvPr/>
          </p:nvSpPr>
          <p:spPr>
            <a:xfrm>
              <a:off x="4291942" y="522886"/>
              <a:ext cx="5476247" cy="6373490"/>
            </a:xfrm>
            <a:prstGeom prst="round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85" name="TextBox 84">
              <a:extLst>
                <a:ext uri="{FF2B5EF4-FFF2-40B4-BE49-F238E27FC236}">
                  <a16:creationId xmlns:a16="http://schemas.microsoft.com/office/drawing/2014/main" id="{B60A9D90-746A-494D-D2BE-49F6438BA29A}"/>
                </a:ext>
              </a:extLst>
            </p:cNvPr>
            <p:cNvSpPr txBox="1"/>
            <p:nvPr/>
          </p:nvSpPr>
          <p:spPr>
            <a:xfrm>
              <a:off x="6126806" y="153554"/>
              <a:ext cx="224060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dirty="0"/>
                <a:t>Decoder Layer 1</a:t>
              </a:r>
              <a:endParaRPr lang="ko-KR" altLang="en-US" dirty="0"/>
            </a:p>
          </p:txBody>
        </p:sp>
        <p:cxnSp>
          <p:nvCxnSpPr>
            <p:cNvPr id="104" name="직선 화살표 연결선 103">
              <a:extLst>
                <a:ext uri="{FF2B5EF4-FFF2-40B4-BE49-F238E27FC236}">
                  <a16:creationId xmlns:a16="http://schemas.microsoft.com/office/drawing/2014/main" id="{3524296D-5E86-AF30-0937-AEEAC91E2780}"/>
                </a:ext>
              </a:extLst>
            </p:cNvPr>
            <p:cNvCxnSpPr>
              <a:cxnSpLocks/>
              <a:stCxn id="24" idx="3"/>
              <a:endCxn id="33" idx="1"/>
            </p:cNvCxnSpPr>
            <p:nvPr/>
          </p:nvCxnSpPr>
          <p:spPr>
            <a:xfrm flipV="1">
              <a:off x="6828406" y="3754176"/>
              <a:ext cx="604756" cy="2871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49" name="사각형: 둥근 모서리 148">
              <a:extLst>
                <a:ext uri="{FF2B5EF4-FFF2-40B4-BE49-F238E27FC236}">
                  <a16:creationId xmlns:a16="http://schemas.microsoft.com/office/drawing/2014/main" id="{54A862DC-E77C-99E0-9347-3F443A4EC4D1}"/>
                </a:ext>
              </a:extLst>
            </p:cNvPr>
            <p:cNvSpPr/>
            <p:nvPr/>
          </p:nvSpPr>
          <p:spPr>
            <a:xfrm>
              <a:off x="5031245" y="2659216"/>
              <a:ext cx="1730067" cy="2937971"/>
            </a:xfrm>
            <a:prstGeom prst="round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54" name="사각형: 둥근 모서리 153">
              <a:extLst>
                <a:ext uri="{FF2B5EF4-FFF2-40B4-BE49-F238E27FC236}">
                  <a16:creationId xmlns:a16="http://schemas.microsoft.com/office/drawing/2014/main" id="{DF104BAF-5BEB-CC4A-A788-1556A50DA28D}"/>
                </a:ext>
              </a:extLst>
            </p:cNvPr>
            <p:cNvSpPr/>
            <p:nvPr/>
          </p:nvSpPr>
          <p:spPr>
            <a:xfrm>
              <a:off x="5194961" y="5757892"/>
              <a:ext cx="1420660" cy="529145"/>
            </a:xfrm>
            <a:prstGeom prst="roundRect">
              <a:avLst/>
            </a:prstGeom>
            <a:solidFill>
              <a:schemeClr val="tx2">
                <a:lumMod val="25000"/>
                <a:lumOff val="75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dirty="0"/>
                <a:t>Fully-Connected</a:t>
              </a:r>
              <a:endParaRPr lang="ko-KR" altLang="en-US" dirty="0"/>
            </a:p>
          </p:txBody>
        </p:sp>
        <p:cxnSp>
          <p:nvCxnSpPr>
            <p:cNvPr id="159" name="직선 화살표 연결선 158">
              <a:extLst>
                <a:ext uri="{FF2B5EF4-FFF2-40B4-BE49-F238E27FC236}">
                  <a16:creationId xmlns:a16="http://schemas.microsoft.com/office/drawing/2014/main" id="{65A057D1-492B-2291-21FF-C03E1C894016}"/>
                </a:ext>
              </a:extLst>
            </p:cNvPr>
            <p:cNvCxnSpPr>
              <a:stCxn id="149" idx="2"/>
              <a:endCxn id="154" idx="0"/>
            </p:cNvCxnSpPr>
            <p:nvPr/>
          </p:nvCxnSpPr>
          <p:spPr>
            <a:xfrm>
              <a:off x="5896279" y="5597187"/>
              <a:ext cx="9012" cy="160705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63" name="사각형: 둥근 모서리 162">
            <a:extLst>
              <a:ext uri="{FF2B5EF4-FFF2-40B4-BE49-F238E27FC236}">
                <a16:creationId xmlns:a16="http://schemas.microsoft.com/office/drawing/2014/main" id="{307FE4E2-0287-1BDB-4AB4-4DF93DAD6672}"/>
              </a:ext>
            </a:extLst>
          </p:cNvPr>
          <p:cNvSpPr/>
          <p:nvPr/>
        </p:nvSpPr>
        <p:spPr>
          <a:xfrm>
            <a:off x="9434023" y="827625"/>
            <a:ext cx="345727" cy="5572082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Decoder</a:t>
            </a:r>
          </a:p>
          <a:p>
            <a:pPr algn="ctr"/>
            <a:r>
              <a:rPr lang="en-US" altLang="ko-KR" dirty="0"/>
              <a:t>  Layer</a:t>
            </a:r>
          </a:p>
          <a:p>
            <a:pPr algn="ctr"/>
            <a:r>
              <a:rPr lang="en-US" altLang="ko-KR" dirty="0"/>
              <a:t> N</a:t>
            </a:r>
            <a:endParaRPr lang="ko-KR" altLang="en-US" dirty="0"/>
          </a:p>
        </p:txBody>
      </p:sp>
      <p:grpSp>
        <p:nvGrpSpPr>
          <p:cNvPr id="175" name="그룹 174">
            <a:extLst>
              <a:ext uri="{FF2B5EF4-FFF2-40B4-BE49-F238E27FC236}">
                <a16:creationId xmlns:a16="http://schemas.microsoft.com/office/drawing/2014/main" id="{5F11311B-26F2-11A4-04F5-2C2012FAD3B0}"/>
              </a:ext>
            </a:extLst>
          </p:cNvPr>
          <p:cNvGrpSpPr/>
          <p:nvPr/>
        </p:nvGrpSpPr>
        <p:grpSpPr>
          <a:xfrm>
            <a:off x="10065059" y="883371"/>
            <a:ext cx="1992153" cy="5761398"/>
            <a:chOff x="9910049" y="632297"/>
            <a:chExt cx="1992153" cy="5761398"/>
          </a:xfrm>
        </p:grpSpPr>
        <p:grpSp>
          <p:nvGrpSpPr>
            <p:cNvPr id="40" name="그룹 39">
              <a:extLst>
                <a:ext uri="{FF2B5EF4-FFF2-40B4-BE49-F238E27FC236}">
                  <a16:creationId xmlns:a16="http://schemas.microsoft.com/office/drawing/2014/main" id="{747B2CCE-3194-0EFA-7FEB-388C241E43A9}"/>
                </a:ext>
              </a:extLst>
            </p:cNvPr>
            <p:cNvGrpSpPr/>
            <p:nvPr/>
          </p:nvGrpSpPr>
          <p:grpSpPr>
            <a:xfrm>
              <a:off x="10015035" y="1160742"/>
              <a:ext cx="1887167" cy="4401770"/>
              <a:chOff x="5058382" y="1099226"/>
              <a:chExt cx="1887167" cy="4401770"/>
            </a:xfrm>
          </p:grpSpPr>
          <p:sp>
            <p:nvSpPr>
              <p:cNvPr id="45" name="사각형: 둥근 모서리 44">
                <a:extLst>
                  <a:ext uri="{FF2B5EF4-FFF2-40B4-BE49-F238E27FC236}">
                    <a16:creationId xmlns:a16="http://schemas.microsoft.com/office/drawing/2014/main" id="{44DF45F4-D595-0177-9177-7DE1A735F34E}"/>
                  </a:ext>
                </a:extLst>
              </p:cNvPr>
              <p:cNvSpPr/>
              <p:nvPr/>
            </p:nvSpPr>
            <p:spPr>
              <a:xfrm>
                <a:off x="5327514" y="1357005"/>
                <a:ext cx="1352145" cy="321015"/>
              </a:xfrm>
              <a:prstGeom prst="roundRect">
                <a:avLst/>
              </a:prstGeom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ko-KR" dirty="0"/>
                  <a:t>LayerNorm</a:t>
                </a:r>
                <a:endParaRPr lang="ko-KR" altLang="en-US" dirty="0"/>
              </a:p>
            </p:txBody>
          </p:sp>
          <p:sp>
            <p:nvSpPr>
              <p:cNvPr id="48" name="사각형: 둥근 모서리 47">
                <a:extLst>
                  <a:ext uri="{FF2B5EF4-FFF2-40B4-BE49-F238E27FC236}">
                    <a16:creationId xmlns:a16="http://schemas.microsoft.com/office/drawing/2014/main" id="{B05E0F65-93F5-D60F-2F4E-1F417FE4E586}"/>
                  </a:ext>
                </a:extLst>
              </p:cNvPr>
              <p:cNvSpPr/>
              <p:nvPr/>
            </p:nvSpPr>
            <p:spPr>
              <a:xfrm>
                <a:off x="5058382" y="1099226"/>
                <a:ext cx="1887167" cy="4401770"/>
              </a:xfrm>
              <a:prstGeom prst="roundRect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</p:grpSp>
        <p:sp>
          <p:nvSpPr>
            <p:cNvPr id="59" name="TextBox 58">
              <a:extLst>
                <a:ext uri="{FF2B5EF4-FFF2-40B4-BE49-F238E27FC236}">
                  <a16:creationId xmlns:a16="http://schemas.microsoft.com/office/drawing/2014/main" id="{BA4D5EC7-246E-C37D-DFA6-77C5830A941C}"/>
                </a:ext>
              </a:extLst>
            </p:cNvPr>
            <p:cNvSpPr txBox="1"/>
            <p:nvPr/>
          </p:nvSpPr>
          <p:spPr>
            <a:xfrm>
              <a:off x="10148785" y="6024363"/>
              <a:ext cx="160831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dirty="0"/>
                <a:t>Output Token</a:t>
              </a:r>
              <a:endParaRPr lang="ko-KR" altLang="en-US" dirty="0"/>
            </a:p>
          </p:txBody>
        </p:sp>
        <p:sp>
          <p:nvSpPr>
            <p:cNvPr id="62" name="TextBox 61">
              <a:extLst>
                <a:ext uri="{FF2B5EF4-FFF2-40B4-BE49-F238E27FC236}">
                  <a16:creationId xmlns:a16="http://schemas.microsoft.com/office/drawing/2014/main" id="{6780D183-E883-A898-B14E-9F7F5716CF70}"/>
                </a:ext>
              </a:extLst>
            </p:cNvPr>
            <p:cNvSpPr txBox="1"/>
            <p:nvPr/>
          </p:nvSpPr>
          <p:spPr>
            <a:xfrm>
              <a:off x="9910049" y="632297"/>
              <a:ext cx="1690179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dirty="0"/>
                <a:t>LM Head</a:t>
              </a:r>
              <a:endParaRPr lang="ko-KR" altLang="en-US" dirty="0"/>
            </a:p>
          </p:txBody>
        </p:sp>
        <p:cxnSp>
          <p:nvCxnSpPr>
            <p:cNvPr id="70" name="직선 화살표 연결선 69">
              <a:extLst>
                <a:ext uri="{FF2B5EF4-FFF2-40B4-BE49-F238E27FC236}">
                  <a16:creationId xmlns:a16="http://schemas.microsoft.com/office/drawing/2014/main" id="{E3499E4D-9BB6-5A67-6F8C-3062E84D0DDD}"/>
                </a:ext>
              </a:extLst>
            </p:cNvPr>
            <p:cNvCxnSpPr>
              <a:stCxn id="48" idx="2"/>
              <a:endCxn id="59" idx="0"/>
            </p:cNvCxnSpPr>
            <p:nvPr/>
          </p:nvCxnSpPr>
          <p:spPr>
            <a:xfrm flipH="1">
              <a:off x="10952940" y="5562512"/>
              <a:ext cx="5679" cy="461851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86" name="사각형: 둥근 모서리 85">
              <a:extLst>
                <a:ext uri="{FF2B5EF4-FFF2-40B4-BE49-F238E27FC236}">
                  <a16:creationId xmlns:a16="http://schemas.microsoft.com/office/drawing/2014/main" id="{5CFD4494-360E-204D-7ED1-2E6127D7AAEE}"/>
                </a:ext>
              </a:extLst>
            </p:cNvPr>
            <p:cNvSpPr/>
            <p:nvPr/>
          </p:nvSpPr>
          <p:spPr>
            <a:xfrm>
              <a:off x="10269571" y="2884819"/>
              <a:ext cx="1352145" cy="919444"/>
            </a:xfrm>
            <a:prstGeom prst="roundRect">
              <a:avLst/>
            </a:prstGeom>
            <a:solidFill>
              <a:schemeClr val="tx2">
                <a:lumMod val="25000"/>
                <a:lumOff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dirty="0"/>
                <a:t>Fully-connected </a:t>
              </a:r>
              <a:endParaRPr lang="ko-KR" altLang="en-US" dirty="0"/>
            </a:p>
          </p:txBody>
        </p:sp>
        <p:cxnSp>
          <p:nvCxnSpPr>
            <p:cNvPr id="95" name="직선 화살표 연결선 94">
              <a:extLst>
                <a:ext uri="{FF2B5EF4-FFF2-40B4-BE49-F238E27FC236}">
                  <a16:creationId xmlns:a16="http://schemas.microsoft.com/office/drawing/2014/main" id="{2D621827-4A7E-D5D0-87F3-646A74762169}"/>
                </a:ext>
              </a:extLst>
            </p:cNvPr>
            <p:cNvCxnSpPr>
              <a:stCxn id="45" idx="2"/>
              <a:endCxn id="86" idx="0"/>
            </p:cNvCxnSpPr>
            <p:nvPr/>
          </p:nvCxnSpPr>
          <p:spPr>
            <a:xfrm flipH="1">
              <a:off x="10945644" y="1739536"/>
              <a:ext cx="14596" cy="1145283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56" name="사각형: 둥근 모서리 155">
              <a:extLst>
                <a:ext uri="{FF2B5EF4-FFF2-40B4-BE49-F238E27FC236}">
                  <a16:creationId xmlns:a16="http://schemas.microsoft.com/office/drawing/2014/main" id="{4A2A2306-D26D-0AC6-704E-A13257F377CF}"/>
                </a:ext>
              </a:extLst>
            </p:cNvPr>
            <p:cNvSpPr/>
            <p:nvPr/>
          </p:nvSpPr>
          <p:spPr>
            <a:xfrm>
              <a:off x="10313351" y="5117856"/>
              <a:ext cx="1322961" cy="365099"/>
            </a:xfrm>
            <a:prstGeom prst="roundRect">
              <a:avLst/>
            </a:prstGeom>
            <a:solidFill>
              <a:schemeClr val="accent2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dirty="0" err="1"/>
                <a:t>Softmax</a:t>
              </a:r>
              <a:endParaRPr lang="ko-KR" altLang="en-US" dirty="0"/>
            </a:p>
          </p:txBody>
        </p:sp>
        <p:cxnSp>
          <p:nvCxnSpPr>
            <p:cNvPr id="161" name="직선 화살표 연결선 160">
              <a:extLst>
                <a:ext uri="{FF2B5EF4-FFF2-40B4-BE49-F238E27FC236}">
                  <a16:creationId xmlns:a16="http://schemas.microsoft.com/office/drawing/2014/main" id="{25799F57-A228-6DEF-4695-2440B9909BE5}"/>
                </a:ext>
              </a:extLst>
            </p:cNvPr>
            <p:cNvCxnSpPr>
              <a:stCxn id="86" idx="2"/>
              <a:endCxn id="156" idx="0"/>
            </p:cNvCxnSpPr>
            <p:nvPr/>
          </p:nvCxnSpPr>
          <p:spPr>
            <a:xfrm>
              <a:off x="10945644" y="3804263"/>
              <a:ext cx="29188" cy="1313593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172" name="직선 화살표 연결선 171">
            <a:extLst>
              <a:ext uri="{FF2B5EF4-FFF2-40B4-BE49-F238E27FC236}">
                <a16:creationId xmlns:a16="http://schemas.microsoft.com/office/drawing/2014/main" id="{1322A232-5BB8-2B94-409F-C73C7806FE87}"/>
              </a:ext>
            </a:extLst>
          </p:cNvPr>
          <p:cNvCxnSpPr>
            <a:cxnSpLocks/>
            <a:stCxn id="80" idx="3"/>
            <a:endCxn id="163" idx="1"/>
          </p:cNvCxnSpPr>
          <p:nvPr/>
        </p:nvCxnSpPr>
        <p:spPr>
          <a:xfrm>
            <a:off x="9118270" y="3613666"/>
            <a:ext cx="315753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7" name="직선 화살표 연결선 176">
            <a:extLst>
              <a:ext uri="{FF2B5EF4-FFF2-40B4-BE49-F238E27FC236}">
                <a16:creationId xmlns:a16="http://schemas.microsoft.com/office/drawing/2014/main" id="{D170AA91-EE37-DC2B-1496-4B9BCA699DF4}"/>
              </a:ext>
            </a:extLst>
          </p:cNvPr>
          <p:cNvCxnSpPr>
            <a:stCxn id="163" idx="3"/>
            <a:endCxn id="48" idx="1"/>
          </p:cNvCxnSpPr>
          <p:nvPr/>
        </p:nvCxnSpPr>
        <p:spPr>
          <a:xfrm flipV="1">
            <a:off x="9779750" y="3612701"/>
            <a:ext cx="390295" cy="965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8" name="순서도: 논리합 177">
            <a:extLst>
              <a:ext uri="{FF2B5EF4-FFF2-40B4-BE49-F238E27FC236}">
                <a16:creationId xmlns:a16="http://schemas.microsoft.com/office/drawing/2014/main" id="{F1764613-E8D4-8CDF-553F-7599183F02F1}"/>
              </a:ext>
            </a:extLst>
          </p:cNvPr>
          <p:cNvSpPr/>
          <p:nvPr/>
        </p:nvSpPr>
        <p:spPr>
          <a:xfrm>
            <a:off x="1364182" y="2965858"/>
            <a:ext cx="344139" cy="349438"/>
          </a:xfrm>
          <a:prstGeom prst="flowChartOr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82" name="사각형: 둥근 모서리 181">
            <a:extLst>
              <a:ext uri="{FF2B5EF4-FFF2-40B4-BE49-F238E27FC236}">
                <a16:creationId xmlns:a16="http://schemas.microsoft.com/office/drawing/2014/main" id="{C1E88981-BCA7-6276-CE66-39719FD378C1}"/>
              </a:ext>
            </a:extLst>
          </p:cNvPr>
          <p:cNvSpPr/>
          <p:nvPr/>
        </p:nvSpPr>
        <p:spPr>
          <a:xfrm>
            <a:off x="4573422" y="6459010"/>
            <a:ext cx="1322961" cy="262644"/>
          </a:xfrm>
          <a:prstGeom prst="roundRect">
            <a:avLst/>
          </a:prstGeom>
          <a:solidFill>
            <a:schemeClr val="accent4">
              <a:lumMod val="7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Residual</a:t>
            </a:r>
            <a:endParaRPr lang="ko-KR" altLang="en-US" dirty="0"/>
          </a:p>
        </p:txBody>
      </p:sp>
      <p:cxnSp>
        <p:nvCxnSpPr>
          <p:cNvPr id="186" name="직선 화살표 연결선 185">
            <a:extLst>
              <a:ext uri="{FF2B5EF4-FFF2-40B4-BE49-F238E27FC236}">
                <a16:creationId xmlns:a16="http://schemas.microsoft.com/office/drawing/2014/main" id="{A85D6110-E8A5-B7B4-AC4C-072A6404B780}"/>
              </a:ext>
            </a:extLst>
          </p:cNvPr>
          <p:cNvCxnSpPr>
            <a:stCxn id="24" idx="2"/>
            <a:endCxn id="182" idx="0"/>
          </p:cNvCxnSpPr>
          <p:nvPr/>
        </p:nvCxnSpPr>
        <p:spPr>
          <a:xfrm flipH="1">
            <a:off x="5234903" y="6314883"/>
            <a:ext cx="1" cy="144127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0" name="연결선: 꺾임 189">
            <a:extLst>
              <a:ext uri="{FF2B5EF4-FFF2-40B4-BE49-F238E27FC236}">
                <a16:creationId xmlns:a16="http://schemas.microsoft.com/office/drawing/2014/main" id="{551AE6FF-7929-6257-122A-352DEA8367E1}"/>
              </a:ext>
            </a:extLst>
          </p:cNvPr>
          <p:cNvCxnSpPr>
            <a:stCxn id="16" idx="3"/>
            <a:endCxn id="182" idx="3"/>
          </p:cNvCxnSpPr>
          <p:nvPr/>
        </p:nvCxnSpPr>
        <p:spPr>
          <a:xfrm flipH="1">
            <a:off x="5896383" y="1250150"/>
            <a:ext cx="16215" cy="5340182"/>
          </a:xfrm>
          <a:prstGeom prst="bentConnector3">
            <a:avLst>
              <a:gd name="adj1" fmla="val -1409806"/>
            </a:avLst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2" name="연결선: 꺾임 191">
            <a:extLst>
              <a:ext uri="{FF2B5EF4-FFF2-40B4-BE49-F238E27FC236}">
                <a16:creationId xmlns:a16="http://schemas.microsoft.com/office/drawing/2014/main" id="{8D569FCD-5A46-A7EA-B8E8-0AC79926FC9D}"/>
              </a:ext>
            </a:extLst>
          </p:cNvPr>
          <p:cNvCxnSpPr>
            <a:stCxn id="28" idx="3"/>
            <a:endCxn id="32" idx="3"/>
          </p:cNvCxnSpPr>
          <p:nvPr/>
        </p:nvCxnSpPr>
        <p:spPr>
          <a:xfrm flipH="1">
            <a:off x="8370859" y="1771184"/>
            <a:ext cx="14596" cy="3686783"/>
          </a:xfrm>
          <a:prstGeom prst="bentConnector3">
            <a:avLst>
              <a:gd name="adj1" fmla="val -1566183"/>
            </a:avLst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89857921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3362DFFC-4DCC-48EE-B781-94D04B95F1E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376"/>
            <a:ext cx="5303520" cy="6857624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ko-KR" altLang="en-US"/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8E46518F-7DA9-C82C-4AE2-80214322F7B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81" y="791570"/>
            <a:ext cx="4018839" cy="5262390"/>
          </a:xfrm>
        </p:spPr>
        <p:txBody>
          <a:bodyPr anchor="ctr">
            <a:normAutofit/>
          </a:bodyPr>
          <a:lstStyle/>
          <a:p>
            <a:pPr algn="r"/>
            <a:r>
              <a:rPr lang="en-US" altLang="ko-KR" sz="5400" dirty="0">
                <a:solidFill>
                  <a:schemeClr val="bg2"/>
                </a:solidFill>
              </a:rPr>
              <a:t>DFX </a:t>
            </a:r>
            <a:r>
              <a:rPr lang="ko-KR" altLang="en-US" sz="5400" dirty="0">
                <a:solidFill>
                  <a:schemeClr val="bg2"/>
                </a:solidFill>
              </a:rPr>
              <a:t>논문의 한계점 및 </a:t>
            </a:r>
            <a:br>
              <a:rPr lang="en-US" altLang="ko-KR" sz="5400" dirty="0">
                <a:solidFill>
                  <a:schemeClr val="bg2"/>
                </a:solidFill>
              </a:rPr>
            </a:br>
            <a:r>
              <a:rPr lang="ko-KR" altLang="en-US" sz="5400" dirty="0">
                <a:solidFill>
                  <a:schemeClr val="bg2"/>
                </a:solidFill>
              </a:rPr>
              <a:t>문제점</a:t>
            </a:r>
            <a:r>
              <a:rPr lang="en-US" altLang="ko-KR" sz="5400" dirty="0">
                <a:solidFill>
                  <a:schemeClr val="bg2"/>
                </a:solidFill>
              </a:rPr>
              <a:t> </a:t>
            </a:r>
            <a:endParaRPr lang="ko-KR" altLang="en-US" sz="5400" dirty="0">
              <a:solidFill>
                <a:schemeClr val="bg2"/>
              </a:solidFill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18B8B265-E68C-4B64-9238-781F0102C57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303520" y="376"/>
            <a:ext cx="228600" cy="6858000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ko-KR" altLang="en-US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2902EC5D-1768-CE3C-A719-13ECD2D3EB6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176720" y="791570"/>
            <a:ext cx="4892308" cy="5262390"/>
          </a:xfrm>
        </p:spPr>
        <p:txBody>
          <a:bodyPr anchor="ctr">
            <a:normAutofit/>
          </a:bodyPr>
          <a:lstStyle/>
          <a:p>
            <a:endParaRPr lang="ko-KR" altLang="en-US" sz="1800" dirty="0"/>
          </a:p>
        </p:txBody>
      </p:sp>
    </p:spTree>
    <p:extLst>
      <p:ext uri="{BB962C8B-B14F-4D97-AF65-F5344CB8AC3E}">
        <p14:creationId xmlns:p14="http://schemas.microsoft.com/office/powerpoint/2010/main" val="199414310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5E7075E-367B-8E2E-9C12-BB7498AE9B3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600" y="685800"/>
            <a:ext cx="9601200" cy="724711"/>
          </a:xfrm>
        </p:spPr>
        <p:txBody>
          <a:bodyPr/>
          <a:lstStyle/>
          <a:p>
            <a:r>
              <a:rPr lang="en-US" altLang="ko-KR" dirty="0">
                <a:solidFill>
                  <a:schemeClr val="tx1"/>
                </a:solidFill>
              </a:rPr>
              <a:t>DFX </a:t>
            </a:r>
            <a:r>
              <a:rPr lang="ko-KR" altLang="en-US" dirty="0">
                <a:solidFill>
                  <a:schemeClr val="tx1"/>
                </a:solidFill>
              </a:rPr>
              <a:t>논문의 한계점 및 문제점</a:t>
            </a:r>
            <a:r>
              <a:rPr lang="en-US" altLang="ko-KR" dirty="0">
                <a:solidFill>
                  <a:schemeClr val="tx1"/>
                </a:solidFill>
              </a:rPr>
              <a:t> </a:t>
            </a:r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ACCA3665-F1F2-50C4-A9A6-2FCB1D6EF3C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71600" y="1410511"/>
            <a:ext cx="9601200" cy="4456889"/>
          </a:xfrm>
        </p:spPr>
        <p:txBody>
          <a:bodyPr/>
          <a:lstStyle/>
          <a:p>
            <a:r>
              <a:rPr lang="en-US" altLang="ko-KR" dirty="0"/>
              <a:t>1. </a:t>
            </a:r>
            <a:r>
              <a:rPr lang="ko-KR" altLang="en-US" dirty="0"/>
              <a:t>논문 초록 부분에서 </a:t>
            </a:r>
            <a:r>
              <a:rPr lang="en-US" altLang="ko-KR" dirty="0"/>
              <a:t>DFX</a:t>
            </a:r>
            <a:r>
              <a:rPr lang="ko-KR" altLang="en-US" dirty="0"/>
              <a:t>가 </a:t>
            </a:r>
            <a:r>
              <a:rPr lang="en-US" altLang="ko-KR" dirty="0"/>
              <a:t>NVIDIA V100 GPU </a:t>
            </a:r>
            <a:r>
              <a:rPr lang="ko-KR" altLang="en-US" dirty="0"/>
              <a:t>대비 </a:t>
            </a:r>
            <a:r>
              <a:rPr lang="en-US" altLang="ko-KR" dirty="0"/>
              <a:t>5.58</a:t>
            </a:r>
            <a:r>
              <a:rPr lang="ko-KR" altLang="en-US" dirty="0"/>
              <a:t>배의 속도 향상과 </a:t>
            </a:r>
            <a:r>
              <a:rPr lang="en-US" altLang="ko-KR" dirty="0"/>
              <a:t>3.99</a:t>
            </a:r>
            <a:r>
              <a:rPr lang="ko-KR" altLang="en-US" dirty="0"/>
              <a:t>배의 에너지 효율성을 달성했다고 하는데</a:t>
            </a:r>
            <a:r>
              <a:rPr lang="en-US" altLang="ko-KR" dirty="0"/>
              <a:t>, </a:t>
            </a:r>
            <a:r>
              <a:rPr lang="ko-KR" altLang="en-US" dirty="0"/>
              <a:t>현재는 이보다 더 발전된 </a:t>
            </a:r>
            <a:r>
              <a:rPr lang="en-US" altLang="ko-KR" dirty="0"/>
              <a:t>GPU</a:t>
            </a:r>
            <a:r>
              <a:rPr lang="ko-KR" altLang="en-US" dirty="0"/>
              <a:t>들이 있는데 발전된 </a:t>
            </a:r>
            <a:r>
              <a:rPr lang="en-US" altLang="ko-KR" dirty="0"/>
              <a:t>GPU</a:t>
            </a:r>
            <a:r>
              <a:rPr lang="ko-KR" altLang="en-US" dirty="0"/>
              <a:t>와 </a:t>
            </a:r>
            <a:r>
              <a:rPr lang="en-US" altLang="ko-KR" dirty="0"/>
              <a:t>DFX </a:t>
            </a:r>
            <a:r>
              <a:rPr lang="ko-KR" altLang="en-US" dirty="0"/>
              <a:t>방식과의 비교를 해봐야 할 것 같다</a:t>
            </a:r>
            <a:r>
              <a:rPr lang="en-US" altLang="ko-KR" dirty="0"/>
              <a:t>. </a:t>
            </a:r>
          </a:p>
          <a:p>
            <a:r>
              <a:rPr lang="en-US" altLang="ko-KR" dirty="0"/>
              <a:t>2.</a:t>
            </a:r>
            <a:r>
              <a:rPr lang="ko-KR" altLang="en-US" dirty="0"/>
              <a:t> </a:t>
            </a:r>
            <a:r>
              <a:rPr lang="en-US" altLang="ko-KR" dirty="0"/>
              <a:t>4</a:t>
            </a:r>
            <a:r>
              <a:rPr lang="ko-KR" altLang="en-US" dirty="0"/>
              <a:t>개의 </a:t>
            </a:r>
            <a:r>
              <a:rPr lang="en-US" altLang="ko-KR" dirty="0"/>
              <a:t>FPGA</a:t>
            </a:r>
            <a:r>
              <a:rPr lang="ko-KR" altLang="en-US" dirty="0"/>
              <a:t>를 연결할 때 </a:t>
            </a:r>
            <a:r>
              <a:rPr lang="en-US" altLang="ko-KR" dirty="0"/>
              <a:t>2</a:t>
            </a:r>
            <a:r>
              <a:rPr lang="ko-KR" altLang="en-US" dirty="0"/>
              <a:t>개의 </a:t>
            </a:r>
            <a:r>
              <a:rPr lang="en-US" altLang="ko-KR" dirty="0"/>
              <a:t>QSFP </a:t>
            </a:r>
            <a:r>
              <a:rPr lang="ko-KR" altLang="en-US" dirty="0"/>
              <a:t>포트로 제한해서 링</a:t>
            </a:r>
            <a:r>
              <a:rPr lang="en-US" altLang="ko-KR" dirty="0"/>
              <a:t> </a:t>
            </a:r>
            <a:r>
              <a:rPr lang="ko-KR" altLang="en-US" dirty="0"/>
              <a:t>네트워크를 선택했는데</a:t>
            </a:r>
            <a:r>
              <a:rPr lang="en-US" altLang="ko-KR" dirty="0"/>
              <a:t>, </a:t>
            </a:r>
            <a:r>
              <a:rPr lang="ko-KR" altLang="en-US" dirty="0"/>
              <a:t>근데 이렇게 되면 장치가 많아지면 포트가 제한되어 있어서 오히려 지연 시간이 늘어나서 성능이 저해되는 것 같다</a:t>
            </a:r>
            <a:r>
              <a:rPr lang="en-US" altLang="ko-KR" dirty="0"/>
              <a:t>. 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635603683"/>
      </p:ext>
    </p:extLst>
  </p:cSld>
  <p:clrMapOvr>
    <a:masterClrMapping/>
  </p:clrMapOvr>
</p:sld>
</file>

<file path=ppt/theme/theme1.xml><?xml version="1.0" encoding="utf-8"?>
<a:theme xmlns:a="http://schemas.openxmlformats.org/drawingml/2006/main" name="자르기">
  <a:themeElements>
    <a:clrScheme name="자르기">
      <a:dk1>
        <a:sysClr val="windowText" lastClr="000000"/>
      </a:dk1>
      <a:lt1>
        <a:sysClr val="window" lastClr="FFFFFF"/>
      </a:lt1>
      <a:dk2>
        <a:srgbClr val="191B0E"/>
      </a:dk2>
      <a:lt2>
        <a:srgbClr val="EFEDE3"/>
      </a:lt2>
      <a:accent1>
        <a:srgbClr val="8C8D86"/>
      </a:accent1>
      <a:accent2>
        <a:srgbClr val="E6C069"/>
      </a:accent2>
      <a:accent3>
        <a:srgbClr val="897B61"/>
      </a:accent3>
      <a:accent4>
        <a:srgbClr val="8DAB8E"/>
      </a:accent4>
      <a:accent5>
        <a:srgbClr val="77A2BB"/>
      </a:accent5>
      <a:accent6>
        <a:srgbClr val="E28394"/>
      </a:accent6>
      <a:hlink>
        <a:srgbClr val="77A2BB"/>
      </a:hlink>
      <a:folHlink>
        <a:srgbClr val="957A99"/>
      </a:folHlink>
    </a:clrScheme>
    <a:fontScheme name="자르기">
      <a:majorFont>
        <a:latin typeface="Franklin Gothic Book" panose="020B0503020102020204"/>
        <a:ea typeface=""/>
        <a:cs typeface=""/>
        <a:font script="Jpan" typeface="メイリオ"/>
        <a:font script="Hang" typeface="돋움"/>
        <a:font script="Hans" typeface="华文楷体"/>
        <a:font script="Hant" typeface="微軟正黑體"/>
        <a:font script="Arab" typeface="Tahoma"/>
        <a:font script="Hebr" typeface="Aharoni"/>
        <a:font script="Thai" typeface="Lily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Franklin Gothic Book" panose="020B0503020102020204"/>
        <a:ea typeface=""/>
        <a:cs typeface=""/>
        <a:font script="Jpan" typeface="メイリオ"/>
        <a:font script="Hang" typeface="돋움"/>
        <a:font script="Hans" typeface="华文楷体"/>
        <a:font script="Hant" typeface="微軟正黑體"/>
        <a:font script="Arab" typeface="Tahoma"/>
        <a:font script="Hebr" typeface="Aharoni"/>
        <a:font script="Thai" typeface="Lily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자르기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satMod val="105000"/>
                <a:lumMod val="110000"/>
              </a:schemeClr>
            </a:gs>
            <a:gs pos="50000">
              <a:schemeClr val="phClr">
                <a:tint val="73000"/>
                <a:satMod val="103000"/>
                <a:lumMod val="105000"/>
              </a:schemeClr>
            </a:gs>
            <a:gs pos="100000">
              <a:schemeClr val="phClr">
                <a:tint val="81000"/>
                <a:satMod val="109000"/>
                <a:lumMod val="105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satMod val="103000"/>
                <a:lumMod val="102000"/>
              </a:schemeClr>
            </a:gs>
            <a:gs pos="50000">
              <a:schemeClr val="phClr">
                <a:shade val="100000"/>
                <a:satMod val="110000"/>
                <a:lumMod val="100000"/>
              </a:schemeClr>
            </a:gs>
            <a:gs pos="100000">
              <a:schemeClr val="phClr">
                <a:shade val="78000"/>
                <a:satMod val="120000"/>
                <a:lumMod val="99000"/>
              </a:schemeClr>
            </a:gs>
          </a:gsLst>
          <a:lin ang="5400000" scaled="0"/>
        </a:gradFill>
      </a:fillStyleLst>
      <a:lnStyleLst>
        <a:ln w="6350" cap="flat" cmpd="sng" algn="in">
          <a:solidFill>
            <a:schemeClr val="phClr"/>
          </a:solidFill>
          <a:prstDash val="solid"/>
        </a:ln>
        <a:ln w="34925" cap="flat" cmpd="sng" algn="in">
          <a:solidFill>
            <a:schemeClr val="phClr"/>
          </a:solidFill>
          <a:prstDash val="solid"/>
        </a:ln>
        <a:ln w="19050" cap="flat" cmpd="sng" algn="in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satMod val="150000"/>
                <a:lumMod val="102000"/>
              </a:schemeClr>
            </a:gs>
            <a:gs pos="50000">
              <a:schemeClr val="phClr">
                <a:tint val="98000"/>
                <a:shade val="90000"/>
                <a:satMod val="13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Crop" id="{EC9488ED-E761-4D60-9AC4-764D1FE2C171}" vid="{CE19780C-D67D-4C13-9DE9-A52BC3BA51B4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927</TotalTime>
  <Words>171</Words>
  <Application>Microsoft Office PowerPoint</Application>
  <PresentationFormat>와이드스크린</PresentationFormat>
  <Paragraphs>42</Paragraphs>
  <Slides>6</Slides>
  <Notes>1</Notes>
  <HiddenSlides>0</HiddenSlides>
  <MMClips>0</MMClips>
  <ScaleCrop>false</ScaleCrop>
  <HeadingPairs>
    <vt:vector size="6" baseType="variant">
      <vt:variant>
        <vt:lpstr>사용한 글꼴</vt:lpstr>
      </vt:variant>
      <vt:variant>
        <vt:i4>3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6</vt:i4>
      </vt:variant>
    </vt:vector>
  </HeadingPairs>
  <TitlesOfParts>
    <vt:vector size="10" baseType="lpstr">
      <vt:lpstr>맑은 고딕</vt:lpstr>
      <vt:lpstr>Cambria Math</vt:lpstr>
      <vt:lpstr>Franklin Gothic Book</vt:lpstr>
      <vt:lpstr>자르기</vt:lpstr>
      <vt:lpstr>LLM 구조 도식화 및 DFX 논문 리뷰(2)</vt:lpstr>
      <vt:lpstr>목차</vt:lpstr>
      <vt:lpstr>DFA 도식화</vt:lpstr>
      <vt:lpstr>PowerPoint 프레젠테이션</vt:lpstr>
      <vt:lpstr>DFX 논문의 한계점 및  문제점 </vt:lpstr>
      <vt:lpstr>DFX 논문의 한계점 및 문제점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최성우</dc:creator>
  <cp:lastModifiedBy>최성우</cp:lastModifiedBy>
  <cp:revision>28</cp:revision>
  <dcterms:created xsi:type="dcterms:W3CDTF">2025-12-29T13:28:05Z</dcterms:created>
  <dcterms:modified xsi:type="dcterms:W3CDTF">2025-12-31T01:54:05Z</dcterms:modified>
</cp:coreProperties>
</file>
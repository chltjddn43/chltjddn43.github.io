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7"/>
  </p:notesMasterIdLst>
  <p:sldIdLst>
    <p:sldId id="579" r:id="rId2"/>
    <p:sldId id="634" r:id="rId3"/>
    <p:sldId id="628" r:id="rId4"/>
    <p:sldId id="629" r:id="rId5"/>
    <p:sldId id="636" r:id="rId6"/>
  </p:sldIdLst>
  <p:sldSz cx="12192000" cy="6858000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9" roundtripDataSignature="AMtx7mi60wwQBXdufn43yw7rgc2Btalb6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343434"/>
    <a:srgbClr val="77B900"/>
    <a:srgbClr val="060048"/>
    <a:srgbClr val="060348"/>
    <a:srgbClr val="35ECFD"/>
    <a:srgbClr val="FE27FD"/>
    <a:srgbClr val="050145"/>
    <a:srgbClr val="F036F6"/>
    <a:srgbClr val="DCE8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1C66E8-7A9A-4D2C-83C4-ED0281212C19}" v="2" dt="2026-05-19T17:40:21.5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818" autoAdjust="0"/>
    <p:restoredTop sz="97384" autoAdjust="0"/>
  </p:normalViewPr>
  <p:slideViewPr>
    <p:cSldViewPr snapToGrid="0">
      <p:cViewPr varScale="1">
        <p:scale>
          <a:sx n="82" d="100"/>
          <a:sy n="82" d="100"/>
        </p:scale>
        <p:origin x="11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120" Type="http://schemas.openxmlformats.org/officeDocument/2006/relationships/presProps" Target="presProps.xml"/><Relationship Id="rId125" Type="http://schemas.microsoft.com/office/2015/10/relationships/revisionInfo" Target="revisionInfo.xml"/><Relationship Id="rId7" Type="http://schemas.openxmlformats.org/officeDocument/2006/relationships/notesMaster" Target="notesMasters/notesMaster1.xml"/><Relationship Id="rId124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119" Type="http://customschemas.google.com/relationships/presentationmetadata" Target="metadata"/><Relationship Id="rId122" Type="http://schemas.openxmlformats.org/officeDocument/2006/relationships/theme" Target="theme/theme1.xml"/><Relationship Id="rId4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우 최" userId="b39b9c6800b01a47" providerId="LiveId" clId="{86918D44-C542-442D-8291-F46EC03904AF}"/>
    <pc:docChg chg="undo custSel addSld delSld modSld">
      <pc:chgData name="성우 최" userId="b39b9c6800b01a47" providerId="LiveId" clId="{86918D44-C542-442D-8291-F46EC03904AF}" dt="2026-05-19T17:40:24.562" v="1038" actId="20577"/>
      <pc:docMkLst>
        <pc:docMk/>
      </pc:docMkLst>
      <pc:sldChg chg="modSp add mod">
        <pc:chgData name="성우 최" userId="b39b9c6800b01a47" providerId="LiveId" clId="{86918D44-C542-442D-8291-F46EC03904AF}" dt="2026-05-19T17:40:24.562" v="1038" actId="20577"/>
        <pc:sldMkLst>
          <pc:docMk/>
          <pc:sldMk cId="846647448" sldId="634"/>
        </pc:sldMkLst>
        <pc:spChg chg="mod">
          <ac:chgData name="성우 최" userId="b39b9c6800b01a47" providerId="LiveId" clId="{86918D44-C542-442D-8291-F46EC03904AF}" dt="2026-05-19T17:40:24.562" v="1038" actId="20577"/>
          <ac:spMkLst>
            <pc:docMk/>
            <pc:sldMk cId="846647448" sldId="634"/>
            <ac:spMk id="6" creationId="{EBE37C29-BE2D-02B2-CB82-F09AB08495B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294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338D-3299-39E6-9DDD-0F8F5CAA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CCE7E3-1CDD-E2A0-D0E7-409D3F037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04776C-4756-512F-D150-2D83CF21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C51FC7-52F1-D61B-DB8B-9BC6E4943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51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338D-3299-39E6-9DDD-0F8F5CAA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CCE7E3-1CDD-E2A0-D0E7-409D3F037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04776C-4756-512F-D150-2D83CF21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C51FC7-52F1-D61B-DB8B-9BC6E4943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513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B806B-F6ED-4971-388A-082ABA72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7CE43F1-5496-156B-4000-EB31471BA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EDA678-F777-9FE2-EA95-DE8C47EDC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396C27-C11A-F708-FC35-41285C83C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1521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41660-CF14-27EA-C03C-9B9F2C45E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5204B1-456D-A3E9-AD72-9CBBCDB94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E909DE-28BE-5938-3EE9-30212F6A1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2336E6-2C19-1886-966B-45FA7E8930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406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0" y="811044"/>
            <a:ext cx="12192000" cy="2758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Google Shape;30;p12"/>
          <p:cNvSpPr txBox="1">
            <a:spLocks noGrp="1"/>
          </p:cNvSpPr>
          <p:nvPr>
            <p:ph type="title"/>
          </p:nvPr>
        </p:nvSpPr>
        <p:spPr>
          <a:xfrm>
            <a:off x="745671" y="187326"/>
            <a:ext cx="10515600" cy="627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D1D4F"/>
              </a:buClr>
              <a:buSzPts val="3600"/>
              <a:buFont typeface="Calibri"/>
              <a:buNone/>
              <a:defRPr sz="3600" b="1">
                <a:solidFill>
                  <a:srgbClr val="0D1D4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12"/>
          <p:cNvSpPr txBox="1">
            <a:spLocks noGrp="1"/>
          </p:cNvSpPr>
          <p:nvPr>
            <p:ph type="body" idx="1"/>
          </p:nvPr>
        </p:nvSpPr>
        <p:spPr>
          <a:xfrm>
            <a:off x="355600" y="1003300"/>
            <a:ext cx="10998200" cy="495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한쪽 모서리가 둥근 사각형 1"/>
          <p:cNvSpPr/>
          <p:nvPr userDrawn="1"/>
        </p:nvSpPr>
        <p:spPr>
          <a:xfrm>
            <a:off x="12061825" y="7128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한쪽 모서리가 둥근 사각형 10"/>
          <p:cNvSpPr/>
          <p:nvPr userDrawn="1"/>
        </p:nvSpPr>
        <p:spPr>
          <a:xfrm>
            <a:off x="0" y="7128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한쪽 모서리가 둥근 사각형 13"/>
          <p:cNvSpPr/>
          <p:nvPr userDrawn="1"/>
        </p:nvSpPr>
        <p:spPr>
          <a:xfrm>
            <a:off x="11931650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한쪽 모서리가 둥근 사각형 14"/>
          <p:cNvSpPr/>
          <p:nvPr userDrawn="1"/>
        </p:nvSpPr>
        <p:spPr>
          <a:xfrm>
            <a:off x="11801475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한쪽 모서리가 둥근 사각형 15"/>
          <p:cNvSpPr/>
          <p:nvPr userDrawn="1"/>
        </p:nvSpPr>
        <p:spPr>
          <a:xfrm>
            <a:off x="205467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한쪽 모서리가 둥근 사각형 16"/>
          <p:cNvSpPr/>
          <p:nvPr userDrawn="1"/>
        </p:nvSpPr>
        <p:spPr>
          <a:xfrm>
            <a:off x="308882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슬라이드">
  <p:cSld name="1_제목 슬라이드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37;p13"/>
          <p:cNvGrpSpPr/>
          <p:nvPr/>
        </p:nvGrpSpPr>
        <p:grpSpPr>
          <a:xfrm>
            <a:off x="0" y="-9039"/>
            <a:ext cx="12192000" cy="6604001"/>
            <a:chOff x="0" y="234950"/>
            <a:chExt cx="12192000" cy="6604001"/>
          </a:xfrm>
        </p:grpSpPr>
        <p:pic>
          <p:nvPicPr>
            <p:cNvPr id="38" name="Google Shape;38;p13"/>
            <p:cNvPicPr preferRelativeResize="0"/>
            <p:nvPr/>
          </p:nvPicPr>
          <p:blipFill rotWithShape="1">
            <a:blip r:embed="rId2">
              <a:alphaModFix/>
            </a:blip>
            <a:srcRect l="5451" r="6823"/>
            <a:stretch/>
          </p:blipFill>
          <p:spPr>
            <a:xfrm>
              <a:off x="0" y="244220"/>
              <a:ext cx="12192000" cy="65854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" name="Google Shape;39;p13"/>
            <p:cNvSpPr/>
            <p:nvPr/>
          </p:nvSpPr>
          <p:spPr>
            <a:xfrm>
              <a:off x="0" y="234950"/>
              <a:ext cx="12192000" cy="6604001"/>
            </a:xfrm>
            <a:prstGeom prst="rect">
              <a:avLst/>
            </a:prstGeom>
            <a:solidFill>
              <a:schemeClr val="lt1">
                <a:alpha val="7490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0" name="Google Shape;40;p13"/>
          <p:cNvSpPr/>
          <p:nvPr/>
        </p:nvSpPr>
        <p:spPr>
          <a:xfrm>
            <a:off x="0" y="6306831"/>
            <a:ext cx="12192000" cy="576263"/>
          </a:xfrm>
          <a:custGeom>
            <a:avLst/>
            <a:gdLst/>
            <a:ahLst/>
            <a:cxnLst/>
            <a:rect l="l" t="t" r="r" b="b"/>
            <a:pathLst>
              <a:path w="12192000" h="825500" extrusionOk="0">
                <a:moveTo>
                  <a:pt x="6096000" y="0"/>
                </a:moveTo>
                <a:lnTo>
                  <a:pt x="12192000" y="323850"/>
                </a:lnTo>
                <a:lnTo>
                  <a:pt x="12192000" y="825500"/>
                </a:lnTo>
                <a:lnTo>
                  <a:pt x="0" y="825500"/>
                </a:lnTo>
                <a:lnTo>
                  <a:pt x="0" y="323850"/>
                </a:lnTo>
                <a:close/>
              </a:path>
            </a:pathLst>
          </a:custGeom>
          <a:solidFill>
            <a:srgbClr val="1229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1" name="Google Shape;41;p13" descr="yonsei university logo에 대한 이미지 검색결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318" y="4913077"/>
            <a:ext cx="1404000" cy="14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3"/>
          <p:cNvSpPr/>
          <p:nvPr/>
        </p:nvSpPr>
        <p:spPr>
          <a:xfrm>
            <a:off x="4542518" y="231"/>
            <a:ext cx="3106964" cy="2465874"/>
          </a:xfrm>
          <a:custGeom>
            <a:avLst/>
            <a:gdLst/>
            <a:ahLst/>
            <a:cxnLst/>
            <a:rect l="l" t="t" r="r" b="b"/>
            <a:pathLst>
              <a:path w="3106964" h="2465874" extrusionOk="0">
                <a:moveTo>
                  <a:pt x="82" y="0"/>
                </a:moveTo>
                <a:lnTo>
                  <a:pt x="3106882" y="0"/>
                </a:lnTo>
                <a:lnTo>
                  <a:pt x="3106882" y="561974"/>
                </a:lnTo>
                <a:lnTo>
                  <a:pt x="3106964" y="561974"/>
                </a:lnTo>
                <a:lnTo>
                  <a:pt x="3106964" y="1529381"/>
                </a:lnTo>
                <a:lnTo>
                  <a:pt x="3106964" y="1529382"/>
                </a:lnTo>
                <a:lnTo>
                  <a:pt x="3106961" y="1529382"/>
                </a:lnTo>
                <a:lnTo>
                  <a:pt x="1553482" y="2465874"/>
                </a:lnTo>
                <a:lnTo>
                  <a:pt x="2" y="1529382"/>
                </a:lnTo>
                <a:lnTo>
                  <a:pt x="0" y="1529382"/>
                </a:lnTo>
                <a:lnTo>
                  <a:pt x="0" y="1529380"/>
                </a:lnTo>
                <a:lnTo>
                  <a:pt x="0" y="561974"/>
                </a:lnTo>
                <a:lnTo>
                  <a:pt x="82" y="561974"/>
                </a:lnTo>
                <a:close/>
              </a:path>
            </a:pathLst>
          </a:custGeom>
          <a:solidFill>
            <a:srgbClr val="1229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rgbClr val="14246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rgbClr val="2C5294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45" name="Google Shape;45;p13"/>
          <p:cNvPicPr preferRelativeResize="0"/>
          <p:nvPr/>
        </p:nvPicPr>
        <p:blipFill rotWithShape="1">
          <a:blip r:embed="rId4">
            <a:alphaModFix/>
          </a:blip>
          <a:srcRect l="4369" t="25610" r="8252" b="8536"/>
          <a:stretch/>
        </p:blipFill>
        <p:spPr>
          <a:xfrm>
            <a:off x="9576106" y="5577112"/>
            <a:ext cx="2463494" cy="7399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9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0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2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p23"/>
          <p:cNvSpPr txBox="1"/>
          <p:nvPr/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6" name="Picture 2" descr="메타, 새롭고 강력한 AI 시스템 개발 중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5255" y="-1103742"/>
            <a:ext cx="5715000" cy="3171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ttps://lh3.googleusercontent.com/sitesv/AICyYdYE28hS9Muih9-S1jckfmIsAl0BtEbTbO03pfeFhEz0dl7bZu4e6faNQyQvQLHOlxcls6QEOL3FG0ihPHoTrXY2uT2mQ64LoeGA7cv35andqoV1X--44kpYXSO3xPBQZXFwpEVZoSgImIWGmoZm8IefUadM4pD4_dNVTKdG4lIpe0JhZ4fMZvN2TiY=w1280"/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37" t="16879" r="10088" b="43666"/>
          <a:stretch/>
        </p:blipFill>
        <p:spPr bwMode="auto">
          <a:xfrm>
            <a:off x="-3620728" y="6317358"/>
            <a:ext cx="1036104" cy="5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>
  <p:cSld name="제목 슬라이드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2" descr="https://lh3.googleusercontent.com/sitesv/AICyYdYa1UW4Nl3E0x23EjjEuT6pY9WFc_ENifUIl1OZNhPPgOL0bra4RQXflyhwJP_cSCteVWJL4vZ5oeOnYrHHYPRcBni_5cd1HmUHJUxEzcn2ETfyAVqcI63sORyfC3Fv7zYRNOz6YIlmqpiiefplVZjdnXPw3bkmOUvMcUyT2pebkdAMcMCPb7QpVWBzuQTTMK26Nxuq1lb2dsWbw0HrdqlyT15dZfs-bnqV1_Y=w1280"/>
          <p:cNvPicPr>
            <a:picLocks noChangeAspect="1" noChangeArrowheads="1"/>
          </p:cNvPicPr>
          <p:nvPr userDrawn="1"/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4" t="-1" r="2774" b="299"/>
          <a:stretch/>
        </p:blipFill>
        <p:spPr bwMode="auto">
          <a:xfrm>
            <a:off x="-12700" y="0"/>
            <a:ext cx="12217400" cy="68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Google Shape;18;p10"/>
          <p:cNvSpPr txBox="1">
            <a:spLocks noGrp="1"/>
          </p:cNvSpPr>
          <p:nvPr>
            <p:ph type="ctrTitle"/>
          </p:nvPr>
        </p:nvSpPr>
        <p:spPr>
          <a:xfrm>
            <a:off x="1524000" y="1841499"/>
            <a:ext cx="9144000" cy="1401763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10"/>
          <p:cNvSpPr txBox="1">
            <a:spLocks noGrp="1"/>
          </p:cNvSpPr>
          <p:nvPr>
            <p:ph type="subTitle" idx="1"/>
          </p:nvPr>
        </p:nvSpPr>
        <p:spPr>
          <a:xfrm>
            <a:off x="1524000" y="3335338"/>
            <a:ext cx="9144000" cy="1655762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chemeClr val="bg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0" y="3287544"/>
            <a:ext cx="12192000" cy="2758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한쪽 모서리가 둥근 사각형 24"/>
          <p:cNvSpPr/>
          <p:nvPr userDrawn="1"/>
        </p:nvSpPr>
        <p:spPr>
          <a:xfrm>
            <a:off x="12061825" y="31893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한쪽 모서리가 둥근 사각형 25"/>
          <p:cNvSpPr/>
          <p:nvPr userDrawn="1"/>
        </p:nvSpPr>
        <p:spPr>
          <a:xfrm>
            <a:off x="0" y="31893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한쪽 모서리가 둥근 사각형 26"/>
          <p:cNvSpPr/>
          <p:nvPr userDrawn="1"/>
        </p:nvSpPr>
        <p:spPr>
          <a:xfrm>
            <a:off x="11931650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한쪽 모서리가 둥근 사각형 27"/>
          <p:cNvSpPr/>
          <p:nvPr userDrawn="1"/>
        </p:nvSpPr>
        <p:spPr>
          <a:xfrm>
            <a:off x="11801475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한쪽 모서리가 둥근 사각형 28"/>
          <p:cNvSpPr/>
          <p:nvPr userDrawn="1"/>
        </p:nvSpPr>
        <p:spPr>
          <a:xfrm>
            <a:off x="205467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한쪽 모서리가 둥근 사각형 29"/>
          <p:cNvSpPr/>
          <p:nvPr userDrawn="1"/>
        </p:nvSpPr>
        <p:spPr>
          <a:xfrm>
            <a:off x="308882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>
            <a:off x="10667999" y="1841499"/>
            <a:ext cx="130175" cy="140100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10667999" y="3333838"/>
            <a:ext cx="130175" cy="1656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2118C5-1900-8725-9D9E-F90CF90D3A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113" y="5905083"/>
            <a:ext cx="1692940" cy="74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 descr="텍스트, 원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3A51C-858B-45E4-A14B-D2A3343E29B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467" y="5905084"/>
            <a:ext cx="749479" cy="74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038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26.03.30.</a:t>
            </a:r>
            <a:r>
              <a:rPr lang="ko-KR" altLang="en-US" dirty="0"/>
              <a:t>세미나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최성우</a:t>
            </a:r>
            <a:endParaRPr lang="en-US" altLang="ko-KR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Hankuk University of Foreign Studies</a:t>
            </a:r>
          </a:p>
          <a:p>
            <a:r>
              <a:rPr lang="en-US" altLang="ko-KR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Division of Computer Engineering</a:t>
            </a:r>
            <a:endParaRPr lang="ko-KR" altLang="en-US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675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7B88-AC5B-BB36-C643-F1B6F925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4FF169-BD3A-7F72-BA8E-9DF65D87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Overview</a:t>
            </a:r>
            <a:endParaRPr lang="ko-KR" altLang="en-US" dirty="0">
              <a:solidFill>
                <a:srgbClr val="2F5597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EBE37C29-BE2D-02B2-CB82-F09AB08495B9}"/>
              </a:ext>
            </a:extLst>
          </p:cNvPr>
          <p:cNvSpPr txBox="1">
            <a:spLocks/>
          </p:cNvSpPr>
          <p:nvPr/>
        </p:nvSpPr>
        <p:spPr>
          <a:xfrm>
            <a:off x="318702" y="907258"/>
            <a:ext cx="11554596" cy="28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알고리즘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도식화하기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en-US" altLang="ko-KR" sz="1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ZS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알고리즘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도식화하기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647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7B88-AC5B-BB36-C643-F1B6F925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4FF169-BD3A-7F72-BA8E-9DF65D87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1.</a:t>
            </a:r>
            <a:r>
              <a:rPr lang="ko-KR" altLang="en-US" dirty="0">
                <a:solidFill>
                  <a:srgbClr val="2F5597"/>
                </a:solidFill>
              </a:rPr>
              <a:t> 도식화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0225485-4760-1B95-20FB-85DBA1741090}"/>
              </a:ext>
            </a:extLst>
          </p:cNvPr>
          <p:cNvSpPr/>
          <p:nvPr/>
        </p:nvSpPr>
        <p:spPr>
          <a:xfrm>
            <a:off x="4971272" y="1815173"/>
            <a:ext cx="2249456" cy="627855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GPTQ </a:t>
            </a:r>
            <a:r>
              <a:rPr lang="ko-KR" altLang="en-US" dirty="0"/>
              <a:t>양자화</a:t>
            </a:r>
            <a:br>
              <a:rPr lang="en-US" altLang="ko-KR" dirty="0"/>
            </a:br>
            <a:r>
              <a:rPr lang="en-US" altLang="ko-KR" dirty="0"/>
              <a:t>(FP32 -&gt; INT8)</a:t>
            </a:r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F3C6BC7-3821-864E-EB0B-BE2E8954C96E}"/>
              </a:ext>
            </a:extLst>
          </p:cNvPr>
          <p:cNvSpPr/>
          <p:nvPr/>
        </p:nvSpPr>
        <p:spPr>
          <a:xfrm>
            <a:off x="4971272" y="827533"/>
            <a:ext cx="2249456" cy="627855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사전학습 모델</a:t>
            </a:r>
            <a:r>
              <a:rPr lang="en-US" altLang="ko-KR" dirty="0"/>
              <a:t>(FP32)</a:t>
            </a:r>
            <a:br>
              <a:rPr lang="en-US" altLang="ko-KR" dirty="0"/>
            </a:br>
            <a:r>
              <a:rPr lang="en-US" altLang="ko-KR" dirty="0" err="1"/>
              <a:t>facebook</a:t>
            </a:r>
            <a:r>
              <a:rPr lang="en-US" altLang="ko-KR" dirty="0"/>
              <a:t>/opt-125m</a:t>
            </a:r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DD81E7D8-2DD2-D81C-1C0C-428074AD33B5}"/>
              </a:ext>
            </a:extLst>
          </p:cNvPr>
          <p:cNvSpPr/>
          <p:nvPr/>
        </p:nvSpPr>
        <p:spPr>
          <a:xfrm>
            <a:off x="4971272" y="2799447"/>
            <a:ext cx="2249456" cy="627855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BBS</a:t>
            </a:r>
            <a:r>
              <a:rPr lang="ko-KR" altLang="en-US" dirty="0"/>
              <a:t> 알고리즘 적용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577B8CF-80A0-7920-2B74-1A01D8B747A7}"/>
              </a:ext>
            </a:extLst>
          </p:cNvPr>
          <p:cNvCxnSpPr>
            <a:stCxn id="12" idx="2"/>
            <a:endCxn id="10" idx="0"/>
          </p:cNvCxnSpPr>
          <p:nvPr/>
        </p:nvCxnSpPr>
        <p:spPr>
          <a:xfrm>
            <a:off x="6096000" y="1455388"/>
            <a:ext cx="0" cy="359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26BCF92-4A5B-B850-9A0A-907458CF8CCD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>
            <a:off x="6096000" y="2443028"/>
            <a:ext cx="0" cy="3564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F1B6ABF-A603-4F18-E56D-B5F465FA993D}"/>
              </a:ext>
            </a:extLst>
          </p:cNvPr>
          <p:cNvSpPr/>
          <p:nvPr/>
        </p:nvSpPr>
        <p:spPr>
          <a:xfrm>
            <a:off x="2721816" y="4101045"/>
            <a:ext cx="2249456" cy="627855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RA(</a:t>
            </a:r>
            <a:r>
              <a:rPr lang="ko-KR" altLang="en-US" dirty="0"/>
              <a:t>반올림 평균화</a:t>
            </a:r>
            <a:r>
              <a:rPr lang="en-US" altLang="ko-KR" dirty="0"/>
              <a:t>)</a:t>
            </a:r>
            <a:r>
              <a:rPr lang="ko-KR" altLang="en-US" dirty="0"/>
              <a:t> 적용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F27F326-B37E-20F6-05B8-4E8B2882CB07}"/>
              </a:ext>
            </a:extLst>
          </p:cNvPr>
          <p:cNvSpPr/>
          <p:nvPr/>
        </p:nvSpPr>
        <p:spPr>
          <a:xfrm>
            <a:off x="7220728" y="4101045"/>
            <a:ext cx="2249456" cy="627855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ZS(</a:t>
            </a:r>
            <a:r>
              <a:rPr lang="ko-KR" altLang="en-US" dirty="0"/>
              <a:t>제로 포인트 </a:t>
            </a:r>
            <a:r>
              <a:rPr lang="ko-KR" altLang="en-US" dirty="0" err="1"/>
              <a:t>시프팅</a:t>
            </a:r>
            <a:r>
              <a:rPr lang="en-US" altLang="ko-KR" dirty="0"/>
              <a:t>)</a:t>
            </a:r>
            <a:r>
              <a:rPr lang="ko-KR" altLang="en-US" dirty="0"/>
              <a:t> 적용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BAF2C84-7A14-8E60-C441-F0410170BB91}"/>
              </a:ext>
            </a:extLst>
          </p:cNvPr>
          <p:cNvCxnSpPr>
            <a:stCxn id="13" idx="2"/>
            <a:endCxn id="18" idx="0"/>
          </p:cNvCxnSpPr>
          <p:nvPr/>
        </p:nvCxnSpPr>
        <p:spPr>
          <a:xfrm flipH="1">
            <a:off x="3846544" y="3427302"/>
            <a:ext cx="2249456" cy="673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9AD3E1A-1DF4-1262-3F1F-05F7AD046297}"/>
              </a:ext>
            </a:extLst>
          </p:cNvPr>
          <p:cNvCxnSpPr>
            <a:stCxn id="13" idx="2"/>
            <a:endCxn id="19" idx="0"/>
          </p:cNvCxnSpPr>
          <p:nvPr/>
        </p:nvCxnSpPr>
        <p:spPr>
          <a:xfrm>
            <a:off x="6096000" y="3427302"/>
            <a:ext cx="2249456" cy="673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F7CD408-7413-CAB9-76A8-4D98331BB709}"/>
              </a:ext>
            </a:extLst>
          </p:cNvPr>
          <p:cNvSpPr txBox="1"/>
          <p:nvPr/>
        </p:nvSpPr>
        <p:spPr>
          <a:xfrm>
            <a:off x="3648269" y="3427302"/>
            <a:ext cx="13230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비트 </a:t>
            </a:r>
            <a:r>
              <a:rPr lang="ko-KR" altLang="en-US" dirty="0" err="1"/>
              <a:t>프루닝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64B3C8-7DB9-0F8A-3F06-DECA4EF4C532}"/>
              </a:ext>
            </a:extLst>
          </p:cNvPr>
          <p:cNvSpPr txBox="1"/>
          <p:nvPr/>
        </p:nvSpPr>
        <p:spPr>
          <a:xfrm>
            <a:off x="7128977" y="3427301"/>
            <a:ext cx="13230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</a:t>
            </a:r>
            <a:r>
              <a:rPr lang="ko-KR" altLang="en-US" dirty="0"/>
              <a:t>비트 </a:t>
            </a:r>
            <a:r>
              <a:rPr lang="ko-KR" altLang="en-US" dirty="0" err="1"/>
              <a:t>프루닝</a:t>
            </a:r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ECCE78-C0E2-CC6C-DD9F-69680AF619AB}"/>
              </a:ext>
            </a:extLst>
          </p:cNvPr>
          <p:cNvSpPr/>
          <p:nvPr/>
        </p:nvSpPr>
        <p:spPr>
          <a:xfrm>
            <a:off x="4971272" y="5706992"/>
            <a:ext cx="2249456" cy="627855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압축된 데이터 저장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B49B0E3-1B35-C0B9-34A7-FA7D41D75AD9}"/>
              </a:ext>
            </a:extLst>
          </p:cNvPr>
          <p:cNvCxnSpPr>
            <a:stCxn id="18" idx="2"/>
            <a:endCxn id="27" idx="0"/>
          </p:cNvCxnSpPr>
          <p:nvPr/>
        </p:nvCxnSpPr>
        <p:spPr>
          <a:xfrm>
            <a:off x="3846544" y="4728900"/>
            <a:ext cx="2249456" cy="978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C22A649-7087-53F2-5F6D-B347030B04D2}"/>
              </a:ext>
            </a:extLst>
          </p:cNvPr>
          <p:cNvCxnSpPr>
            <a:cxnSpLocks/>
            <a:stCxn id="19" idx="2"/>
            <a:endCxn id="27" idx="0"/>
          </p:cNvCxnSpPr>
          <p:nvPr/>
        </p:nvCxnSpPr>
        <p:spPr>
          <a:xfrm flipH="1">
            <a:off x="6096000" y="4728900"/>
            <a:ext cx="2249456" cy="978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0874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D0D52-671F-EAE5-D8C6-58AC75486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89B28A-039C-54D9-2F43-753442A3F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1.</a:t>
            </a:r>
            <a:r>
              <a:rPr lang="ko-KR" altLang="en-US" dirty="0">
                <a:solidFill>
                  <a:srgbClr val="2F5597"/>
                </a:solidFill>
              </a:rPr>
              <a:t> 도식화</a:t>
            </a:r>
            <a:r>
              <a:rPr lang="en-US" altLang="ko-KR" dirty="0">
                <a:solidFill>
                  <a:srgbClr val="2F5597"/>
                </a:solidFill>
              </a:rPr>
              <a:t>(RA </a:t>
            </a:r>
            <a:r>
              <a:rPr lang="ko-KR" altLang="en-US" dirty="0">
                <a:solidFill>
                  <a:srgbClr val="2F5597"/>
                </a:solidFill>
              </a:rPr>
              <a:t>알고리즘</a:t>
            </a:r>
            <a:r>
              <a:rPr lang="en-US" altLang="ko-KR" dirty="0">
                <a:solidFill>
                  <a:srgbClr val="2F5597"/>
                </a:solidFill>
              </a:rPr>
              <a:t>)</a:t>
            </a:r>
            <a:endParaRPr lang="ko-KR" altLang="en-US" dirty="0">
              <a:solidFill>
                <a:srgbClr val="2F5597"/>
              </a:solidFill>
            </a:endParaRP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9844BC7-9E0B-5E1D-6A16-9B1B977CFC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694572"/>
              </p:ext>
            </p:extLst>
          </p:nvPr>
        </p:nvGraphicFramePr>
        <p:xfrm>
          <a:off x="7781731" y="1084102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F83D0A7E-07B5-BE79-26A0-7CCB1A0526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403204"/>
              </p:ext>
            </p:extLst>
          </p:nvPr>
        </p:nvGraphicFramePr>
        <p:xfrm>
          <a:off x="7781731" y="1689887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D88EEF3D-F9DD-1EAD-94C2-8457D06AB38B}"/>
              </a:ext>
            </a:extLst>
          </p:cNvPr>
          <p:cNvSpPr txBox="1"/>
          <p:nvPr/>
        </p:nvSpPr>
        <p:spPr>
          <a:xfrm>
            <a:off x="10767527" y="1093819"/>
            <a:ext cx="583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보존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EC67DC-F798-ECF5-01B3-53E8EF0281AD}"/>
              </a:ext>
            </a:extLst>
          </p:cNvPr>
          <p:cNvSpPr txBox="1"/>
          <p:nvPr/>
        </p:nvSpPr>
        <p:spPr>
          <a:xfrm>
            <a:off x="10767527" y="1717892"/>
            <a:ext cx="13037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평균으로 대체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352CB909-210D-AD6F-DD3D-17F7FC0D5134}"/>
              </a:ext>
            </a:extLst>
          </p:cNvPr>
          <p:cNvCxnSpPr>
            <a:endCxn id="50" idx="1"/>
          </p:cNvCxnSpPr>
          <p:nvPr/>
        </p:nvCxnSpPr>
        <p:spPr>
          <a:xfrm>
            <a:off x="10331543" y="1241358"/>
            <a:ext cx="435984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88A7EEDB-C072-F52D-0504-73509F6129ED}"/>
              </a:ext>
            </a:extLst>
          </p:cNvPr>
          <p:cNvCxnSpPr>
            <a:endCxn id="51" idx="1"/>
          </p:cNvCxnSpPr>
          <p:nvPr/>
        </p:nvCxnSpPr>
        <p:spPr>
          <a:xfrm>
            <a:off x="10331543" y="1869887"/>
            <a:ext cx="435984" cy="1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B95B8DF-5888-3340-1124-3313E3B081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61017"/>
              </p:ext>
            </p:extLst>
          </p:nvPr>
        </p:nvGraphicFramePr>
        <p:xfrm>
          <a:off x="745671" y="2903825"/>
          <a:ext cx="144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491308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73376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8185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793895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89025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443168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70803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818016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37633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2081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57584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106052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C6B9018-6A43-C55F-56A7-39E3C86C16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31809"/>
              </p:ext>
            </p:extLst>
          </p:nvPr>
        </p:nvGraphicFramePr>
        <p:xfrm>
          <a:off x="5682759" y="2903825"/>
          <a:ext cx="144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491308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73376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8185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793895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89025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443168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70803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818016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37633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2081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57584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10605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28617B4-7BCF-6314-2AF7-7C2C625418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221231"/>
              </p:ext>
            </p:extLst>
          </p:nvPr>
        </p:nvGraphicFramePr>
        <p:xfrm>
          <a:off x="68403" y="2903825"/>
          <a:ext cx="560596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596">
                  <a:extLst>
                    <a:ext uri="{9D8B030D-6E8A-4147-A177-3AD203B41FA5}">
                      <a16:colId xmlns:a16="http://schemas.microsoft.com/office/drawing/2014/main" val="1651693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112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87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704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611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922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58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874139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FAF88D9C-7AB9-19A9-BB26-85F021C0A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922790"/>
              </p:ext>
            </p:extLst>
          </p:nvPr>
        </p:nvGraphicFramePr>
        <p:xfrm>
          <a:off x="2382820" y="2903825"/>
          <a:ext cx="560596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596">
                  <a:extLst>
                    <a:ext uri="{9D8B030D-6E8A-4147-A177-3AD203B41FA5}">
                      <a16:colId xmlns:a16="http://schemas.microsoft.com/office/drawing/2014/main" val="1651693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112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87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704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611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922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58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874139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0046D818-A792-0982-8E8E-FA9052D84E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323160"/>
              </p:ext>
            </p:extLst>
          </p:nvPr>
        </p:nvGraphicFramePr>
        <p:xfrm>
          <a:off x="4865550" y="2903825"/>
          <a:ext cx="560596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596">
                  <a:extLst>
                    <a:ext uri="{9D8B030D-6E8A-4147-A177-3AD203B41FA5}">
                      <a16:colId xmlns:a16="http://schemas.microsoft.com/office/drawing/2014/main" val="1651693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112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87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704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611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922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58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87413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0E68DF8-BACE-B1DE-DCD5-4FA16D5F7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207782"/>
              </p:ext>
            </p:extLst>
          </p:nvPr>
        </p:nvGraphicFramePr>
        <p:xfrm>
          <a:off x="7443124" y="2903825"/>
          <a:ext cx="560596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596">
                  <a:extLst>
                    <a:ext uri="{9D8B030D-6E8A-4147-A177-3AD203B41FA5}">
                      <a16:colId xmlns:a16="http://schemas.microsoft.com/office/drawing/2014/main" val="1651693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112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87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704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611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922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58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874139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864913DF-271A-03EF-D35B-178D9F1C58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659714"/>
              </p:ext>
            </p:extLst>
          </p:nvPr>
        </p:nvGraphicFramePr>
        <p:xfrm>
          <a:off x="570125" y="2478511"/>
          <a:ext cx="179109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773">
                  <a:extLst>
                    <a:ext uri="{9D8B030D-6E8A-4147-A177-3AD203B41FA5}">
                      <a16:colId xmlns:a16="http://schemas.microsoft.com/office/drawing/2014/main" val="3716139016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2594217171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1295043609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48125338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883163"/>
                  </a:ext>
                </a:extLst>
              </a:tr>
            </a:tbl>
          </a:graphicData>
        </a:graphic>
      </p:graphicFrame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73E54D0-DD04-A7C0-B09A-A636D4CE66C0}"/>
              </a:ext>
            </a:extLst>
          </p:cNvPr>
          <p:cNvCxnSpPr>
            <a:cxnSpLocks/>
          </p:cNvCxnSpPr>
          <p:nvPr/>
        </p:nvCxnSpPr>
        <p:spPr>
          <a:xfrm>
            <a:off x="6951308" y="4343825"/>
            <a:ext cx="26082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882A1270-8BC4-269E-A660-641D765C5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0682101"/>
              </p:ext>
            </p:extLst>
          </p:nvPr>
        </p:nvGraphicFramePr>
        <p:xfrm>
          <a:off x="2965401" y="2478511"/>
          <a:ext cx="179109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773">
                  <a:extLst>
                    <a:ext uri="{9D8B030D-6E8A-4147-A177-3AD203B41FA5}">
                      <a16:colId xmlns:a16="http://schemas.microsoft.com/office/drawing/2014/main" val="3716139016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2594217171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1295043609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48125338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883163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C7F79130-0A19-FFBE-AFB8-DF96FAF20A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367967"/>
              </p:ext>
            </p:extLst>
          </p:nvPr>
        </p:nvGraphicFramePr>
        <p:xfrm>
          <a:off x="5507213" y="2478511"/>
          <a:ext cx="179109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773">
                  <a:extLst>
                    <a:ext uri="{9D8B030D-6E8A-4147-A177-3AD203B41FA5}">
                      <a16:colId xmlns:a16="http://schemas.microsoft.com/office/drawing/2014/main" val="3716139016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2594217171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1295043609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48125338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883163"/>
                  </a:ext>
                </a:extLst>
              </a:tr>
            </a:tbl>
          </a:graphicData>
        </a:graphic>
      </p:graphicFrame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0BC2D5DC-C0D5-703B-8E55-E26362B55B4F}"/>
              </a:ext>
            </a:extLst>
          </p:cNvPr>
          <p:cNvCxnSpPr>
            <a:cxnSpLocks/>
          </p:cNvCxnSpPr>
          <p:nvPr/>
        </p:nvCxnSpPr>
        <p:spPr>
          <a:xfrm>
            <a:off x="2185671" y="4344503"/>
            <a:ext cx="10135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3F7F61A-5701-31E0-35FC-2A565C405CD2}"/>
              </a:ext>
            </a:extLst>
          </p:cNvPr>
          <p:cNvCxnSpPr>
            <a:endCxn id="6" idx="1"/>
          </p:cNvCxnSpPr>
          <p:nvPr/>
        </p:nvCxnSpPr>
        <p:spPr>
          <a:xfrm>
            <a:off x="4544008" y="4343825"/>
            <a:ext cx="11387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CA2E316C-4D8E-5716-AC33-CE6C3D89DC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028403"/>
              </p:ext>
            </p:extLst>
          </p:nvPr>
        </p:nvGraphicFramePr>
        <p:xfrm>
          <a:off x="3168937" y="2903825"/>
          <a:ext cx="144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491308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73376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8185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793895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89025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443168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70803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818016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37633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2081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57584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106052"/>
                  </a:ext>
                </a:extLst>
              </a:tr>
            </a:tbl>
          </a:graphicData>
        </a:graphic>
      </p:graphicFrame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84CD1959-9A8F-8922-3037-B947E66F32E8}"/>
              </a:ext>
            </a:extLst>
          </p:cNvPr>
          <p:cNvCxnSpPr>
            <a:cxnSpLocks/>
          </p:cNvCxnSpPr>
          <p:nvPr/>
        </p:nvCxnSpPr>
        <p:spPr>
          <a:xfrm>
            <a:off x="3168937" y="3278592"/>
            <a:ext cx="1440000" cy="34523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91535F6E-338A-712D-C1B6-C7D95D68216F}"/>
              </a:ext>
            </a:extLst>
          </p:cNvPr>
          <p:cNvCxnSpPr/>
          <p:nvPr/>
        </p:nvCxnSpPr>
        <p:spPr>
          <a:xfrm flipV="1">
            <a:off x="3140947" y="3278592"/>
            <a:ext cx="1467990" cy="34523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66DC5A12-288F-489B-DA97-9920E206C501}"/>
              </a:ext>
            </a:extLst>
          </p:cNvPr>
          <p:cNvSpPr/>
          <p:nvPr/>
        </p:nvSpPr>
        <p:spPr>
          <a:xfrm>
            <a:off x="3168937" y="4343825"/>
            <a:ext cx="1440000" cy="1439997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B489280-182A-F300-A7CC-61B3495DC867}"/>
              </a:ext>
            </a:extLst>
          </p:cNvPr>
          <p:cNvCxnSpPr/>
          <p:nvPr/>
        </p:nvCxnSpPr>
        <p:spPr>
          <a:xfrm>
            <a:off x="3904483" y="6323823"/>
            <a:ext cx="0" cy="2915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CC44E6F-FDC6-1289-2119-DA4ECB87C82E}"/>
              </a:ext>
            </a:extLst>
          </p:cNvPr>
          <p:cNvSpPr txBox="1"/>
          <p:nvPr/>
        </p:nvSpPr>
        <p:spPr>
          <a:xfrm>
            <a:off x="3679002" y="6578215"/>
            <a:ext cx="4198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7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211A3F7B-9D6C-F994-985E-434A4C6BA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36174"/>
              </p:ext>
            </p:extLst>
          </p:nvPr>
        </p:nvGraphicFramePr>
        <p:xfrm>
          <a:off x="9704428" y="2927405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3509621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020075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500158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543112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082674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968685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959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923267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BFAE4CB0-5E4A-624E-C709-858FEB0D2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777753"/>
              </p:ext>
            </p:extLst>
          </p:nvPr>
        </p:nvGraphicFramePr>
        <p:xfrm>
          <a:off x="9559602" y="2475672"/>
          <a:ext cx="179109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773">
                  <a:extLst>
                    <a:ext uri="{9D8B030D-6E8A-4147-A177-3AD203B41FA5}">
                      <a16:colId xmlns:a16="http://schemas.microsoft.com/office/drawing/2014/main" val="3716139016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2594217171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1295043609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48125338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883163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17DF913C-97F4-5A1C-0157-602594716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9081"/>
              </p:ext>
            </p:extLst>
          </p:nvPr>
        </p:nvGraphicFramePr>
        <p:xfrm>
          <a:off x="3097389" y="5963820"/>
          <a:ext cx="1614188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547">
                  <a:extLst>
                    <a:ext uri="{9D8B030D-6E8A-4147-A177-3AD203B41FA5}">
                      <a16:colId xmlns:a16="http://schemas.microsoft.com/office/drawing/2014/main" val="3311973733"/>
                    </a:ext>
                  </a:extLst>
                </a:gridCol>
                <a:gridCol w="403547">
                  <a:extLst>
                    <a:ext uri="{9D8B030D-6E8A-4147-A177-3AD203B41FA5}">
                      <a16:colId xmlns:a16="http://schemas.microsoft.com/office/drawing/2014/main" val="2717323846"/>
                    </a:ext>
                  </a:extLst>
                </a:gridCol>
                <a:gridCol w="403547">
                  <a:extLst>
                    <a:ext uri="{9D8B030D-6E8A-4147-A177-3AD203B41FA5}">
                      <a16:colId xmlns:a16="http://schemas.microsoft.com/office/drawing/2014/main" val="2801669139"/>
                    </a:ext>
                  </a:extLst>
                </a:gridCol>
                <a:gridCol w="403547">
                  <a:extLst>
                    <a:ext uri="{9D8B030D-6E8A-4147-A177-3AD203B41FA5}">
                      <a16:colId xmlns:a16="http://schemas.microsoft.com/office/drawing/2014/main" val="410780878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55286"/>
                  </a:ext>
                </a:extLst>
              </a:tr>
            </a:tbl>
          </a:graphicData>
        </a:graphic>
      </p:graphicFrame>
      <p:graphicFrame>
        <p:nvGraphicFramePr>
          <p:cNvPr id="89" name="표 88">
            <a:extLst>
              <a:ext uri="{FF2B5EF4-FFF2-40B4-BE49-F238E27FC236}">
                <a16:creationId xmlns:a16="http://schemas.microsoft.com/office/drawing/2014/main" id="{E506DF1C-15D0-B6E6-8ADD-DD0D1C1B4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340525"/>
              </p:ext>
            </p:extLst>
          </p:nvPr>
        </p:nvGraphicFramePr>
        <p:xfrm>
          <a:off x="9704428" y="4703820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3509621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020075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500158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543112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082674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968685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959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923267"/>
                  </a:ext>
                </a:extLst>
              </a:tr>
            </a:tbl>
          </a:graphicData>
        </a:graphic>
      </p:graphicFrame>
      <p:sp>
        <p:nvSpPr>
          <p:cNvPr id="90" name="TextBox 89">
            <a:extLst>
              <a:ext uri="{FF2B5EF4-FFF2-40B4-BE49-F238E27FC236}">
                <a16:creationId xmlns:a16="http://schemas.microsoft.com/office/drawing/2014/main" id="{D9B25F3F-A11B-775C-A8C2-EFFEC12F6473}"/>
              </a:ext>
            </a:extLst>
          </p:cNvPr>
          <p:cNvSpPr txBox="1"/>
          <p:nvPr/>
        </p:nvSpPr>
        <p:spPr>
          <a:xfrm>
            <a:off x="10177167" y="4367405"/>
            <a:ext cx="4945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graphicFrame>
        <p:nvGraphicFramePr>
          <p:cNvPr id="92" name="표 91">
            <a:extLst>
              <a:ext uri="{FF2B5EF4-FFF2-40B4-BE49-F238E27FC236}">
                <a16:creationId xmlns:a16="http://schemas.microsoft.com/office/drawing/2014/main" id="{0EB87B70-85A3-B45E-B4DF-5F72928F5B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838681"/>
              </p:ext>
            </p:extLst>
          </p:nvPr>
        </p:nvGraphicFramePr>
        <p:xfrm>
          <a:off x="8823467" y="4703823"/>
          <a:ext cx="36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0783928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768788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304444"/>
                  </a:ext>
                </a:extLst>
              </a:tr>
            </a:tbl>
          </a:graphicData>
        </a:graphic>
      </p:graphicFrame>
      <p:sp>
        <p:nvSpPr>
          <p:cNvPr id="93" name="TextBox 92">
            <a:extLst>
              <a:ext uri="{FF2B5EF4-FFF2-40B4-BE49-F238E27FC236}">
                <a16:creationId xmlns:a16="http://schemas.microsoft.com/office/drawing/2014/main" id="{965C4A54-ADB0-599B-0FB3-CA196D1A8CAB}"/>
              </a:ext>
            </a:extLst>
          </p:cNvPr>
          <p:cNvSpPr txBox="1"/>
          <p:nvPr/>
        </p:nvSpPr>
        <p:spPr>
          <a:xfrm>
            <a:off x="9171605" y="4860336"/>
            <a:ext cx="4945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C6A2956-F16D-E956-36EC-59C25821FEDF}"/>
              </a:ext>
            </a:extLst>
          </p:cNvPr>
          <p:cNvSpPr txBox="1"/>
          <p:nvPr/>
        </p:nvSpPr>
        <p:spPr>
          <a:xfrm>
            <a:off x="8257592" y="5533053"/>
            <a:ext cx="13020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MetaData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7522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E0552-405A-B653-7A02-F03BFDBF7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0E2468-EB8C-19D8-A53B-293244CBE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1.</a:t>
            </a:r>
            <a:r>
              <a:rPr lang="ko-KR" altLang="en-US" dirty="0">
                <a:solidFill>
                  <a:srgbClr val="2F5597"/>
                </a:solidFill>
              </a:rPr>
              <a:t> 도식화</a:t>
            </a:r>
            <a:r>
              <a:rPr lang="en-US" altLang="ko-KR" dirty="0">
                <a:solidFill>
                  <a:srgbClr val="2F5597"/>
                </a:solidFill>
              </a:rPr>
              <a:t>(ZS </a:t>
            </a:r>
            <a:r>
              <a:rPr lang="ko-KR" altLang="en-US" dirty="0">
                <a:solidFill>
                  <a:srgbClr val="2F5597"/>
                </a:solidFill>
              </a:rPr>
              <a:t>알고리즘</a:t>
            </a:r>
            <a:r>
              <a:rPr lang="en-US" altLang="ko-KR" dirty="0">
                <a:solidFill>
                  <a:srgbClr val="2F5597"/>
                </a:solidFill>
              </a:rPr>
              <a:t>)</a:t>
            </a:r>
            <a:endParaRPr lang="ko-KR" altLang="en-US" dirty="0">
              <a:solidFill>
                <a:srgbClr val="2F5597"/>
              </a:solidFill>
            </a:endParaRP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FB8E59A2-6698-9D0D-6735-A51EEB662023}"/>
              </a:ext>
            </a:extLst>
          </p:cNvPr>
          <p:cNvGraphicFramePr>
            <a:graphicFrameLocks noGrp="1"/>
          </p:cNvGraphicFramePr>
          <p:nvPr/>
        </p:nvGraphicFramePr>
        <p:xfrm>
          <a:off x="7781731" y="1084102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C81D4E8C-F5A0-73C9-CCCB-7FF6C7A19548}"/>
              </a:ext>
            </a:extLst>
          </p:cNvPr>
          <p:cNvGraphicFramePr>
            <a:graphicFrameLocks noGrp="1"/>
          </p:cNvGraphicFramePr>
          <p:nvPr/>
        </p:nvGraphicFramePr>
        <p:xfrm>
          <a:off x="7781731" y="1689887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3AA77958-235B-AD8E-E2AF-0F0DA4FB6AD4}"/>
              </a:ext>
            </a:extLst>
          </p:cNvPr>
          <p:cNvSpPr txBox="1"/>
          <p:nvPr/>
        </p:nvSpPr>
        <p:spPr>
          <a:xfrm>
            <a:off x="10767527" y="1093819"/>
            <a:ext cx="583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보존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4590CF8-F9AC-AE19-C80C-9C83A433F5FC}"/>
              </a:ext>
            </a:extLst>
          </p:cNvPr>
          <p:cNvSpPr txBox="1"/>
          <p:nvPr/>
        </p:nvSpPr>
        <p:spPr>
          <a:xfrm>
            <a:off x="10767527" y="1717892"/>
            <a:ext cx="13037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모두 </a:t>
            </a:r>
            <a:r>
              <a:rPr lang="en-US" altLang="ko-KR" dirty="0"/>
              <a:t>0</a:t>
            </a:r>
            <a:r>
              <a:rPr lang="ko-KR" altLang="en-US" dirty="0"/>
              <a:t>으로 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6A71B063-C5C7-5C73-30C8-CC019AA9DF3A}"/>
              </a:ext>
            </a:extLst>
          </p:cNvPr>
          <p:cNvCxnSpPr>
            <a:endCxn id="50" idx="1"/>
          </p:cNvCxnSpPr>
          <p:nvPr/>
        </p:nvCxnSpPr>
        <p:spPr>
          <a:xfrm>
            <a:off x="10331543" y="1241358"/>
            <a:ext cx="435984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7BFAEF4A-A279-CEBF-D454-1616C341C953}"/>
              </a:ext>
            </a:extLst>
          </p:cNvPr>
          <p:cNvCxnSpPr>
            <a:endCxn id="51" idx="1"/>
          </p:cNvCxnSpPr>
          <p:nvPr/>
        </p:nvCxnSpPr>
        <p:spPr>
          <a:xfrm>
            <a:off x="10331543" y="1869887"/>
            <a:ext cx="435984" cy="1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A0EC3DF-C641-C902-16D0-5366709B32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944196"/>
              </p:ext>
            </p:extLst>
          </p:nvPr>
        </p:nvGraphicFramePr>
        <p:xfrm>
          <a:off x="745671" y="2903825"/>
          <a:ext cx="144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491308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73376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8185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793895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89025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443168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70803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818016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37633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2081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57584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10605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DE678BF-123A-028B-C42F-580DF0170C0A}"/>
              </a:ext>
            </a:extLst>
          </p:cNvPr>
          <p:cNvGraphicFramePr>
            <a:graphicFrameLocks noGrp="1"/>
          </p:cNvGraphicFramePr>
          <p:nvPr/>
        </p:nvGraphicFramePr>
        <p:xfrm>
          <a:off x="68403" y="2903825"/>
          <a:ext cx="560596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596">
                  <a:extLst>
                    <a:ext uri="{9D8B030D-6E8A-4147-A177-3AD203B41FA5}">
                      <a16:colId xmlns:a16="http://schemas.microsoft.com/office/drawing/2014/main" val="1651693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112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87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704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611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922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58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874139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4D57E2D-D79E-CFB4-744F-B8B23AD04408}"/>
              </a:ext>
            </a:extLst>
          </p:cNvPr>
          <p:cNvGraphicFramePr>
            <a:graphicFrameLocks noGrp="1"/>
          </p:cNvGraphicFramePr>
          <p:nvPr/>
        </p:nvGraphicFramePr>
        <p:xfrm>
          <a:off x="2382820" y="2903825"/>
          <a:ext cx="560596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596">
                  <a:extLst>
                    <a:ext uri="{9D8B030D-6E8A-4147-A177-3AD203B41FA5}">
                      <a16:colId xmlns:a16="http://schemas.microsoft.com/office/drawing/2014/main" val="1651693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112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87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704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611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922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58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874139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F01C7F4-372C-1D1E-D437-2C186E05DB77}"/>
              </a:ext>
            </a:extLst>
          </p:cNvPr>
          <p:cNvGraphicFramePr>
            <a:graphicFrameLocks noGrp="1"/>
          </p:cNvGraphicFramePr>
          <p:nvPr/>
        </p:nvGraphicFramePr>
        <p:xfrm>
          <a:off x="4865550" y="2903825"/>
          <a:ext cx="560596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596">
                  <a:extLst>
                    <a:ext uri="{9D8B030D-6E8A-4147-A177-3AD203B41FA5}">
                      <a16:colId xmlns:a16="http://schemas.microsoft.com/office/drawing/2014/main" val="1651693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112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87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704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611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922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58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87413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AA573FD1-59EB-F8D9-081F-D07D29209004}"/>
              </a:ext>
            </a:extLst>
          </p:cNvPr>
          <p:cNvGraphicFramePr>
            <a:graphicFrameLocks noGrp="1"/>
          </p:cNvGraphicFramePr>
          <p:nvPr/>
        </p:nvGraphicFramePr>
        <p:xfrm>
          <a:off x="7443124" y="2903825"/>
          <a:ext cx="560596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596">
                  <a:extLst>
                    <a:ext uri="{9D8B030D-6E8A-4147-A177-3AD203B41FA5}">
                      <a16:colId xmlns:a16="http://schemas.microsoft.com/office/drawing/2014/main" val="1651693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112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87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704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611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922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58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Bit 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874139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06EEA42-34D9-7418-187A-1EF6BF209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088065"/>
              </p:ext>
            </p:extLst>
          </p:nvPr>
        </p:nvGraphicFramePr>
        <p:xfrm>
          <a:off x="570125" y="2478511"/>
          <a:ext cx="179109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773">
                  <a:extLst>
                    <a:ext uri="{9D8B030D-6E8A-4147-A177-3AD203B41FA5}">
                      <a16:colId xmlns:a16="http://schemas.microsoft.com/office/drawing/2014/main" val="3716139016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2594217171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1295043609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48125338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883163"/>
                  </a:ext>
                </a:extLst>
              </a:tr>
            </a:tbl>
          </a:graphicData>
        </a:graphic>
      </p:graphicFrame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E7B9399-1A65-BC50-AD0D-FD94835DBD5E}"/>
              </a:ext>
            </a:extLst>
          </p:cNvPr>
          <p:cNvCxnSpPr>
            <a:cxnSpLocks/>
          </p:cNvCxnSpPr>
          <p:nvPr/>
        </p:nvCxnSpPr>
        <p:spPr>
          <a:xfrm>
            <a:off x="6951308" y="4343825"/>
            <a:ext cx="271481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E7F51D8F-7A3A-A09C-58CD-986183F771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5175221"/>
              </p:ext>
            </p:extLst>
          </p:nvPr>
        </p:nvGraphicFramePr>
        <p:xfrm>
          <a:off x="2965401" y="2478511"/>
          <a:ext cx="179109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773">
                  <a:extLst>
                    <a:ext uri="{9D8B030D-6E8A-4147-A177-3AD203B41FA5}">
                      <a16:colId xmlns:a16="http://schemas.microsoft.com/office/drawing/2014/main" val="3716139016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2594217171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1295043609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48125338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-34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883163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59933E0B-6557-B682-2C91-31B8CC5AAC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56547"/>
              </p:ext>
            </p:extLst>
          </p:nvPr>
        </p:nvGraphicFramePr>
        <p:xfrm>
          <a:off x="5507213" y="2478511"/>
          <a:ext cx="179109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773">
                  <a:extLst>
                    <a:ext uri="{9D8B030D-6E8A-4147-A177-3AD203B41FA5}">
                      <a16:colId xmlns:a16="http://schemas.microsoft.com/office/drawing/2014/main" val="3716139016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2594217171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1295043609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48125338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-32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883163"/>
                  </a:ext>
                </a:extLst>
              </a:tr>
            </a:tbl>
          </a:graphicData>
        </a:graphic>
      </p:graphicFrame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09641404-12F2-0D8E-C330-745ADA59643C}"/>
              </a:ext>
            </a:extLst>
          </p:cNvPr>
          <p:cNvCxnSpPr>
            <a:cxnSpLocks/>
          </p:cNvCxnSpPr>
          <p:nvPr/>
        </p:nvCxnSpPr>
        <p:spPr>
          <a:xfrm>
            <a:off x="2185671" y="4343825"/>
            <a:ext cx="10135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13484120-0C6B-FC85-4FCA-F0EA8FC0E3EC}"/>
              </a:ext>
            </a:extLst>
          </p:cNvPr>
          <p:cNvCxnSpPr>
            <a:cxnSpLocks/>
          </p:cNvCxnSpPr>
          <p:nvPr/>
        </p:nvCxnSpPr>
        <p:spPr>
          <a:xfrm>
            <a:off x="4544008" y="4343825"/>
            <a:ext cx="11387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9611EB98-0540-D0AB-B6F2-8A7BD110F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2373700"/>
              </p:ext>
            </p:extLst>
          </p:nvPr>
        </p:nvGraphicFramePr>
        <p:xfrm>
          <a:off x="3168937" y="2903825"/>
          <a:ext cx="144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491308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73376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8185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793895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89025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443168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70803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818016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37633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2081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57584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10605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AC9B34B6-50CA-FA61-8CEE-D85F188D50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0267613"/>
              </p:ext>
            </p:extLst>
          </p:nvPr>
        </p:nvGraphicFramePr>
        <p:xfrm>
          <a:off x="9704428" y="2927405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3509621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020075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500158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543112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082674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968685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959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923267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8774439D-758C-1B9C-1DE2-D5428A71D2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3844483"/>
              </p:ext>
            </p:extLst>
          </p:nvPr>
        </p:nvGraphicFramePr>
        <p:xfrm>
          <a:off x="9559602" y="2475672"/>
          <a:ext cx="179109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773">
                  <a:extLst>
                    <a:ext uri="{9D8B030D-6E8A-4147-A177-3AD203B41FA5}">
                      <a16:colId xmlns:a16="http://schemas.microsoft.com/office/drawing/2014/main" val="3716139016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2594217171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1295043609"/>
                    </a:ext>
                  </a:extLst>
                </a:gridCol>
                <a:gridCol w="447773">
                  <a:extLst>
                    <a:ext uri="{9D8B030D-6E8A-4147-A177-3AD203B41FA5}">
                      <a16:colId xmlns:a16="http://schemas.microsoft.com/office/drawing/2014/main" val="48125338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883163"/>
                  </a:ext>
                </a:extLst>
              </a:tr>
            </a:tbl>
          </a:graphicData>
        </a:graphic>
      </p:graphicFrame>
      <p:graphicFrame>
        <p:nvGraphicFramePr>
          <p:cNvPr id="89" name="표 88">
            <a:extLst>
              <a:ext uri="{FF2B5EF4-FFF2-40B4-BE49-F238E27FC236}">
                <a16:creationId xmlns:a16="http://schemas.microsoft.com/office/drawing/2014/main" id="{5A1D2104-00AF-FB5C-E57F-70101AA393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0371834"/>
              </p:ext>
            </p:extLst>
          </p:nvPr>
        </p:nvGraphicFramePr>
        <p:xfrm>
          <a:off x="9704428" y="4703820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3509621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020075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500158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543112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082674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968685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959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923267"/>
                  </a:ext>
                </a:extLst>
              </a:tr>
            </a:tbl>
          </a:graphicData>
        </a:graphic>
      </p:graphicFrame>
      <p:sp>
        <p:nvSpPr>
          <p:cNvPr id="90" name="TextBox 89">
            <a:extLst>
              <a:ext uri="{FF2B5EF4-FFF2-40B4-BE49-F238E27FC236}">
                <a16:creationId xmlns:a16="http://schemas.microsoft.com/office/drawing/2014/main" id="{0B2479B4-AA8E-EC23-D84E-F840EA1E7A2D}"/>
              </a:ext>
            </a:extLst>
          </p:cNvPr>
          <p:cNvSpPr txBox="1"/>
          <p:nvPr/>
        </p:nvSpPr>
        <p:spPr>
          <a:xfrm>
            <a:off x="10177167" y="4367405"/>
            <a:ext cx="4945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graphicFrame>
        <p:nvGraphicFramePr>
          <p:cNvPr id="92" name="표 91">
            <a:extLst>
              <a:ext uri="{FF2B5EF4-FFF2-40B4-BE49-F238E27FC236}">
                <a16:creationId xmlns:a16="http://schemas.microsoft.com/office/drawing/2014/main" id="{AD3FEFBF-88C7-60EA-FB5A-A6AE848001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718564"/>
              </p:ext>
            </p:extLst>
          </p:nvPr>
        </p:nvGraphicFramePr>
        <p:xfrm>
          <a:off x="8823467" y="4703823"/>
          <a:ext cx="36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0783928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768788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304444"/>
                  </a:ext>
                </a:extLst>
              </a:tr>
            </a:tbl>
          </a:graphicData>
        </a:graphic>
      </p:graphicFrame>
      <p:sp>
        <p:nvSpPr>
          <p:cNvPr id="93" name="TextBox 92">
            <a:extLst>
              <a:ext uri="{FF2B5EF4-FFF2-40B4-BE49-F238E27FC236}">
                <a16:creationId xmlns:a16="http://schemas.microsoft.com/office/drawing/2014/main" id="{B045DD6C-182F-33F1-90AC-6C07D1B4B87C}"/>
              </a:ext>
            </a:extLst>
          </p:cNvPr>
          <p:cNvSpPr txBox="1"/>
          <p:nvPr/>
        </p:nvSpPr>
        <p:spPr>
          <a:xfrm>
            <a:off x="9171605" y="4860336"/>
            <a:ext cx="4945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26AD0FF-67E7-4A62-95F0-807E9FF680A2}"/>
              </a:ext>
            </a:extLst>
          </p:cNvPr>
          <p:cNvSpPr txBox="1"/>
          <p:nvPr/>
        </p:nvSpPr>
        <p:spPr>
          <a:xfrm>
            <a:off x="8257592" y="5533053"/>
            <a:ext cx="13020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MetaData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99C54-448E-0EA1-D7BB-2A0BE0519235}"/>
              </a:ext>
            </a:extLst>
          </p:cNvPr>
          <p:cNvSpPr txBox="1"/>
          <p:nvPr/>
        </p:nvSpPr>
        <p:spPr>
          <a:xfrm>
            <a:off x="895739" y="5963820"/>
            <a:ext cx="10823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FF0000"/>
                </a:solidFill>
              </a:rPr>
              <a:t>최적의 상수 </a:t>
            </a:r>
            <a:r>
              <a:rPr lang="en-US" altLang="ko-KR" dirty="0">
                <a:solidFill>
                  <a:srgbClr val="FF0000"/>
                </a:solidFill>
              </a:rPr>
              <a:t>-14 </a:t>
            </a:r>
            <a:r>
              <a:rPr lang="ko-KR" altLang="en-US" dirty="0">
                <a:solidFill>
                  <a:srgbClr val="FF0000"/>
                </a:solidFill>
              </a:rPr>
              <a:t>더하기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74CEB8-D2FB-B0A6-EAD1-7138240E02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6126020"/>
              </p:ext>
            </p:extLst>
          </p:nvPr>
        </p:nvGraphicFramePr>
        <p:xfrm>
          <a:off x="5649323" y="2903825"/>
          <a:ext cx="144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491308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73376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81854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793895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89025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443168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70803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818016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37633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2081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57584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10605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D3AF9849-8F19-0119-A7B8-C799E80565C2}"/>
              </a:ext>
            </a:extLst>
          </p:cNvPr>
          <p:cNvSpPr/>
          <p:nvPr/>
        </p:nvSpPr>
        <p:spPr>
          <a:xfrm>
            <a:off x="5649323" y="4343825"/>
            <a:ext cx="1440000" cy="143998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409516DC-9E89-37E5-BECA-E2A7DA018D7E}"/>
              </a:ext>
            </a:extLst>
          </p:cNvPr>
          <p:cNvCxnSpPr/>
          <p:nvPr/>
        </p:nvCxnSpPr>
        <p:spPr>
          <a:xfrm>
            <a:off x="6363478" y="5840830"/>
            <a:ext cx="0" cy="438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8E5BA90-BC11-725D-FF55-994877BC4632}"/>
              </a:ext>
            </a:extLst>
          </p:cNvPr>
          <p:cNvSpPr txBox="1"/>
          <p:nvPr/>
        </p:nvSpPr>
        <p:spPr>
          <a:xfrm>
            <a:off x="5649323" y="6279502"/>
            <a:ext cx="16155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FF0000"/>
                </a:solidFill>
              </a:rPr>
              <a:t>하위 </a:t>
            </a:r>
            <a:r>
              <a:rPr lang="en-US" altLang="ko-KR" dirty="0">
                <a:solidFill>
                  <a:srgbClr val="FF0000"/>
                </a:solidFill>
              </a:rPr>
              <a:t>4</a:t>
            </a:r>
            <a:r>
              <a:rPr lang="ko-KR" altLang="en-US" dirty="0">
                <a:solidFill>
                  <a:srgbClr val="FF0000"/>
                </a:solidFill>
              </a:rPr>
              <a:t>비트 모두 </a:t>
            </a:r>
            <a:r>
              <a:rPr lang="en-US" altLang="ko-KR" dirty="0">
                <a:solidFill>
                  <a:srgbClr val="FF0000"/>
                </a:solidFill>
              </a:rPr>
              <a:t>0</a:t>
            </a:r>
            <a:r>
              <a:rPr lang="ko-KR" altLang="en-US" dirty="0">
                <a:solidFill>
                  <a:srgbClr val="FF0000"/>
                </a:solidFill>
              </a:rPr>
              <a:t>으로 전환</a:t>
            </a:r>
          </a:p>
        </p:txBody>
      </p:sp>
    </p:spTree>
    <p:extLst>
      <p:ext uri="{BB962C8B-B14F-4D97-AF65-F5344CB8AC3E}">
        <p14:creationId xmlns:p14="http://schemas.microsoft.com/office/powerpoint/2010/main" val="3645632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10398</TotalTime>
  <Words>585</Words>
  <Application>Microsoft Office PowerPoint</Application>
  <PresentationFormat>와이드스크린</PresentationFormat>
  <Paragraphs>411</Paragraphs>
  <Slides>5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Noto Sans Symbols</vt:lpstr>
      <vt:lpstr>Malgun Gothic</vt:lpstr>
      <vt:lpstr>Malgun Gothic</vt:lpstr>
      <vt:lpstr>Arial</vt:lpstr>
      <vt:lpstr>Calibri</vt:lpstr>
      <vt:lpstr>Office 테마</vt:lpstr>
      <vt:lpstr>26.03.30.세미나</vt:lpstr>
      <vt:lpstr>Overview</vt:lpstr>
      <vt:lpstr>1. 도식화</vt:lpstr>
      <vt:lpstr>1. 도식화(RA 알고리즘)</vt:lpstr>
      <vt:lpstr>1. 도식화(ZS 알고리즘)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Winograd Structured Pruning</dc:title>
  <dc:creator>Windows 사용자</dc:creator>
  <cp:lastModifiedBy>최성우</cp:lastModifiedBy>
  <cp:revision>1234</cp:revision>
  <dcterms:created xsi:type="dcterms:W3CDTF">2019-09-23T01:49:16Z</dcterms:created>
  <dcterms:modified xsi:type="dcterms:W3CDTF">2026-05-19T17:40:25Z</dcterms:modified>
</cp:coreProperties>
</file>
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7" r:id="rId9"/>
    <p:sldId id="268" r:id="rId10"/>
    <p:sldId id="269" r:id="rId11"/>
    <p:sldId id="270" r:id="rId12"/>
    <p:sldId id="274" r:id="rId13"/>
    <p:sldId id="275" r:id="rId14"/>
    <p:sldId id="276" r:id="rId15"/>
    <p:sldId id="280" r:id="rId16"/>
    <p:sldId id="278" r:id="rId17"/>
    <p:sldId id="27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A68ABEA-07EF-492A-8EC7-F127484801FB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9DC5D90-A929-45AE-99A8-44530581686B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037280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8ABEA-07EF-492A-8EC7-F127484801FB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C5D90-A929-45AE-99A8-4453058168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305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68ABEA-07EF-492A-8EC7-F127484801FB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9DC5D90-A929-45AE-99A8-44530581686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562216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8ABEA-07EF-492A-8EC7-F127484801FB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C5D90-A929-45AE-99A8-4453058168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514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8ABEA-07EF-492A-8EC7-F127484801FB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C5D90-A929-45AE-99A8-4453058168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629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8ABEA-07EF-492A-8EC7-F127484801FB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C5D90-A929-45AE-99A8-4453058168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7737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8ABEA-07EF-492A-8EC7-F127484801FB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C5D90-A929-45AE-99A8-4453058168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719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68ABEA-07EF-492A-8EC7-F127484801FB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9DC5D90-A929-45AE-99A8-44530581686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97204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68ABEA-07EF-492A-8EC7-F127484801FB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9DC5D90-A929-45AE-99A8-44530581686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6710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8ABEA-07EF-492A-8EC7-F127484801FB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C5D90-A929-45AE-99A8-4453058168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5734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8ABEA-07EF-492A-8EC7-F127484801FB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C5D90-A929-45AE-99A8-4453058168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491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3A68ABEA-07EF-492A-8EC7-F127484801FB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19DC5D90-A929-45AE-99A8-44530581686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2110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4913C5-1E0B-206F-4ED0-12FAE4575E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4000" b="1" dirty="0"/>
              <a:t>System Virtualization for Neural Processing Units </a:t>
            </a:r>
            <a:r>
              <a:rPr lang="ko-KR" altLang="en-US" sz="4000" dirty="0"/>
              <a:t> 논문의 핵심 기여도</a:t>
            </a:r>
            <a:r>
              <a:rPr lang="en-US" altLang="ko-KR" sz="4000" dirty="0"/>
              <a:t>(Key Contribution) </a:t>
            </a:r>
            <a:r>
              <a:rPr lang="ko-KR" altLang="en-US" sz="4000" dirty="0"/>
              <a:t>및 방법론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B54130C-FF92-0E44-F248-62535B4016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26.01.22 </a:t>
            </a:r>
            <a:r>
              <a:rPr lang="ko-KR" altLang="en-US" dirty="0"/>
              <a:t>세미나</a:t>
            </a:r>
          </a:p>
        </p:txBody>
      </p:sp>
    </p:spTree>
    <p:extLst>
      <p:ext uri="{BB962C8B-B14F-4D97-AF65-F5344CB8AC3E}">
        <p14:creationId xmlns:p14="http://schemas.microsoft.com/office/powerpoint/2010/main" val="595714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B099520-A069-2BC2-36ED-A4C84824B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ko-KR" altLang="en-US" sz="5400">
                <a:solidFill>
                  <a:schemeClr val="bg2"/>
                </a:solidFill>
              </a:rPr>
              <a:t>목차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8DA930-B38E-90B9-8659-2EB7072B7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r>
              <a:rPr lang="en-US" altLang="ko-KR" sz="1800" dirty="0"/>
              <a:t>1. </a:t>
            </a:r>
            <a:r>
              <a:rPr lang="ko-KR" altLang="en-US" sz="1800" dirty="0"/>
              <a:t>기존 </a:t>
            </a:r>
            <a:r>
              <a:rPr lang="en-US" altLang="ko-KR" sz="1800" dirty="0"/>
              <a:t>NPU </a:t>
            </a:r>
            <a:r>
              <a:rPr lang="ko-KR" altLang="en-US" sz="1800" dirty="0"/>
              <a:t>방식</a:t>
            </a:r>
            <a:endParaRPr lang="en-US" altLang="ko-KR" sz="1800" dirty="0"/>
          </a:p>
          <a:p>
            <a:r>
              <a:rPr lang="en-US" altLang="ko-KR" sz="1800" dirty="0"/>
              <a:t>2. </a:t>
            </a:r>
            <a:r>
              <a:rPr lang="en-US" altLang="ko-KR" sz="1800" dirty="0" err="1"/>
              <a:t>vNPU</a:t>
            </a:r>
            <a:endParaRPr lang="en-US" altLang="ko-KR" sz="1800" dirty="0"/>
          </a:p>
          <a:p>
            <a:r>
              <a:rPr lang="en-US" altLang="ko-KR" sz="1800" dirty="0"/>
              <a:t>3. Contribution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453620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4DD38B4-94D0-7CA8-67B3-BEE8F1E17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293660" cy="5262390"/>
          </a:xfrm>
        </p:spPr>
        <p:txBody>
          <a:bodyPr anchor="ctr">
            <a:normAutofit/>
          </a:bodyPr>
          <a:lstStyle/>
          <a:p>
            <a:pPr algn="r"/>
            <a:r>
              <a:rPr lang="ko-KR" altLang="en-US" sz="4800" dirty="0">
                <a:solidFill>
                  <a:schemeClr val="bg2"/>
                </a:solidFill>
              </a:rPr>
              <a:t>기존 </a:t>
            </a:r>
            <a:r>
              <a:rPr lang="en-US" altLang="ko-KR" sz="4800" dirty="0">
                <a:solidFill>
                  <a:schemeClr val="bg2"/>
                </a:solidFill>
              </a:rPr>
              <a:t>NPU </a:t>
            </a:r>
            <a:r>
              <a:rPr lang="ko-KR" altLang="en-US" sz="4800" dirty="0">
                <a:solidFill>
                  <a:schemeClr val="bg2"/>
                </a:solidFill>
              </a:rPr>
              <a:t>방식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AEB8CC-8F61-9A44-5D9E-1983A5700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928968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74BB63-6092-2B46-02BF-1C2B1F0C0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4983"/>
          </a:xfrm>
        </p:spPr>
        <p:txBody>
          <a:bodyPr/>
          <a:lstStyle/>
          <a:p>
            <a:r>
              <a:rPr lang="ko-KR" altLang="en-US" dirty="0"/>
              <a:t>기존 </a:t>
            </a:r>
            <a:r>
              <a:rPr lang="en-US" altLang="ko-KR" dirty="0"/>
              <a:t>NPU </a:t>
            </a:r>
            <a:r>
              <a:rPr lang="ko-KR" altLang="en-US" dirty="0"/>
              <a:t>방식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3FD553-DA6E-B157-0DC4-51652180B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68877"/>
            <a:ext cx="9601200" cy="4398523"/>
          </a:xfrm>
        </p:spPr>
        <p:txBody>
          <a:bodyPr/>
          <a:lstStyle/>
          <a:p>
            <a:r>
              <a:rPr lang="ko-KR" altLang="en-US" dirty="0"/>
              <a:t>현재 우리는 </a:t>
            </a:r>
            <a:r>
              <a:rPr lang="en-US" altLang="ko-KR" dirty="0"/>
              <a:t>AI </a:t>
            </a:r>
            <a:r>
              <a:rPr lang="ko-KR" altLang="en-US" dirty="0"/>
              <a:t>기반 애플리케이션의 성능을 향상하기 위해</a:t>
            </a:r>
            <a:r>
              <a:rPr lang="en-US" altLang="ko-KR" dirty="0"/>
              <a:t>, </a:t>
            </a:r>
            <a:r>
              <a:rPr lang="ko-KR" altLang="en-US" dirty="0"/>
              <a:t>클라우드 플랫폼은 심층 신경망</a:t>
            </a:r>
            <a:r>
              <a:rPr lang="en-US" altLang="ko-KR" dirty="0"/>
              <a:t>(DNN)</a:t>
            </a:r>
            <a:r>
              <a:rPr lang="ko-KR" altLang="en-US" dirty="0"/>
              <a:t>을 위한 신경망 처리 장치</a:t>
            </a:r>
            <a:r>
              <a:rPr lang="en-US" altLang="ko-KR" dirty="0"/>
              <a:t>(NPU)</a:t>
            </a:r>
            <a:r>
              <a:rPr lang="ko-KR" altLang="en-US" dirty="0"/>
              <a:t>와 같은 하드웨어 가속기를 채택하고 있다</a:t>
            </a:r>
            <a:endParaRPr lang="en-US" altLang="ko-KR" dirty="0"/>
          </a:p>
          <a:p>
            <a:r>
              <a:rPr lang="en-US" altLang="ko-KR" dirty="0"/>
              <a:t>NPU(</a:t>
            </a:r>
            <a:r>
              <a:rPr lang="ko-KR" altLang="en-US" dirty="0"/>
              <a:t>신경망 처리 장치</a:t>
            </a:r>
            <a:r>
              <a:rPr lang="en-US" altLang="ko-KR" dirty="0"/>
              <a:t>): </a:t>
            </a:r>
            <a:r>
              <a:rPr lang="ko-KR" altLang="en-US" dirty="0" err="1"/>
              <a:t>딥러닝과</a:t>
            </a:r>
            <a:r>
              <a:rPr lang="ko-KR" altLang="en-US" dirty="0"/>
              <a:t> 같은</a:t>
            </a:r>
            <a:r>
              <a:rPr lang="en-US" altLang="ko-KR" dirty="0"/>
              <a:t> AI </a:t>
            </a:r>
            <a:r>
              <a:rPr lang="ko-KR" altLang="en-US" dirty="0"/>
              <a:t>작업을 효율적으로 수행하기 위해 설계된 전용 하드웨어 가속기</a:t>
            </a:r>
            <a:endParaRPr lang="en-US" altLang="ko-KR" dirty="0"/>
          </a:p>
          <a:p>
            <a:r>
              <a:rPr lang="ko-KR" altLang="en-US" dirty="0"/>
              <a:t>주요 역할</a:t>
            </a:r>
            <a:br>
              <a:rPr lang="en-US" altLang="ko-KR" dirty="0"/>
            </a:br>
            <a:r>
              <a:rPr lang="en-US" altLang="ko-KR" dirty="0"/>
              <a:t>1. AI </a:t>
            </a:r>
            <a:r>
              <a:rPr lang="ko-KR" altLang="en-US" dirty="0"/>
              <a:t>연산 가속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효율성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7523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0FCCE-3722-AC7F-6B36-6F359EFE5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D844D-B9EE-A82C-8839-30A773725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4983"/>
          </a:xfrm>
        </p:spPr>
        <p:txBody>
          <a:bodyPr/>
          <a:lstStyle/>
          <a:p>
            <a:r>
              <a:rPr lang="ko-KR" altLang="en-US" dirty="0"/>
              <a:t>기존 </a:t>
            </a:r>
            <a:r>
              <a:rPr lang="en-US" altLang="ko-KR" dirty="0"/>
              <a:t>NPU </a:t>
            </a:r>
            <a:r>
              <a:rPr lang="ko-KR" altLang="en-US" dirty="0"/>
              <a:t>방식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BD26C-9FCC-1D45-FA91-439C5A296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68877"/>
            <a:ext cx="9601200" cy="4398523"/>
          </a:xfrm>
        </p:spPr>
        <p:txBody>
          <a:bodyPr/>
          <a:lstStyle/>
          <a:p>
            <a:r>
              <a:rPr lang="en-US" altLang="ko-KR" dirty="0"/>
              <a:t>NPU </a:t>
            </a:r>
            <a:r>
              <a:rPr lang="ko-KR" altLang="en-US" dirty="0"/>
              <a:t>코어의 구성요소</a:t>
            </a:r>
            <a:br>
              <a:rPr lang="en-US" altLang="ko-KR" dirty="0"/>
            </a:br>
            <a:r>
              <a:rPr lang="en-US" altLang="ko-KR" dirty="0"/>
              <a:t>1. Command Processor</a:t>
            </a:r>
            <a:br>
              <a:rPr lang="en-US" altLang="ko-KR" dirty="0"/>
            </a:br>
            <a:r>
              <a:rPr lang="en-US" altLang="ko-KR" dirty="0"/>
              <a:t>2. Direct Memory Access (DMA)</a:t>
            </a:r>
            <a:br>
              <a:rPr lang="en-US" altLang="ko-KR" dirty="0"/>
            </a:br>
            <a:r>
              <a:rPr lang="en-US" altLang="ko-KR" dirty="0"/>
              <a:t>3. Compute Engine</a:t>
            </a:r>
            <a:br>
              <a:rPr lang="en-US" altLang="ko-KR" dirty="0"/>
            </a:br>
            <a:r>
              <a:rPr lang="en-US" altLang="ko-KR" dirty="0"/>
              <a:t>	3-1. SRAM: HBM</a:t>
            </a:r>
            <a:r>
              <a:rPr lang="ko-KR" altLang="en-US" dirty="0"/>
              <a:t>과 데이터 교환</a:t>
            </a:r>
            <a:br>
              <a:rPr lang="en-US" altLang="ko-KR" dirty="0"/>
            </a:br>
            <a:r>
              <a:rPr lang="en-US" altLang="ko-KR" dirty="0"/>
              <a:t>	3-2. Systolic Arrays (SAs): </a:t>
            </a:r>
            <a:r>
              <a:rPr lang="ko-KR" altLang="en-US" dirty="0"/>
              <a:t>행렬 곱셈 및 </a:t>
            </a:r>
            <a:r>
              <a:rPr lang="ko-KR" altLang="en-US" dirty="0" err="1"/>
              <a:t>컨볼루션</a:t>
            </a:r>
            <a:r>
              <a:rPr lang="ko-KR" altLang="en-US" dirty="0"/>
              <a:t> 연산에서 데이터 재사용과 병렬성을 활용</a:t>
            </a:r>
            <a:br>
              <a:rPr lang="en-US" altLang="ko-KR" dirty="0"/>
            </a:br>
            <a:r>
              <a:rPr lang="en-US" altLang="ko-KR" dirty="0"/>
              <a:t>	3-3. Vector Units(Vus): </a:t>
            </a:r>
            <a:r>
              <a:rPr lang="ko-KR" altLang="en-US" dirty="0"/>
              <a:t>여러 </a:t>
            </a:r>
            <a:r>
              <a:rPr lang="en-US" altLang="ko-KR" dirty="0"/>
              <a:t>SIMD </a:t>
            </a:r>
            <a:r>
              <a:rPr lang="ko-KR" altLang="en-US" dirty="0"/>
              <a:t>유닛을 사용하여 벡터 연산을 수행</a:t>
            </a:r>
            <a:br>
              <a:rPr lang="en-US" altLang="ko-KR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6646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9EAE8-8F56-04B6-B133-3FF006916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ko-KR" altLang="en-US" dirty="0"/>
              <a:t>기존 </a:t>
            </a:r>
            <a:r>
              <a:rPr lang="en-US" altLang="ko-KR" dirty="0"/>
              <a:t>NPU </a:t>
            </a:r>
            <a:r>
              <a:rPr lang="ko-KR" altLang="en-US" dirty="0"/>
              <a:t>방식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778101-2941-32D8-267F-3EB306D2E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1487156"/>
            <a:ext cx="5072437" cy="4380244"/>
          </a:xfrm>
        </p:spPr>
        <p:txBody>
          <a:bodyPr>
            <a:normAutofit lnSpcReduction="10000"/>
          </a:bodyPr>
          <a:lstStyle/>
          <a:p>
            <a:r>
              <a:rPr lang="en-US" altLang="ko-KR" sz="1800" dirty="0"/>
              <a:t>FLOPS: </a:t>
            </a:r>
            <a:r>
              <a:rPr lang="ko-KR" altLang="en-US" sz="1800" dirty="0"/>
              <a:t>컴퓨팅 리소스 활용도</a:t>
            </a:r>
            <a:endParaRPr lang="en-US" altLang="ko-KR" sz="1800" dirty="0"/>
          </a:p>
          <a:p>
            <a:r>
              <a:rPr lang="ko-KR" altLang="en-US" sz="1800" dirty="0"/>
              <a:t>각 코어에는 하나의 </a:t>
            </a:r>
            <a:r>
              <a:rPr lang="en-US" altLang="ko-KR" sz="1800" dirty="0"/>
              <a:t>SA</a:t>
            </a:r>
            <a:r>
              <a:rPr lang="ko-KR" altLang="en-US" sz="1800" dirty="0"/>
              <a:t>와 하나의 </a:t>
            </a:r>
            <a:r>
              <a:rPr lang="en-US" altLang="ko-KR" sz="1800" dirty="0"/>
              <a:t>VU</a:t>
            </a:r>
            <a:r>
              <a:rPr lang="ko-KR" altLang="en-US" sz="1800" dirty="0"/>
              <a:t>가 있음</a:t>
            </a:r>
            <a:endParaRPr lang="en-US" altLang="ko-KR" sz="1800" dirty="0"/>
          </a:p>
          <a:p>
            <a:r>
              <a:rPr lang="ko-KR" altLang="en-US" sz="1800" dirty="0"/>
              <a:t>대부분의 </a:t>
            </a:r>
            <a:r>
              <a:rPr lang="en-US" altLang="ko-KR" sz="1800" dirty="0"/>
              <a:t>ML </a:t>
            </a:r>
            <a:r>
              <a:rPr lang="ko-KR" altLang="en-US" sz="1800" dirty="0"/>
              <a:t>워크로드는 </a:t>
            </a:r>
            <a:r>
              <a:rPr lang="en-US" altLang="ko-KR" sz="1800" dirty="0"/>
              <a:t>TPU </a:t>
            </a:r>
            <a:r>
              <a:rPr lang="ko-KR" altLang="en-US" sz="1800" dirty="0"/>
              <a:t>코어 총 </a:t>
            </a:r>
            <a:r>
              <a:rPr lang="en-US" altLang="ko-KR" sz="1800" dirty="0"/>
              <a:t>FLOPS</a:t>
            </a:r>
            <a:r>
              <a:rPr lang="ko-KR" altLang="en-US" sz="1800" dirty="0"/>
              <a:t>의 절반 미만을 활용</a:t>
            </a:r>
            <a:endParaRPr lang="en-US" altLang="ko-KR" sz="1800" dirty="0"/>
          </a:p>
          <a:p>
            <a:r>
              <a:rPr lang="ko-KR" altLang="en-US" sz="1800" dirty="0"/>
              <a:t>주요 원인</a:t>
            </a:r>
            <a:r>
              <a:rPr lang="en-US" altLang="ko-KR" sz="1800" dirty="0"/>
              <a:t>: TPU</a:t>
            </a:r>
            <a:r>
              <a:rPr lang="ko-KR" altLang="en-US" sz="1800" dirty="0"/>
              <a:t>에서 가장 많은 </a:t>
            </a:r>
            <a:r>
              <a:rPr lang="en-US" altLang="ko-KR" sz="1800" dirty="0"/>
              <a:t>FLOPS</a:t>
            </a:r>
            <a:r>
              <a:rPr lang="ko-KR" altLang="en-US" sz="1800" dirty="0"/>
              <a:t>를 제공하는 </a:t>
            </a:r>
            <a:r>
              <a:rPr lang="en-US" altLang="ko-KR" sz="1800" dirty="0"/>
              <a:t>SA</a:t>
            </a:r>
            <a:r>
              <a:rPr lang="ko-KR" altLang="en-US" sz="1800" dirty="0"/>
              <a:t>가 시간적으로 </a:t>
            </a:r>
            <a:r>
              <a:rPr lang="ko-KR" altLang="en-US" sz="1800" dirty="0" err="1"/>
              <a:t>저활용됨</a:t>
            </a:r>
            <a:endParaRPr lang="en-US" altLang="ko-KR" sz="1800" dirty="0"/>
          </a:p>
          <a:p>
            <a:r>
              <a:rPr lang="en-US" altLang="ko-KR" sz="1800" dirty="0"/>
              <a:t>ML </a:t>
            </a:r>
            <a:r>
              <a:rPr lang="ko-KR" altLang="en-US" sz="1800" dirty="0"/>
              <a:t>워크로드의 성능을 확장하는 일반적인 방법은 </a:t>
            </a:r>
            <a:r>
              <a:rPr lang="en-US" altLang="ko-KR" sz="1800" dirty="0"/>
              <a:t>NPU </a:t>
            </a:r>
            <a:r>
              <a:rPr lang="ko-KR" altLang="en-US" sz="1800" dirty="0"/>
              <a:t>코어 내의 </a:t>
            </a:r>
            <a:r>
              <a:rPr lang="en-US" altLang="ko-KR" sz="1800" dirty="0"/>
              <a:t>SA </a:t>
            </a:r>
            <a:r>
              <a:rPr lang="ko-KR" altLang="en-US" sz="1800" dirty="0"/>
              <a:t>및 </a:t>
            </a:r>
            <a:r>
              <a:rPr lang="en-US" altLang="ko-KR" sz="1800" dirty="0"/>
              <a:t>VU </a:t>
            </a:r>
            <a:r>
              <a:rPr lang="ko-KR" altLang="en-US" sz="1800" dirty="0"/>
              <a:t>수를 늘리는 것</a:t>
            </a:r>
            <a:br>
              <a:rPr lang="en-US" altLang="ko-KR" sz="1800" dirty="0"/>
            </a:br>
            <a:r>
              <a:rPr lang="en-US" altLang="ko-KR" sz="1800" dirty="0"/>
              <a:t>-&gt; </a:t>
            </a:r>
            <a:r>
              <a:rPr lang="ko-KR" altLang="en-US" sz="1800" dirty="0"/>
              <a:t>자원의 낭비</a:t>
            </a:r>
            <a:br>
              <a:rPr lang="en-US" altLang="ko-KR" sz="1800" dirty="0"/>
            </a:br>
            <a:r>
              <a:rPr lang="en-US" altLang="ko-KR" sz="1800" dirty="0"/>
              <a:t>-&gt; </a:t>
            </a:r>
            <a:r>
              <a:rPr lang="ko-KR" altLang="en-US" sz="1800" dirty="0" err="1"/>
              <a:t>암달의</a:t>
            </a:r>
            <a:r>
              <a:rPr lang="ko-KR" altLang="en-US" sz="1800" dirty="0"/>
              <a:t> 법칙에 따라 예견됨</a:t>
            </a:r>
            <a:br>
              <a:rPr lang="en-US" altLang="ko-KR" sz="1800" dirty="0"/>
            </a:br>
            <a:r>
              <a:rPr lang="en-US" altLang="ko-KR" sz="1800" dirty="0"/>
              <a:t>=&gt; </a:t>
            </a:r>
            <a:r>
              <a:rPr lang="ko-KR" altLang="en-US" sz="1800" dirty="0"/>
              <a:t>워크로드에 할당되는 </a:t>
            </a:r>
            <a:r>
              <a:rPr lang="en-US" altLang="ko-KR" sz="1800" dirty="0"/>
              <a:t>SA</a:t>
            </a:r>
            <a:r>
              <a:rPr lang="ko-KR" altLang="en-US" sz="1800" dirty="0"/>
              <a:t>와 </a:t>
            </a:r>
            <a:r>
              <a:rPr lang="en-US" altLang="ko-KR" sz="1800" dirty="0"/>
              <a:t>VU</a:t>
            </a:r>
            <a:r>
              <a:rPr lang="ko-KR" altLang="en-US" sz="1800" dirty="0"/>
              <a:t>의 수는 수요에 따라 유연 해야함</a:t>
            </a:r>
            <a:endParaRPr lang="en-US" altLang="ko-KR" sz="1800" dirty="0"/>
          </a:p>
          <a:p>
            <a:r>
              <a:rPr lang="en-US" altLang="ko-KR" sz="1800" dirty="0"/>
              <a:t>Cf) </a:t>
            </a:r>
            <a:r>
              <a:rPr lang="ko-KR" altLang="en-US" sz="1800" dirty="0" err="1"/>
              <a:t>암달의</a:t>
            </a:r>
            <a:r>
              <a:rPr lang="ko-KR" altLang="en-US" sz="1800" dirty="0"/>
              <a:t> 법칙</a:t>
            </a:r>
            <a:r>
              <a:rPr lang="en-US" altLang="ko-KR" sz="1800" dirty="0"/>
              <a:t>: </a:t>
            </a:r>
            <a:r>
              <a:rPr lang="ko-KR" altLang="en-US" sz="1800" dirty="0"/>
              <a:t>컴퓨터 시스템의 특정 부분을 개선했을 때</a:t>
            </a:r>
            <a:r>
              <a:rPr lang="en-US" altLang="ko-KR" sz="1800" dirty="0"/>
              <a:t>, </a:t>
            </a:r>
            <a:r>
              <a:rPr lang="ko-KR" altLang="en-US" sz="1800" dirty="0"/>
              <a:t>시스템의 전체 성능이 얼마나 향상될 수 있는지를 계산하는 법칙</a:t>
            </a:r>
            <a:endParaRPr lang="en-US" altLang="ko-KR" sz="1800" dirty="0"/>
          </a:p>
          <a:p>
            <a:endParaRPr lang="ko-KR" altLang="en-US" sz="1800" dirty="0"/>
          </a:p>
        </p:txBody>
      </p:sp>
      <p:pic>
        <p:nvPicPr>
          <p:cNvPr id="4" name="그림 3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F3AFBE-2437-BFDC-E894-7626D542B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462" y="1428750"/>
            <a:ext cx="5105445" cy="2806584"/>
          </a:xfrm>
          <a:prstGeom prst="rect">
            <a:avLst/>
          </a:prstGeom>
        </p:spPr>
      </p:pic>
      <p:pic>
        <p:nvPicPr>
          <p:cNvPr id="5" name="그림 4" descr="스크린샷, 텍스트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32BCD9-DD84-78B4-F286-1EACFCF52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0839" y="4235334"/>
            <a:ext cx="5922689" cy="158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328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E21130D-8E1C-ADA2-DA11-EA21A7133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 err="1">
                <a:solidFill>
                  <a:schemeClr val="bg2"/>
                </a:solidFill>
              </a:rPr>
              <a:t>vNPU</a:t>
            </a: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283147-57CB-F7D9-1CBD-A1BAE7C84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609875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1162C8-D9F0-3559-24E6-7C2C3D436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60679"/>
          </a:xfrm>
        </p:spPr>
        <p:txBody>
          <a:bodyPr>
            <a:normAutofit fontScale="90000"/>
          </a:bodyPr>
          <a:lstStyle/>
          <a:p>
            <a:r>
              <a:rPr lang="en-US" altLang="ko-KR" dirty="0" err="1"/>
              <a:t>vNPU</a:t>
            </a:r>
            <a:endParaRPr lang="ko-KR" altLang="en-US" dirty="0"/>
          </a:p>
        </p:txBody>
      </p:sp>
      <p:pic>
        <p:nvPicPr>
          <p:cNvPr id="4" name="내용 개체 틀 3" descr="도표, 평면도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36F846-1865-407B-5B9C-0274DA18A9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3490" y="1346199"/>
            <a:ext cx="6879960" cy="502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939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B58311-80AF-A171-E6A1-33257F315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vNPU</a:t>
            </a:r>
            <a:endParaRPr lang="ko-KR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0CF0AF-A16C-E281-6348-6BC63CE90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1497204"/>
            <a:ext cx="5072437" cy="4370196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NPU </a:t>
            </a:r>
            <a:r>
              <a:rPr lang="ko-KR" altLang="en-US" sz="1800" dirty="0"/>
              <a:t>코어를 가상화 하는데 있어 가장 필수적인 하드웨어 지원</a:t>
            </a:r>
            <a:r>
              <a:rPr lang="en-US" altLang="ko-KR" sz="1800" dirty="0"/>
              <a:t>:</a:t>
            </a:r>
            <a:r>
              <a:rPr lang="ko-KR" altLang="en-US" sz="1800" dirty="0"/>
              <a:t> 실행 유닛</a:t>
            </a:r>
            <a:r>
              <a:rPr lang="en-US" altLang="ko-KR" sz="1800" dirty="0"/>
              <a:t> </a:t>
            </a:r>
            <a:r>
              <a:rPr lang="ko-KR" altLang="en-US" sz="1800" dirty="0"/>
              <a:t>단위로 코어를 분할할 수 있는 능력 </a:t>
            </a:r>
            <a:r>
              <a:rPr lang="en-US" altLang="ko-KR" sz="1800" dirty="0"/>
              <a:t>-&gt; EU</a:t>
            </a:r>
            <a:r>
              <a:rPr lang="ko-KR" altLang="en-US" sz="1800" dirty="0"/>
              <a:t>는 </a:t>
            </a:r>
            <a:r>
              <a:rPr lang="en-US" altLang="ko-KR" sz="1800" dirty="0"/>
              <a:t>MIMD(</a:t>
            </a:r>
            <a:r>
              <a:rPr lang="ko-KR" altLang="en-US" sz="1800" dirty="0"/>
              <a:t>다중 명령 다중 데이터</a:t>
            </a:r>
            <a:r>
              <a:rPr lang="en-US" altLang="ko-KR" sz="1800" dirty="0"/>
              <a:t>, Multi-Instruction Multi-Data)</a:t>
            </a:r>
            <a:r>
              <a:rPr lang="ko-KR" altLang="en-US" sz="1800" dirty="0"/>
              <a:t> 을 따라야 함</a:t>
            </a:r>
            <a:endParaRPr lang="en-US" altLang="ko-KR" sz="1800" dirty="0"/>
          </a:p>
          <a:p>
            <a:r>
              <a:rPr lang="en-US" altLang="ko-KR" sz="1800" dirty="0"/>
              <a:t>NPU</a:t>
            </a:r>
            <a:r>
              <a:rPr lang="ko-KR" altLang="en-US" sz="1800" dirty="0"/>
              <a:t>용 시스템 가상화 솔루션</a:t>
            </a:r>
            <a:r>
              <a:rPr lang="en-US" altLang="ko-KR" sz="1800" dirty="0"/>
              <a:t>:</a:t>
            </a:r>
            <a:r>
              <a:rPr lang="ko-KR" altLang="en-US" sz="1800" dirty="0"/>
              <a:t> </a:t>
            </a:r>
            <a:r>
              <a:rPr lang="en-US" altLang="ko-KR" sz="1800" dirty="0" err="1"/>
              <a:t>NeuCloud</a:t>
            </a:r>
            <a:endParaRPr lang="ko-KR" altLang="en-US" sz="1800" dirty="0"/>
          </a:p>
        </p:txBody>
      </p:sp>
      <p:pic>
        <p:nvPicPr>
          <p:cNvPr id="4" name="내용 개체 틀 3" descr="도표, 평면도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B477D8D-5686-4F78-5121-F50138F7A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13" y="2350235"/>
            <a:ext cx="4852901" cy="354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255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D665AD-93B8-315E-685B-CCF7E33D6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DBAF08-85F8-F5D8-9F41-CCDBB7945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vNPU</a:t>
            </a:r>
            <a:endParaRPr lang="ko-KR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77E23E-35D3-1E2A-707A-FDA900767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1376624"/>
            <a:ext cx="5072437" cy="4490776"/>
          </a:xfrm>
        </p:spPr>
        <p:txBody>
          <a:bodyPr>
            <a:normAutofit/>
          </a:bodyPr>
          <a:lstStyle/>
          <a:p>
            <a:r>
              <a:rPr lang="en-US" altLang="ko-KR" sz="1800" dirty="0" err="1"/>
              <a:t>vNPU</a:t>
            </a:r>
            <a:r>
              <a:rPr lang="ko-KR" altLang="en-US" sz="1800" dirty="0"/>
              <a:t>는 다양한 컴퓨팅 구성을 </a:t>
            </a:r>
            <a:r>
              <a:rPr lang="ko-KR" altLang="en-US" sz="1800" dirty="0" err="1"/>
              <a:t>캡슐화할</a:t>
            </a:r>
            <a:r>
              <a:rPr lang="ko-KR" altLang="en-US" sz="1800" dirty="0"/>
              <a:t> 수 있으며</a:t>
            </a:r>
            <a:r>
              <a:rPr lang="en-US" altLang="ko-KR" sz="1800" dirty="0"/>
              <a:t>, </a:t>
            </a:r>
            <a:r>
              <a:rPr lang="ko-KR" altLang="en-US" sz="1800" dirty="0"/>
              <a:t>하나의 물리적 </a:t>
            </a:r>
            <a:r>
              <a:rPr lang="en-US" altLang="ko-KR" sz="1800" dirty="0"/>
              <a:t>NPU </a:t>
            </a:r>
            <a:r>
              <a:rPr lang="ko-KR" altLang="en-US" sz="1800" dirty="0"/>
              <a:t>보드는 서로 다른 구성을 가진 여러 </a:t>
            </a:r>
            <a:r>
              <a:rPr lang="en-US" altLang="ko-KR" sz="1800" dirty="0" err="1"/>
              <a:t>vNPU</a:t>
            </a:r>
            <a:r>
              <a:rPr lang="en-US" altLang="ko-KR" sz="1800" dirty="0"/>
              <a:t> </a:t>
            </a:r>
            <a:r>
              <a:rPr lang="ko-KR" altLang="en-US" sz="1800" dirty="0"/>
              <a:t>인스턴스를 호스팅할 수 있음</a:t>
            </a:r>
            <a:endParaRPr lang="en-US" altLang="ko-KR" sz="1800" dirty="0"/>
          </a:p>
          <a:p>
            <a:r>
              <a:rPr lang="ko-KR" altLang="en-US" sz="1800" dirty="0"/>
              <a:t>코어 내 </a:t>
            </a:r>
            <a:r>
              <a:rPr lang="en-US" altLang="ko-KR" sz="1800" dirty="0"/>
              <a:t>SRAM </a:t>
            </a:r>
            <a:r>
              <a:rPr lang="ko-KR" altLang="en-US" sz="1800" dirty="0"/>
              <a:t>크기와 </a:t>
            </a:r>
            <a:r>
              <a:rPr lang="en-US" altLang="ko-KR" sz="1800" dirty="0"/>
              <a:t>HBM </a:t>
            </a:r>
            <a:r>
              <a:rPr lang="ko-KR" altLang="en-US" sz="1800" dirty="0"/>
              <a:t>크기를 맞춤 설정 가능</a:t>
            </a:r>
          </a:p>
        </p:txBody>
      </p:sp>
      <p:pic>
        <p:nvPicPr>
          <p:cNvPr id="5" name="그림 4" descr="텍스트, 번호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E9E39A-81B8-FA7E-E176-ABE456C65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866" y="2171700"/>
            <a:ext cx="5105445" cy="2093232"/>
          </a:xfrm>
          <a:prstGeom prst="rect">
            <a:avLst/>
          </a:prstGeom>
        </p:spPr>
      </p:pic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A51C14-3D79-E084-A95D-70980C6B6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865" y="4264932"/>
            <a:ext cx="5043493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711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D950B3-9831-56AD-63E9-7319660A3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B1FFC0-1E5C-DFED-D169-4A2852C91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44" y="631372"/>
            <a:ext cx="3135086" cy="5606142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vNPU</a:t>
            </a:r>
            <a:endParaRPr lang="ko-KR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7649B1-EA54-4416-AAFC-FF408060C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B2E8BD-FDCF-5E0F-B098-9272B5B10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1595" y="631371"/>
            <a:ext cx="6797262" cy="3744685"/>
          </a:xfrm>
        </p:spPr>
        <p:txBody>
          <a:bodyPr>
            <a:normAutofit/>
          </a:bodyPr>
          <a:lstStyle/>
          <a:p>
            <a:r>
              <a:rPr lang="en-US" altLang="ko-KR" sz="1800" dirty="0" err="1"/>
              <a:t>Pcle</a:t>
            </a:r>
            <a:r>
              <a:rPr lang="en-US" altLang="ko-KR" sz="1800" dirty="0"/>
              <a:t> </a:t>
            </a:r>
            <a:r>
              <a:rPr lang="ko-KR" altLang="en-US" sz="1800" dirty="0"/>
              <a:t>장치로 각</a:t>
            </a:r>
            <a:r>
              <a:rPr lang="en-US" altLang="ko-KR" sz="1800" dirty="0"/>
              <a:t> </a:t>
            </a:r>
            <a:r>
              <a:rPr lang="en-US" altLang="ko-KR" sz="1800" dirty="0" err="1"/>
              <a:t>vNPU</a:t>
            </a:r>
            <a:r>
              <a:rPr lang="en-US" altLang="ko-KR" sz="1800" dirty="0"/>
              <a:t> </a:t>
            </a:r>
            <a:r>
              <a:rPr lang="ko-KR" altLang="en-US" sz="1800" dirty="0"/>
              <a:t>노출시킴</a:t>
            </a:r>
            <a:endParaRPr lang="en-US" altLang="ko-KR" sz="1800" dirty="0"/>
          </a:p>
          <a:p>
            <a:r>
              <a:rPr lang="en-US" altLang="ko-KR" sz="1800" dirty="0" err="1"/>
              <a:t>vNPU</a:t>
            </a:r>
            <a:r>
              <a:rPr lang="en-US" altLang="ko-KR" sz="1800" dirty="0"/>
              <a:t> </a:t>
            </a:r>
            <a:r>
              <a:rPr lang="ko-KR" altLang="en-US" sz="1800" dirty="0"/>
              <a:t>계층 구조  조회 가능</a:t>
            </a:r>
          </a:p>
          <a:p>
            <a:endParaRPr lang="ko-KR" altLang="en-US" dirty="0"/>
          </a:p>
        </p:txBody>
      </p:sp>
      <p:pic>
        <p:nvPicPr>
          <p:cNvPr id="5" name="그림 4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8CB078-6E87-9FC6-70EE-0B87818CA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013" y="3531141"/>
            <a:ext cx="9332326" cy="270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563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4370B-A719-052B-7DDB-D56681598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DE5BD1-FB78-C88A-DDFF-7F2B94551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32547"/>
            <a:ext cx="5045242" cy="4134853"/>
          </a:xfrm>
        </p:spPr>
        <p:txBody>
          <a:bodyPr>
            <a:normAutofit/>
          </a:bodyPr>
          <a:lstStyle/>
          <a:p>
            <a:r>
              <a:rPr lang="en-US" altLang="ko-KR" dirty="0"/>
              <a:t>SA</a:t>
            </a:r>
            <a:r>
              <a:rPr lang="ko-KR" altLang="en-US" dirty="0"/>
              <a:t>와 </a:t>
            </a:r>
            <a:r>
              <a:rPr lang="en-US" altLang="ko-KR" dirty="0"/>
              <a:t>VU </a:t>
            </a:r>
            <a:r>
              <a:rPr lang="ko-KR" altLang="en-US" dirty="0"/>
              <a:t>수의 비율을 결정</a:t>
            </a:r>
            <a:endParaRPr lang="en-US" altLang="ko-KR" dirty="0"/>
          </a:p>
          <a:p>
            <a:r>
              <a:rPr lang="en-US" altLang="ko-KR" dirty="0"/>
              <a:t>SA</a:t>
            </a:r>
            <a:r>
              <a:rPr lang="ko-KR" altLang="en-US" dirty="0"/>
              <a:t>에서의 활성 실행 시간</a:t>
            </a:r>
            <a:r>
              <a:rPr lang="en-US" altLang="ko-KR" dirty="0"/>
              <a:t>: x</a:t>
            </a:r>
            <a:br>
              <a:rPr lang="en-US" altLang="ko-KR" dirty="0"/>
            </a:br>
            <a:r>
              <a:rPr lang="en-US" altLang="ko-KR" dirty="0"/>
              <a:t>VU</a:t>
            </a:r>
            <a:r>
              <a:rPr lang="ko-KR" altLang="en-US" dirty="0"/>
              <a:t>에서의 활성 실행 시간</a:t>
            </a:r>
            <a:r>
              <a:rPr lang="en-US" altLang="ko-KR" dirty="0"/>
              <a:t>: y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이전 </a:t>
            </a:r>
            <a:r>
              <a:rPr lang="en-US" altLang="ko-KR" dirty="0"/>
              <a:t>VU/SA </a:t>
            </a:r>
            <a:r>
              <a:rPr lang="ko-KR" altLang="en-US" dirty="0"/>
              <a:t>연산자의 실행을 기다리는 동안 </a:t>
            </a:r>
            <a:r>
              <a:rPr lang="en-US" altLang="ko-KR" dirty="0"/>
              <a:t>SA/VU</a:t>
            </a:r>
            <a:r>
              <a:rPr lang="ko-KR" altLang="en-US" dirty="0"/>
              <a:t>는 유휴 상태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성능 향상</a:t>
            </a:r>
            <a:r>
              <a:rPr lang="en-US" altLang="ko-KR" dirty="0"/>
              <a:t> = </a:t>
            </a:r>
            <a:r>
              <a:rPr lang="ko-KR" altLang="en-US" dirty="0"/>
              <a:t>개선 전 실행 시간 </a:t>
            </a:r>
            <a:r>
              <a:rPr lang="en-US" altLang="ko-KR" dirty="0"/>
              <a:t>/ </a:t>
            </a:r>
            <a:r>
              <a:rPr lang="ko-KR" altLang="en-US" dirty="0"/>
              <a:t>개선 후 실행 시간</a:t>
            </a:r>
            <a:endParaRPr lang="en-US" altLang="ko-KR" dirty="0"/>
          </a:p>
          <a:p>
            <a:r>
              <a:rPr lang="en-US" altLang="ko-KR" dirty="0" err="1"/>
              <a:t>nx</a:t>
            </a:r>
            <a:r>
              <a:rPr lang="en-US" altLang="ko-KR" dirty="0"/>
              <a:t>: </a:t>
            </a:r>
            <a:r>
              <a:rPr lang="ko-KR" altLang="en-US" dirty="0"/>
              <a:t>사용할 </a:t>
            </a:r>
            <a:r>
              <a:rPr lang="en-US" altLang="ko-KR" dirty="0"/>
              <a:t>SA </a:t>
            </a:r>
            <a:r>
              <a:rPr lang="ko-KR" altLang="en-US" dirty="0"/>
              <a:t>개수</a:t>
            </a:r>
            <a:br>
              <a:rPr lang="en-US" altLang="ko-KR" dirty="0"/>
            </a:br>
            <a:r>
              <a:rPr lang="en-US" altLang="ko-KR" dirty="0" err="1"/>
              <a:t>ny</a:t>
            </a:r>
            <a:r>
              <a:rPr lang="en-US" altLang="ko-KR" dirty="0"/>
              <a:t>: </a:t>
            </a:r>
            <a:r>
              <a:rPr lang="ko-KR" altLang="en-US" dirty="0"/>
              <a:t>사용할 </a:t>
            </a:r>
            <a:r>
              <a:rPr lang="en-US" altLang="ko-KR" dirty="0"/>
              <a:t>VU </a:t>
            </a:r>
            <a:r>
              <a:rPr lang="ko-KR" altLang="en-US" dirty="0"/>
              <a:t>개수</a:t>
            </a:r>
            <a:endParaRPr lang="en-US" altLang="ko-KR" dirty="0"/>
          </a:p>
          <a:p>
            <a:r>
              <a:rPr lang="ko-KR" altLang="en-US" dirty="0"/>
              <a:t>예상가속도</a:t>
            </a:r>
            <a:r>
              <a:rPr lang="en-US" altLang="ko-KR" dirty="0"/>
              <a:t>(</a:t>
            </a:r>
            <a:r>
              <a:rPr lang="en-US" altLang="ko-KR" dirty="0" err="1"/>
              <a:t>SpeedUp</a:t>
            </a:r>
            <a:r>
              <a:rPr lang="en-US" altLang="ko-KR" dirty="0"/>
              <a:t>): S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8A74FAF5-BC53-8800-2837-0B21ECA0B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95528"/>
          </a:xfrm>
        </p:spPr>
        <p:txBody>
          <a:bodyPr>
            <a:normAutofit fontScale="90000"/>
          </a:bodyPr>
          <a:lstStyle/>
          <a:p>
            <a:r>
              <a:rPr lang="en-US" altLang="ko-KR" dirty="0" err="1"/>
              <a:t>vNPU</a:t>
            </a:r>
            <a:br>
              <a:rPr lang="en-US" altLang="ko-KR" dirty="0"/>
            </a:br>
            <a:endParaRPr lang="ko-KR" altLang="en-US" dirty="0"/>
          </a:p>
        </p:txBody>
      </p:sp>
      <p:pic>
        <p:nvPicPr>
          <p:cNvPr id="9" name="그림 8" descr="폰트, 친필, 화이트, 서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D71862-D667-C94E-7839-F6D84AD8E6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944" b="11370"/>
          <a:stretch>
            <a:fillRect/>
          </a:stretch>
        </p:blipFill>
        <p:spPr>
          <a:xfrm>
            <a:off x="7009397" y="1732547"/>
            <a:ext cx="4909888" cy="1316958"/>
          </a:xfrm>
          <a:prstGeom prst="rect">
            <a:avLst/>
          </a:prstGeom>
        </p:spPr>
      </p:pic>
      <p:pic>
        <p:nvPicPr>
          <p:cNvPr id="11" name="그림 10" descr="텍스트, 폰트, 친필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6476FC4-4565-D662-5631-C4BEBDE07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281" y="3296152"/>
            <a:ext cx="4814777" cy="1123448"/>
          </a:xfrm>
          <a:prstGeom prst="rect">
            <a:avLst/>
          </a:prstGeom>
        </p:spPr>
      </p:pic>
      <p:pic>
        <p:nvPicPr>
          <p:cNvPr id="13" name="그림 12" descr="폰트, 텍스트, 화이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3E69A8-29D1-E10C-35FB-8C095605C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9397" y="4886528"/>
            <a:ext cx="4830826" cy="112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68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DC5A3-B138-45D6-9097-9936AA65C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12BDD79-1B9D-C6E1-22A3-20FB077D7C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732547"/>
                <a:ext cx="5045242" cy="413485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altLang="ko-KR" dirty="0"/>
                  <a:t>Sh = </a:t>
                </a:r>
                <a:r>
                  <a:rPr lang="en-US" altLang="ko-KR" dirty="0" err="1"/>
                  <a:t>nx</a:t>
                </a:r>
                <a:r>
                  <a:rPr lang="en-US" altLang="ko-KR" dirty="0"/>
                  <a:t> + </a:t>
                </a:r>
                <a:r>
                  <a:rPr lang="en-US" altLang="ko-KR" dirty="0" err="1"/>
                  <a:t>ny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실행 유닛에 관계없는 가상 가속도</a:t>
                </a:r>
                <a:r>
                  <a:rPr lang="en-US" altLang="ko-KR" dirty="0"/>
                  <a:t>)</a:t>
                </a:r>
              </a:p>
              <a:p>
                <a:r>
                  <a:rPr lang="en-US" altLang="ko-KR" dirty="0"/>
                  <a:t>U: </a:t>
                </a:r>
                <a:r>
                  <a:rPr lang="ko-KR" altLang="en-US" dirty="0"/>
                  <a:t>활용도</a:t>
                </a:r>
                <a:endParaRPr lang="en-US" altLang="ko-KR" dirty="0"/>
              </a:p>
              <a:p>
                <a:r>
                  <a:rPr lang="en-US" altLang="ko-KR" dirty="0"/>
                  <a:t>a = x/y</a:t>
                </a:r>
              </a:p>
              <a:p>
                <a:r>
                  <a:rPr lang="en-US" altLang="ko-KR" dirty="0"/>
                  <a:t>k</a:t>
                </a:r>
                <a:r>
                  <a:rPr lang="en-US" altLang="ko-KR"/>
                  <a:t> </a:t>
                </a:r>
                <a:r>
                  <a:rPr lang="en-US" altLang="ko-KR" dirty="0"/>
                  <a:t>= </a:t>
                </a:r>
                <a:r>
                  <a:rPr lang="en-US" altLang="ko-KR" dirty="0" err="1"/>
                  <a:t>nx</a:t>
                </a:r>
                <a:r>
                  <a:rPr lang="en-US" altLang="ko-KR" dirty="0"/>
                  <a:t>/</a:t>
                </a:r>
                <a:r>
                  <a:rPr lang="en-US" altLang="ko-KR" dirty="0" err="1"/>
                  <a:t>ny</a:t>
                </a:r>
                <a:endParaRPr lang="en-US" altLang="ko-KR" dirty="0"/>
              </a:p>
              <a:p>
                <a:r>
                  <a:rPr lang="en-US" altLang="ko-KR" dirty="0"/>
                  <a:t>U</a:t>
                </a:r>
                <a:r>
                  <a:rPr lang="ko-KR" altLang="en-US" dirty="0"/>
                  <a:t>를 최대화하는 </a:t>
                </a:r>
                <a:r>
                  <a:rPr lang="en-US" altLang="ko-KR" dirty="0"/>
                  <a:t>k</a:t>
                </a:r>
                <a:r>
                  <a:rPr lang="ko-KR" altLang="en-US" dirty="0"/>
                  <a:t>값 </a:t>
                </a:r>
                <a:r>
                  <a:rPr lang="ko-KR" altLang="en-US" dirty="0" err="1"/>
                  <a:t>구해야함</a:t>
                </a:r>
                <a:endParaRPr lang="en-US" altLang="ko-KR" dirty="0"/>
              </a:p>
              <a:p>
                <a:r>
                  <a:rPr lang="en-US" altLang="ko-KR" dirty="0"/>
                  <a:t>K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</m:oMath>
                </a14:m>
                <a:endParaRPr lang="en-US" altLang="ko-KR" dirty="0"/>
              </a:p>
              <a:p>
                <a:r>
                  <a:rPr lang="ko-KR" altLang="ko-KR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모델별로 최적의 </a:t>
                </a:r>
                <a:r>
                  <a:rPr lang="ko-KR" altLang="ko-KR" dirty="0" err="1">
                    <a:solidFill>
                      <a:schemeClr val="tx1"/>
                    </a:solidFill>
                    <a:latin typeface="Arial" panose="020B0604020202020204" pitchFamily="34" charset="0"/>
                  </a:rPr>
                  <a:t>SA와</a:t>
                </a:r>
                <a:r>
                  <a:rPr lang="ko-KR" altLang="ko-KR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VU 비율을 계산하여 </a:t>
                </a:r>
                <a:r>
                  <a:rPr lang="ko-KR" altLang="ko-KR" dirty="0" err="1">
                    <a:solidFill>
                      <a:schemeClr val="tx1"/>
                    </a:solidFill>
                    <a:latin typeface="Arial" panose="020B0604020202020204" pitchFamily="34" charset="0"/>
                  </a:rPr>
                  <a:t>암달의</a:t>
                </a:r>
                <a:r>
                  <a:rPr lang="ko-KR" altLang="ko-KR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법칙에 의한 성능 한계를 극복하고 자원 낭비를 최소화</a:t>
                </a:r>
              </a:p>
              <a:p>
                <a:br>
                  <a:rPr lang="en-US" altLang="ko-KR" dirty="0"/>
                </a:br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12BDD79-1B9D-C6E1-22A3-20FB077D7C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732547"/>
                <a:ext cx="5045242" cy="4134853"/>
              </a:xfrm>
              <a:blipFill>
                <a:blip r:embed="rId2"/>
                <a:stretch>
                  <a:fillRect l="-966" t="-2209" r="-7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제목 1">
            <a:extLst>
              <a:ext uri="{FF2B5EF4-FFF2-40B4-BE49-F238E27FC236}">
                <a16:creationId xmlns:a16="http://schemas.microsoft.com/office/drawing/2014/main" id="{62450ABC-D919-D092-C4EE-9B39CD25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00100"/>
          </a:xfrm>
        </p:spPr>
        <p:txBody>
          <a:bodyPr>
            <a:normAutofit fontScale="90000"/>
          </a:bodyPr>
          <a:lstStyle/>
          <a:p>
            <a:r>
              <a:rPr lang="en-US" altLang="ko-KR" dirty="0" err="1"/>
              <a:t>vNPU</a:t>
            </a:r>
            <a:br>
              <a:rPr lang="en-US" altLang="ko-KR" dirty="0"/>
            </a:br>
            <a:endParaRPr lang="ko-KR" altLang="en-US" dirty="0"/>
          </a:p>
        </p:txBody>
      </p:sp>
      <p:pic>
        <p:nvPicPr>
          <p:cNvPr id="9" name="그림 8" descr="폰트, 친필, 화이트, 서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A4F33C-ECD4-7CE3-F8AE-1316082D21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44" b="11370"/>
          <a:stretch>
            <a:fillRect/>
          </a:stretch>
        </p:blipFill>
        <p:spPr>
          <a:xfrm>
            <a:off x="7009397" y="1732547"/>
            <a:ext cx="4909888" cy="1316958"/>
          </a:xfrm>
          <a:prstGeom prst="rect">
            <a:avLst/>
          </a:prstGeom>
        </p:spPr>
      </p:pic>
      <p:pic>
        <p:nvPicPr>
          <p:cNvPr id="11" name="그림 10" descr="텍스트, 폰트, 친필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D326BF-7898-7A5F-0B0F-B25BCABCC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281" y="3296152"/>
            <a:ext cx="4814777" cy="1123448"/>
          </a:xfrm>
          <a:prstGeom prst="rect">
            <a:avLst/>
          </a:prstGeom>
        </p:spPr>
      </p:pic>
      <p:pic>
        <p:nvPicPr>
          <p:cNvPr id="13" name="그림 12" descr="폰트, 텍스트, 화이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029DBC-069C-4CC8-40D3-938F61B78D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9397" y="4886528"/>
            <a:ext cx="4830826" cy="112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11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3D95C-1AAB-1234-E6A6-F959661EF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11A71-481D-2F3C-D619-DA03CBD22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32547"/>
            <a:ext cx="10408596" cy="4134853"/>
          </a:xfrm>
        </p:spPr>
        <p:txBody>
          <a:bodyPr>
            <a:normAutofit/>
          </a:bodyPr>
          <a:lstStyle/>
          <a:p>
            <a:r>
              <a:rPr lang="en-US" altLang="ko-KR" dirty="0"/>
              <a:t>EU</a:t>
            </a:r>
            <a:r>
              <a:rPr lang="ko-KR" altLang="en-US" dirty="0"/>
              <a:t>와 메모리 자원 활용도를 모두 최대화하기 위해 물리적 </a:t>
            </a:r>
            <a:r>
              <a:rPr lang="en-US" altLang="ko-KR" dirty="0"/>
              <a:t>NPU</a:t>
            </a:r>
            <a:r>
              <a:rPr lang="ko-KR" altLang="en-US" dirty="0"/>
              <a:t>에 최대한 많은 </a:t>
            </a:r>
            <a:r>
              <a:rPr lang="en-US" altLang="ko-KR" dirty="0" err="1"/>
              <a:t>vNPU</a:t>
            </a:r>
            <a:r>
              <a:rPr lang="ko-KR" altLang="en-US" dirty="0"/>
              <a:t>를 수용하는 것을 목표 </a:t>
            </a:r>
            <a:r>
              <a:rPr lang="en-US" altLang="ko-KR" dirty="0"/>
              <a:t>-&gt; </a:t>
            </a:r>
            <a:r>
              <a:rPr lang="ko-KR" altLang="en-US" dirty="0"/>
              <a:t>모든 </a:t>
            </a:r>
            <a:r>
              <a:rPr lang="en-US" altLang="ko-KR" dirty="0" err="1"/>
              <a:t>vNPU</a:t>
            </a:r>
            <a:r>
              <a:rPr lang="ko-KR" altLang="en-US" dirty="0"/>
              <a:t>의 총 </a:t>
            </a:r>
            <a:r>
              <a:rPr lang="en-US" altLang="ko-KR" dirty="0"/>
              <a:t>EU </a:t>
            </a:r>
            <a:r>
              <a:rPr lang="ko-KR" altLang="en-US" dirty="0"/>
              <a:t>수가 </a:t>
            </a:r>
            <a:r>
              <a:rPr lang="en-US" altLang="ko-KR" dirty="0"/>
              <a:t>NPU </a:t>
            </a:r>
            <a:r>
              <a:rPr lang="ko-KR" altLang="en-US" dirty="0"/>
              <a:t>코어의 가용 </a:t>
            </a:r>
            <a:r>
              <a:rPr lang="en-US" altLang="ko-KR" dirty="0"/>
              <a:t>EU </a:t>
            </a:r>
            <a:r>
              <a:rPr lang="ko-KR" altLang="en-US" dirty="0"/>
              <a:t>수를 초과하지 않는 범위 내에서 </a:t>
            </a:r>
            <a:r>
              <a:rPr lang="en-US" altLang="ko-KR" dirty="0" err="1"/>
              <a:t>vNPU</a:t>
            </a:r>
            <a:r>
              <a:rPr lang="ko-KR" altLang="en-US" dirty="0"/>
              <a:t>들을 그룹화 </a:t>
            </a:r>
            <a:r>
              <a:rPr lang="en-US" altLang="ko-KR" dirty="0"/>
              <a:t>+ EU</a:t>
            </a:r>
            <a:r>
              <a:rPr lang="ko-KR" altLang="en-US" dirty="0"/>
              <a:t>의 수와 메모리 크기의 균형을 </a:t>
            </a:r>
            <a:r>
              <a:rPr lang="ko-KR" altLang="en-US" dirty="0" err="1"/>
              <a:t>맞추려함</a:t>
            </a:r>
            <a:endParaRPr lang="en-US" altLang="ko-KR" dirty="0"/>
          </a:p>
          <a:p>
            <a:r>
              <a:rPr lang="ko-KR" altLang="en-US" dirty="0"/>
              <a:t>동적 재배치</a:t>
            </a:r>
            <a:r>
              <a:rPr lang="en-US" altLang="ko-KR" dirty="0"/>
              <a:t>(Dynamic remapping): </a:t>
            </a:r>
            <a:r>
              <a:rPr lang="ko-KR" altLang="en-US" dirty="0"/>
              <a:t>워크로드 패턴은 시간이 지남에 따라 변할 수 있음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en-US" altLang="ko-KR" dirty="0" err="1"/>
              <a:t>NeuCloud</a:t>
            </a:r>
            <a:r>
              <a:rPr lang="en-US" altLang="ko-KR" dirty="0"/>
              <a:t> </a:t>
            </a:r>
            <a:r>
              <a:rPr lang="ko-KR" altLang="en-US" dirty="0"/>
              <a:t>스케줄러는 </a:t>
            </a:r>
            <a:r>
              <a:rPr lang="en-US" altLang="ko-KR" dirty="0" err="1"/>
              <a:t>vNPU</a:t>
            </a:r>
            <a:r>
              <a:rPr lang="en-US" altLang="ko-KR" dirty="0"/>
              <a:t> </a:t>
            </a:r>
            <a:r>
              <a:rPr lang="ko-KR" altLang="en-US" dirty="0"/>
              <a:t>구성을 조정하고 이를 물리적 </a:t>
            </a:r>
            <a:r>
              <a:rPr lang="en-US" altLang="ko-KR" dirty="0"/>
              <a:t>NPU</a:t>
            </a:r>
            <a:r>
              <a:rPr lang="ko-KR" altLang="en-US" dirty="0"/>
              <a:t>에 다시 매핑합니다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NPU </a:t>
            </a:r>
            <a:r>
              <a:rPr lang="ko-KR" altLang="en-US" dirty="0"/>
              <a:t>코어의 서로 다른</a:t>
            </a:r>
            <a:r>
              <a:rPr lang="en-US" altLang="ko-KR" dirty="0"/>
              <a:t> EU</a:t>
            </a:r>
            <a:r>
              <a:rPr lang="ko-KR" altLang="en-US" dirty="0"/>
              <a:t>에 </a:t>
            </a:r>
            <a:r>
              <a:rPr lang="en-US" altLang="ko-KR" dirty="0" err="1"/>
              <a:t>vNPU</a:t>
            </a:r>
            <a:r>
              <a:rPr lang="ko-KR" altLang="en-US" dirty="0"/>
              <a:t>를 할당한 후에도</a:t>
            </a:r>
            <a:r>
              <a:rPr lang="en-US" altLang="ko-KR" dirty="0"/>
              <a:t> </a:t>
            </a:r>
            <a:r>
              <a:rPr lang="ko-KR" altLang="en-US" dirty="0" err="1"/>
              <a:t>오프로드된</a:t>
            </a:r>
            <a:r>
              <a:rPr lang="ko-KR" altLang="en-US" dirty="0"/>
              <a:t> 워크로드가 없을 때 이러한 </a:t>
            </a:r>
            <a:r>
              <a:rPr lang="en-US" altLang="ko-KR" dirty="0" err="1"/>
              <a:t>vNPU</a:t>
            </a:r>
            <a:r>
              <a:rPr lang="ko-KR" altLang="en-US" dirty="0"/>
              <a:t>들은 유휴 상태가 될 수 있고</a:t>
            </a:r>
            <a:r>
              <a:rPr lang="en-US" altLang="ko-KR" dirty="0"/>
              <a:t>, </a:t>
            </a:r>
            <a:r>
              <a:rPr lang="ko-KR" altLang="en-US" dirty="0"/>
              <a:t>이는 시간적인 </a:t>
            </a:r>
            <a:r>
              <a:rPr lang="ko-KR" altLang="en-US" dirty="0" err="1"/>
              <a:t>저활용을</a:t>
            </a:r>
            <a:r>
              <a:rPr lang="ko-KR" altLang="en-US" dirty="0"/>
              <a:t> 야기함</a:t>
            </a:r>
            <a:br>
              <a:rPr lang="en-US" altLang="ko-KR" dirty="0"/>
            </a:br>
            <a:r>
              <a:rPr lang="en-US" altLang="ko-KR" dirty="0"/>
              <a:t>-&gt;</a:t>
            </a:r>
            <a:r>
              <a:rPr lang="ko-KR" altLang="en-US" dirty="0"/>
              <a:t>이 문제를 해결하기 위해 </a:t>
            </a:r>
            <a:r>
              <a:rPr lang="en-US" altLang="ko-KR" dirty="0" err="1"/>
              <a:t>NeuCloud</a:t>
            </a:r>
            <a:r>
              <a:rPr lang="ko-KR" altLang="en-US" dirty="0"/>
              <a:t>는 코어에 더 많은 </a:t>
            </a:r>
            <a:r>
              <a:rPr lang="en-US" altLang="ko-KR" dirty="0" err="1"/>
              <a:t>vNPU</a:t>
            </a:r>
            <a:r>
              <a:rPr lang="ko-KR" altLang="en-US" dirty="0"/>
              <a:t>를 매핑함으로써 </a:t>
            </a:r>
            <a:r>
              <a:rPr lang="en-US" altLang="ko-KR" dirty="0"/>
              <a:t>EU</a:t>
            </a:r>
            <a:r>
              <a:rPr lang="ko-KR" altLang="en-US" dirty="0"/>
              <a:t>의 과다 할당</a:t>
            </a:r>
            <a:r>
              <a:rPr lang="en-US" altLang="ko-KR" dirty="0"/>
              <a:t>(oversubscription)</a:t>
            </a:r>
            <a:r>
              <a:rPr lang="ko-KR" altLang="en-US" dirty="0"/>
              <a:t>을 허용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D8C79732-26C0-584C-0469-A8A55CD83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56617"/>
          </a:xfrm>
        </p:spPr>
        <p:txBody>
          <a:bodyPr>
            <a:normAutofit fontScale="90000"/>
          </a:bodyPr>
          <a:lstStyle/>
          <a:p>
            <a:r>
              <a:rPr lang="en-US" altLang="ko-KR" dirty="0" err="1"/>
              <a:t>vNPU</a:t>
            </a:r>
            <a:br>
              <a:rPr lang="en-US" altLang="ko-KR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1313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ACCB7-0E98-EA3D-FCC4-6828C2D87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EC909E-8EE4-3ADB-A366-64F50B11A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32547"/>
            <a:ext cx="10009762" cy="4134853"/>
          </a:xfrm>
        </p:spPr>
        <p:txBody>
          <a:bodyPr>
            <a:normAutofit/>
          </a:bodyPr>
          <a:lstStyle/>
          <a:p>
            <a:r>
              <a:rPr lang="ko-KR" altLang="en-US" dirty="0"/>
              <a:t>여러 애플리케이션 인스턴스가 동일한 </a:t>
            </a:r>
            <a:r>
              <a:rPr lang="en-US" altLang="ko-KR" dirty="0"/>
              <a:t>NPU</a:t>
            </a:r>
            <a:r>
              <a:rPr lang="ko-KR" altLang="en-US" dirty="0"/>
              <a:t>를 공유하므로</a:t>
            </a:r>
            <a:r>
              <a:rPr lang="en-US" altLang="ko-KR" dirty="0"/>
              <a:t>, </a:t>
            </a:r>
            <a:r>
              <a:rPr lang="en-US" altLang="ko-KR" dirty="0" err="1"/>
              <a:t>vNPU</a:t>
            </a:r>
            <a:r>
              <a:rPr lang="en-US" altLang="ko-KR" dirty="0"/>
              <a:t> </a:t>
            </a:r>
            <a:r>
              <a:rPr lang="ko-KR" altLang="en-US" dirty="0"/>
              <a:t>인스턴스 간의 런타임 격리를 강제 </a:t>
            </a:r>
            <a:r>
              <a:rPr lang="en-US" altLang="ko-KR" dirty="0"/>
              <a:t>-&gt; </a:t>
            </a:r>
            <a:r>
              <a:rPr lang="ko-KR" altLang="en-US" dirty="0"/>
              <a:t>보안 격리 </a:t>
            </a:r>
            <a:r>
              <a:rPr lang="en-US" altLang="ko-KR" dirty="0"/>
              <a:t>+ </a:t>
            </a:r>
            <a:r>
              <a:rPr lang="ko-KR" altLang="en-US" dirty="0"/>
              <a:t>성능 격리</a:t>
            </a:r>
            <a:endParaRPr lang="en-US" altLang="ko-KR" dirty="0"/>
          </a:p>
          <a:p>
            <a:r>
              <a:rPr lang="ko-KR" altLang="en-US" dirty="0"/>
              <a:t>보안 격리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온칩</a:t>
            </a:r>
            <a:r>
              <a:rPr lang="ko-KR" altLang="en-US" dirty="0"/>
              <a:t> </a:t>
            </a:r>
            <a:r>
              <a:rPr lang="en-US" altLang="ko-KR" dirty="0"/>
              <a:t>SRAM </a:t>
            </a:r>
            <a:r>
              <a:rPr lang="ko-KR" altLang="en-US" dirty="0"/>
              <a:t>및 </a:t>
            </a:r>
            <a:r>
              <a:rPr lang="ko-KR" altLang="en-US" dirty="0" err="1"/>
              <a:t>오프칩</a:t>
            </a:r>
            <a:r>
              <a:rPr lang="ko-KR" altLang="en-US" dirty="0"/>
              <a:t> </a:t>
            </a:r>
            <a:r>
              <a:rPr lang="en-US" altLang="ko-KR" dirty="0"/>
              <a:t>HBM</a:t>
            </a:r>
            <a:r>
              <a:rPr lang="ko-KR" altLang="en-US" dirty="0"/>
              <a:t>에 대한 메모리 주소 공간 격리를 통해 강제</a:t>
            </a:r>
            <a:endParaRPr lang="en-US" altLang="ko-KR" dirty="0"/>
          </a:p>
          <a:p>
            <a:r>
              <a:rPr lang="ko-KR" altLang="en-US" dirty="0"/>
              <a:t>성능 격리는 하드웨어와 소프트웨어 기술의 협력을 통해 강제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3027995-6031-F79A-6633-9799D396D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95528"/>
          </a:xfrm>
        </p:spPr>
        <p:txBody>
          <a:bodyPr>
            <a:normAutofit fontScale="90000"/>
          </a:bodyPr>
          <a:lstStyle/>
          <a:p>
            <a:r>
              <a:rPr lang="en-US" altLang="ko-KR" dirty="0" err="1"/>
              <a:t>vNPU</a:t>
            </a:r>
            <a:br>
              <a:rPr lang="en-US" altLang="ko-KR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7526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96A95A4-AC27-CA36-F2C1-E587FF980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>
                <a:solidFill>
                  <a:schemeClr val="bg2"/>
                </a:solidFill>
              </a:rPr>
              <a:t>Contribution</a:t>
            </a: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0DBCA3-7835-9119-D839-A7708D49E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43184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BCDB48-E505-6148-159E-E00BE06C0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0969"/>
          </a:xfrm>
        </p:spPr>
        <p:txBody>
          <a:bodyPr/>
          <a:lstStyle/>
          <a:p>
            <a:r>
              <a:rPr lang="en-US" altLang="ko-KR" dirty="0"/>
              <a:t>Contribution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C2CE1B-3819-3F89-D280-EE26C9861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06769"/>
            <a:ext cx="9601200" cy="4460631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NPU </a:t>
            </a:r>
            <a:r>
              <a:rPr lang="ko-KR" altLang="en-US" sz="1800" dirty="0"/>
              <a:t>내부의 물리적 연산 유닛</a:t>
            </a:r>
            <a:r>
              <a:rPr lang="en-US" altLang="ko-KR" sz="1800" dirty="0"/>
              <a:t>(SA, VU)</a:t>
            </a:r>
            <a:r>
              <a:rPr lang="ko-KR" altLang="en-US" sz="1800" dirty="0"/>
              <a:t>을 세밀하게 쪼개어 관리할 수 있는 체계를 구축</a:t>
            </a:r>
            <a:endParaRPr lang="en-US" altLang="ko-KR" sz="1800" dirty="0"/>
          </a:p>
          <a:p>
            <a:r>
              <a:rPr lang="ko-KR" altLang="en-US" sz="1800" dirty="0"/>
              <a:t>리소스 활용도 극대화</a:t>
            </a:r>
            <a:endParaRPr lang="en-US" altLang="ko-KR" sz="1800" dirty="0"/>
          </a:p>
          <a:p>
            <a:r>
              <a:rPr lang="ko-KR" altLang="en-US" sz="1800" dirty="0"/>
              <a:t>성능 및 보안 격리 구현</a:t>
            </a:r>
            <a:endParaRPr lang="en-US" altLang="ko-KR" sz="1800" dirty="0"/>
          </a:p>
          <a:p>
            <a:r>
              <a:rPr lang="ko-KR" altLang="en-US" sz="1800" dirty="0"/>
              <a:t>실제적 시스템 통합</a:t>
            </a:r>
          </a:p>
        </p:txBody>
      </p:sp>
    </p:spTree>
    <p:extLst>
      <p:ext uri="{BB962C8B-B14F-4D97-AF65-F5344CB8AC3E}">
        <p14:creationId xmlns:p14="http://schemas.microsoft.com/office/powerpoint/2010/main" val="2987227654"/>
      </p:ext>
    </p:extLst>
  </p:cSld>
  <p:clrMapOvr>
    <a:masterClrMapping/>
  </p:clrMapOvr>
</p:sld>
</file>

<file path=ppt/theme/theme1.xml><?xml version="1.0" encoding="utf-8"?>
<a:theme xmlns:a="http://schemas.openxmlformats.org/drawingml/2006/main" name="자르기">
  <a:themeElements>
    <a:clrScheme name="자르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자르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자르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자르기</Template>
  <TotalTime>224</TotalTime>
  <Words>678</Words>
  <Application>Microsoft Office PowerPoint</Application>
  <PresentationFormat>와이드스크린</PresentationFormat>
  <Paragraphs>60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Arial</vt:lpstr>
      <vt:lpstr>Cambria Math</vt:lpstr>
      <vt:lpstr>Franklin Gothic Book</vt:lpstr>
      <vt:lpstr>자르기</vt:lpstr>
      <vt:lpstr>System Virtualization for Neural Processing Units  논문의 핵심 기여도(Key Contribution) 및 방법론</vt:lpstr>
      <vt:lpstr>목차</vt:lpstr>
      <vt:lpstr>기존 NPU 방식</vt:lpstr>
      <vt:lpstr>기존 NPU 방식</vt:lpstr>
      <vt:lpstr>기존 NPU 방식</vt:lpstr>
      <vt:lpstr>기존 NPU 방식</vt:lpstr>
      <vt:lpstr>vNPU</vt:lpstr>
      <vt:lpstr>vNPU</vt:lpstr>
      <vt:lpstr>vNPU</vt:lpstr>
      <vt:lpstr>vNPU</vt:lpstr>
      <vt:lpstr>vNPU</vt:lpstr>
      <vt:lpstr>vNPU </vt:lpstr>
      <vt:lpstr>vNPU </vt:lpstr>
      <vt:lpstr>vNPU </vt:lpstr>
      <vt:lpstr>vNPU </vt:lpstr>
      <vt:lpstr>Contribution</vt:lpstr>
      <vt:lpstr>Contribution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최성우</dc:creator>
  <cp:lastModifiedBy>최성우</cp:lastModifiedBy>
  <cp:revision>39</cp:revision>
  <dcterms:created xsi:type="dcterms:W3CDTF">2026-01-21T18:34:08Z</dcterms:created>
  <dcterms:modified xsi:type="dcterms:W3CDTF">2026-01-22T04:59:25Z</dcterms:modified>
</cp:coreProperties>
</file>